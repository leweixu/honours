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12192000" cy="6858000"/>
  <p:notesSz cx="6858000" cy="9144000"/>
</p:presentatio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theme" Target="theme/theme1.xml"/><Relationship Id="rId4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endParaRPr lang="en-AU"/>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Hello everyone, my name is Lewei, and I’ve been working on document understanding for my honours project this year.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First, I’ll go through some background.</a:t>
            </a:r>
          </a:p>
          <a:p>
            <a:r>
              <a:rPr lang="en-AU" dirty="0"/>
              <a:t>Then I’ll cover the main contributions and findings of the two papers we completed this year.</a:t>
            </a:r>
          </a:p>
          <a:p>
            <a:r>
              <a:rPr lang="en-AU" dirty="0"/>
              <a:t>The first is a survey of document understanding. The second is an empirical study of how document understanding systems can fail and how we can address those failures.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First, what do we mean by a visually rich document?</a:t>
            </a:r>
          </a:p>
          <a:p>
            <a:r>
              <a:rPr lang="en-AU" dirty="0"/>
              <a:t>Documents can carry meaning through text, visual elements like charts and figures, and how they are laid out on a page.</a:t>
            </a:r>
          </a:p>
          <a:p>
            <a:r>
              <a:rPr lang="en-AU" dirty="0"/>
              <a:t>Here we have an academic paper, scanned forms and technical manuals. Each combines multiple sources of information in different ways.</a:t>
            </a:r>
          </a:p>
          <a:p>
            <a:r>
              <a:rPr lang="en-AU" dirty="0"/>
              <a:t>A multi-page document simply has two or more pages. Its meaning can also connect across those pages.</a:t>
            </a:r>
          </a:p>
          <a:p>
            <a:r>
              <a:rPr lang="en-AU" dirty="0"/>
              <a:t>For example, a paragraph in an academic paper might refer to a figure several pages away.</a:t>
            </a:r>
          </a:p>
          <a:p>
            <a:r>
              <a:rPr lang="en-AU" dirty="0"/>
              <a:t>To understand that reference, we need to connect the paragraph to the figure when we process the document.</a:t>
            </a:r>
          </a:p>
          <a:p>
            <a:r>
              <a:rPr lang="en-AU" dirty="0"/>
              <a:t>This brings us to document understanding over long documents.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So, what is long document understanding?</a:t>
            </a:r>
          </a:p>
          <a:p>
            <a:r>
              <a:rPr lang="en-AU" dirty="0"/>
              <a:t>It includes tasks like information extraction and structure-aware parsing, among many others.</a:t>
            </a:r>
          </a:p>
          <a:p>
            <a:r>
              <a:rPr lang="en-AU" dirty="0"/>
              <a:t>But for this seminar, you can think of it as answering a natural-language question about a long, multi-page document.</a:t>
            </a:r>
          </a:p>
          <a:p>
            <a:r>
              <a:rPr lang="en-AU" dirty="0"/>
              <a:t>This is difficult for two main reasons.</a:t>
            </a:r>
          </a:p>
          <a:p>
            <a:r>
              <a:rPr lang="en-AU" dirty="0"/>
              <a:t>First, there is the sheer volume of information. We might be dealing with hundreds of pages, or even a whole collection of documents.</a:t>
            </a:r>
          </a:p>
          <a:p>
            <a:r>
              <a:rPr lang="en-AU" dirty="0"/>
              <a:t>Reading everything in full is expensive, and the input may not even fit in a single context window.</a:t>
            </a:r>
          </a:p>
          <a:p>
            <a:r>
              <a:rPr lang="en-AU" dirty="0"/>
              <a:t>Even when everything fits, current long-context language models can still struggle to use all that information to answer accurately.</a:t>
            </a:r>
          </a:p>
          <a:p>
            <a:r>
              <a:rPr lang="en-AU" dirty="0"/>
              <a:t>Second, the evidence required to answer a question can be sparse, scattered across several pages or across different documents in a collection.</a:t>
            </a:r>
          </a:p>
          <a:p>
            <a:r>
              <a:rPr lang="en-AU" dirty="0"/>
              <a:t>The system has to locate the right pieces of evidence and then connect them to answer the question.</a:t>
            </a:r>
          </a:p>
          <a:p>
            <a:r>
              <a:rPr lang="en-AU" dirty="0"/>
              <a:t>With that in mind, let’s move on to our survey of the different approaches to document understanding.</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This is our survey of the field, which we completed during the first semester.</a:t>
            </a:r>
          </a:p>
          <a:p>
            <a:r>
              <a:rPr lang="en-AU" dirty="0"/>
              <a:t>The paper has been accepted at the EMNLP main conference this year, a top-tier conference in natural language processing.</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The main gap we wanted to address was that many different approaches to long document understanding had developed along parallel lines.</a:t>
            </a:r>
          </a:p>
          <a:p>
            <a:r>
              <a:rPr lang="en-AU" dirty="0"/>
              <a:t>They used different terminology, and there was very little comparison between those approaches.</a:t>
            </a:r>
          </a:p>
          <a:p>
            <a:r>
              <a:rPr lang="en-AU" dirty="0"/>
              <a:t>We use an evidence-management perspective to organise them: how systems preserve, find and use evidence across a document.</a:t>
            </a:r>
          </a:p>
          <a:p>
            <a:r>
              <a:rPr lang="en-AU" dirty="0"/>
              <a:t>This gives us a taxonomy of four architectural families.</a:t>
            </a:r>
          </a:p>
          <a:p>
            <a:r>
              <a:rPr lang="en-AU" dirty="0"/>
              <a:t>I’ll focus on those families today. There are other contributions in the survey, but going through all of them would take too long.</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The first family is page-to-document encoding models, one of the earlier approaches to long document understanding.</a:t>
            </a:r>
          </a:p>
          <a:p>
            <a:r>
              <a:rPr lang="en-AU" dirty="0"/>
              <a:t>Each page is encoded separately into a compact representation. Those representations are connected through a cross-page mechanism, such as attention, and passed to a decoder to generate the final answer.</a:t>
            </a:r>
          </a:p>
          <a:p>
            <a:r>
              <a:rPr lang="en-AU" dirty="0"/>
              <a:t>The limitation is that pages can contain very different amounts of information. Giving each page the same fixed representation budget can lose fine-grained detail during encoding.</a:t>
            </a:r>
          </a:p>
          <a:p>
            <a:r>
              <a:rPr lang="en-AU" dirty="0"/>
              <a:t>The second family adapts a pretrained multimodal large language model to read the document directly within its context window.</a:t>
            </a:r>
          </a:p>
          <a:p>
            <a:r>
              <a:rPr lang="en-AU" dirty="0"/>
              <a:t>This lets the model read richer page content directly, rather than only the compact summaries used by the first family.</a:t>
            </a:r>
          </a:p>
          <a:p>
            <a:r>
              <a:rPr lang="en-AU" dirty="0"/>
              <a:t>But performance can drop as documents get longer, and some documents cannot fit at all.</a:t>
            </a:r>
          </a:p>
          <a:p>
            <a:r>
              <a:rPr lang="en-AU" dirty="0"/>
              <a:t>Even when they fit, evidence scattered throughout a long context can be difficult for the model to locate and connect.</a:t>
            </a:r>
          </a:p>
          <a:p>
            <a:r>
              <a:rPr lang="en-AU" dirty="0"/>
              <a:t>This motivates retrieval-augmented pipelines. Instead of fitting the whole document into the model, we first retrieve relevant evidence and pass that smaller set to the answering model.</a:t>
            </a:r>
          </a:p>
          <a:p>
            <a:r>
              <a:rPr lang="en-AU" dirty="0"/>
              <a:t>These approaches follow a fixed workflow. Evidence missed during retrieval cannot be recovered during the answering stage.</a:t>
            </a:r>
          </a:p>
          <a:p>
            <a:r>
              <a:rPr lang="en-AU" dirty="0"/>
              <a:t>Finally, adaptive-trajectory pipelines follow an agentic approach. The language model decides what evidence to collect, how to collect it, and when it has enough to answer.</a:t>
            </a:r>
          </a:p>
          <a:p>
            <a:r>
              <a:rPr lang="en-AU" dirty="0"/>
              <a:t>It can gather more evidence based on what it has already found, but repeated calls make the time and cost harder to bound.</a:t>
            </a:r>
          </a:p>
          <a:p>
            <a:r>
              <a:rPr lang="en-AU" dirty="0"/>
              <a:t>We can see this kind of behaviour in language model assistants too.</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We can see these approaches in language model assistants, where you upload a document and ask questions about it.</a:t>
            </a:r>
          </a:p>
          <a:p>
            <a:r>
              <a:rPr lang="en-AU" dirty="0"/>
              <a:t>Putting all the text and page images directly into the model’s context resembles the second family, but long documents can run into context limits.</a:t>
            </a:r>
          </a:p>
          <a:p>
            <a:r>
              <a:rPr lang="en-AU" dirty="0"/>
              <a:t>Alternatively, an assistant can access the uploaded document through tools, retrieving or inspecting parts of it as needed.</a:t>
            </a:r>
          </a:p>
          <a:p>
            <a:r>
              <a:rPr lang="en-AU" dirty="0"/>
              <a:t>This resembles retrieval-augmented and adaptive-trajectory pipelines, which gather evidence before answering and can return for more when needed.</a:t>
            </a:r>
          </a:p>
          <a:p>
            <a:r>
              <a:rPr lang="en-AU" dirty="0"/>
              <a:t>Here, I gave Claude my thesis, which is almost one hundred pages, and asked a difficult question.</a:t>
            </a:r>
          </a:p>
          <a:p>
            <a:r>
              <a:rPr lang="en-AU" dirty="0"/>
              <a:t>You can see it plan, locate relevant pages and render them as images, so it reads the evidence visually as well as through text.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This is the main table of the survey, with the systems grouped by architectural family.</a:t>
            </a:r>
          </a:p>
          <a:p>
            <a:r>
              <a:rPr lang="en-AU" dirty="0"/>
              <a:t>There are two things I want to point out.</a:t>
            </a:r>
          </a:p>
          <a:p>
            <a:r>
              <a:rPr lang="en-AU" dirty="0"/>
              <a:t>First, we call the first two families models. Generally, they are trained end to end, with components built for that architecture.</a:t>
            </a:r>
          </a:p>
          <a:p>
            <a:r>
              <a:rPr lang="en-AU" dirty="0"/>
              <a:t>The last two families are pipelines. Their components are often interchangeable, especially the backbone language model.</a:t>
            </a:r>
          </a:p>
          <a:p>
            <a:r>
              <a:rPr lang="en-AU" dirty="0"/>
              <a:t>These techniques can often be applied to different backbones. As language models become stronger, the pipelines can benefit from those improvements too.</a:t>
            </a:r>
          </a:p>
          <a:p>
            <a:r>
              <a:rPr lang="en-AU" dirty="0"/>
              <a:t>Second, the modalities. Some systems use vision only, reading the document through page images.</a:t>
            </a:r>
          </a:p>
          <a:p>
            <a:r>
              <a:rPr lang="en-AU" dirty="0"/>
              <a:t>Others combine those images with text and layout information. The text may be embedded in the document or extracted by a parser.</a:t>
            </a:r>
          </a:p>
          <a:p>
            <a:r>
              <a:rPr lang="en-AU" dirty="0"/>
              <a:t>Layout information can describe where the text appears, using bounding boxes or coordinates on the page.</a:t>
            </a:r>
          </a:p>
          <a:p>
            <a:r>
              <a:rPr lang="en-AU" dirty="0"/>
              <a:t>So these systems differ in whether they read images alone or combine text, layout and vision. This distinction will be important in the empirical study.</a:t>
            </a:r>
          </a:p>
          <a:p>
            <a:r>
              <a:rPr lang="en-AU" dirty="0"/>
              <a:t>That brings us to the second paper.</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This brings us to our second paper, an empirical attribution study, which is currently under review.</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As we saw earlier, language model assistants are just one application of document understanding.</a:t>
            </a:r>
          </a:p>
          <a:p>
            <a:r>
              <a:rPr lang="en-AU" dirty="0"/>
              <a:t>In industry, you might have one or a few specific tasks to perform over thousands or millions of documents.</a:t>
            </a:r>
          </a:p>
          <a:p>
            <a:r>
              <a:rPr lang="en-AU" dirty="0"/>
              <a:t>For example, extracting fields from scanned patient records in healthcare, or classifying and summarising technical and safety reports in mining and resources.</a:t>
            </a:r>
          </a:p>
          <a:p>
            <a:r>
              <a:rPr lang="en-AU" dirty="0"/>
              <a:t>One major concern is privacy. Data-residency or privacy requirements may prevent you from sending the documents to a third-party service.</a:t>
            </a:r>
          </a:p>
          <a:p>
            <a:r>
              <a:rPr lang="en-AU" dirty="0"/>
              <a:t>Another is cost. Even without privacy concerns, processing that volume through a commercial API can be very expensive.</a:t>
            </a:r>
          </a:p>
          <a:p>
            <a:r>
              <a:rPr lang="en-AU" dirty="0"/>
              <a:t>Uploading documents one by one to an assistant is not feasible at this scale. You may also need structured output that another system can process automatically.</a:t>
            </a:r>
          </a:p>
          <a:p>
            <a:r>
              <a:rPr lang="en-AU" dirty="0"/>
              <a:t>If third-party processing is permitted, you might use a model through an API. Otherwise, you may need to run a vision-language model locally.</a:t>
            </a:r>
          </a:p>
          <a:p>
            <a:r>
              <a:rPr lang="en-AU" dirty="0"/>
              <a:t>Either way, you still need to implement and deploy a document understanding system tailored to your task, documents and output requirements.</a:t>
            </a:r>
          </a:p>
          <a:p>
            <a:r>
              <a:rPr lang="en-AU" dirty="0"/>
              <a:t>Access to a model through an API does not necessarily give you the document-processing workflow behind the provider’s consumer assistant.</a:t>
            </a:r>
          </a:p>
          <a:p>
            <a:r>
              <a:rPr lang="en-AU" dirty="0"/>
              <a:t>You have to choose how to convert the documents, retrieve evidence, and use that evidence to get the best performance for your task.</a:t>
            </a:r>
          </a:p>
          <a:p>
            <a:r>
              <a:rPr lang="en-AU" dirty="0"/>
              <a:t>For specialist document types, you might also need additional training. All these choices have to fit within a fixed compute budget.</a:t>
            </a:r>
          </a:p>
          <a:p>
            <a:r>
              <a:rPr lang="en-AU" dirty="0"/>
              <a:t>These are the design and deployment choices that motivate our empirical study.</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There are two research gaps behind this study.</a:t>
            </a:r>
          </a:p>
          <a:p>
            <a:r>
              <a:rPr lang="en-AU" dirty="0"/>
              <a:t>First, papers make competing design claims, but test them on different pipelines and datasets. Some favour vision alone, others text and vision; some retrieve more pages, others fewer.</a:t>
            </a:r>
          </a:p>
          <a:p>
            <a:r>
              <a:rPr lang="en-AU" dirty="0"/>
              <a:t>Second, we wanted an end-to-end empirical account of where failures occur across a document understanding pipeline.</a:t>
            </a:r>
          </a:p>
          <a:p>
            <a:r>
              <a:rPr lang="en-AU" dirty="0"/>
              <a:t>Our first contribution is a unified view of failure, with three places an answer can go wrong, regardless of the architecture.</a:t>
            </a:r>
          </a:p>
          <a:p>
            <a:r>
              <a:rPr lang="en-AU" dirty="0"/>
              <a:t>Second, we run controlled interventions in a single pipeline, changing one stage at a time.</a:t>
            </a:r>
          </a:p>
          <a:p>
            <a:r>
              <a:rPr lang="en-AU" dirty="0"/>
              <a:t>We repeat experiments across different document collections and independently developed model families to check whether the findings transfer beyond one setting.</a:t>
            </a:r>
          </a:p>
          <a:p>
            <a:r>
              <a:rPr lang="en-AU" dirty="0"/>
              <a:t>Third, we use these results to give concrete guidance for designing and deploying systems under a compute budget.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This is the framework. There are three places where an answer can go wrong.</a:t>
            </a:r>
          </a:p>
          <a:p>
            <a:r>
              <a:rPr lang="en-AU" dirty="0"/>
              <a:t>Representation is how the document is converted into what the model reads. Was the information preserved?</a:t>
            </a:r>
          </a:p>
          <a:p>
            <a:r>
              <a:rPr lang="en-AU" dirty="0"/>
              <a:t>Selection is which pages are put in front of the model. Did the information actually reach it?</a:t>
            </a:r>
          </a:p>
          <a:p>
            <a:r>
              <a:rPr lang="en-AU" dirty="0"/>
              <a:t>Reasoning is what the model does with those pages. Did it use them correctly?</a:t>
            </a:r>
          </a:p>
          <a:p>
            <a:r>
              <a:rPr lang="en-AU" dirty="0"/>
              <a:t>Each one has two mechanisms, which gives six in total. I will show results for each pair, and then a real example of each.</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To separate the three, we use one deliberately simple pipeline with three stages: encode the pages, retrieve some of them, and answer in a single pass.</a:t>
            </a:r>
          </a:p>
          <a:p>
            <a:r>
              <a:rPr lang="en-AU" dirty="0"/>
              <a:t>Each experiment changes one stage and holds the other two fixed.</a:t>
            </a:r>
          </a:p>
          <a:p>
            <a:r>
              <a:rPr lang="en-AU" dirty="0"/>
              <a:t>We can also hand the model the annotated gold pages directly, which takes retrieval out of the picture.</a:t>
            </a:r>
          </a:p>
          <a:p>
            <a:r>
              <a:rPr lang="en-AU" dirty="0"/>
              <a:t>The main benchmark is MMLongBench-Doc, with one hundred and thirty-five long documents. It is the only one we know of that marks, for every question, the evidence pages, the type of evidence, and whether the question can be answered at all.</a:t>
            </a:r>
          </a:p>
          <a:p>
            <a:r>
              <a:rPr lang="en-AU" dirty="0"/>
              <a:t>We ran a lot of experiments this way. In the next three slides I will only discuss some of the more interesting and important points.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The first point is about representation, and the question is when visual reading is worth its cost.</a:t>
            </a:r>
          </a:p>
          <a:p>
            <a:r>
              <a:rPr lang="en-AU" dirty="0"/>
              <a:t>Vision is expensive. Reading from images alone needs high resolution to work well, and every page image costs time. In our measurements, preparing the input took about twenty-six seconds per question with images, against under two seconds with text.</a:t>
            </a:r>
          </a:p>
          <a:p>
            <a:r>
              <a:rPr lang="en-AU" dirty="0"/>
              <a:t>Text, on the other hand, works like a cache. The text embedded in the file, or the output of a structure-aware parser, converts the document once into a form that is fast to use at inference time.</a:t>
            </a:r>
          </a:p>
          <a:p>
            <a:r>
              <a:rPr lang="en-AU" dirty="0"/>
              <a:t>On born-digital documents, text alone is already close: in the lower half of the table, adding images to parsed text gives under three points.</a:t>
            </a:r>
          </a:p>
          <a:p>
            <a:r>
              <a:rPr lang="en-AU" dirty="0"/>
              <a:t>So how much of each you need depends heavily on the document type and the task. In the upper half, chart and figure questions are refused far more often from text, and gain more than twenty points from images, while text and table questions gain little. There is no one size fits all.</a:t>
            </a:r>
          </a:p>
          <a:p>
            <a:r>
              <a:rPr lang="en-AU" dirty="0"/>
              <a:t>And parsers are improving. Newer neural parsers can express visual content directly as text, for example turning a chart into a table of its values. Our results do not show this yet, so I see it as a direction.</a:t>
            </a:r>
          </a:p>
          <a:p>
            <a:r>
              <a:rPr lang="en-AU" dirty="0"/>
              <a:t>So choose the representation for the document type and the task.</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The second point is about selection.</a:t>
            </a:r>
          </a:p>
          <a:p>
            <a:r>
              <a:rPr lang="en-AU" dirty="0"/>
              <a:t>Retrieved evidence can look sufficient. The model produces an answer either way, and it is hard to know whether more context from the document would have changed it.</a:t>
            </a:r>
          </a:p>
          <a:p>
            <a:r>
              <a:rPr lang="en-AU" dirty="0"/>
              <a:t>Underneath that is a precision and recall trade-off.</a:t>
            </a:r>
          </a:p>
          <a:p>
            <a:r>
              <a:rPr lang="en-AU" dirty="0"/>
              <a:t>If we retrieve too little, required evidence is simply missing. In our experiments, removing one required page halves accuracy.</a:t>
            </a:r>
          </a:p>
          <a:p>
            <a:r>
              <a:rPr lang="en-AU" dirty="0"/>
              <a:t>If we retrieve too much, the reasoner struggles to find and combine the evidence. In the figure, every required page is present, and accuracy still falls as we add more pages, most sharply for multi-hop questions.</a:t>
            </a:r>
          </a:p>
          <a:p>
            <a:r>
              <a:rPr lang="en-AU" dirty="0"/>
              <a:t>And there is no clear stopping signal. It is hard to retrieve only what is relevant, and hard to know when you have enough.</a:t>
            </a:r>
          </a:p>
          <a:p>
            <a:r>
              <a:rPr lang="en-AU" dirty="0"/>
              <a:t>We need enough evidence to establish the answer, not just enough to generate one.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The third point is about reasoning.</a:t>
            </a:r>
          </a:p>
          <a:p>
            <a:r>
              <a:rPr lang="en-AU" dirty="0"/>
              <a:t>A question can contain a premise the document does not support. Here the question asks which YouTube video the slides use, and the document mentions no video at all. With no instruction, the model answers fluently that it is a clip from Breaking Bad.</a:t>
            </a:r>
          </a:p>
          <a:p>
            <a:r>
              <a:rPr lang="en-AU" dirty="0"/>
              <a:t>Prompts change this behaviour. If we explicitly allow the model to say not answerable, it correctly refuses far more unanswerable questions, from 45.5 percent to 74.6 percent.</a:t>
            </a:r>
          </a:p>
          <a:p>
            <a:r>
              <a:rPr lang="en-AU" dirty="0"/>
              <a:t>But it also refuses more answerable ones, from 6.2 percent to 27.7 percent. So refining the prompt means balancing unsupported answers against unnecessary refusals.</a:t>
            </a:r>
          </a:p>
          <a:p>
            <a:r>
              <a:rPr lang="en-AU" dirty="0"/>
              <a:t>There are further options, such as Reflexion and self-consistency, which spend more computation on reasoning.</a:t>
            </a:r>
          </a:p>
          <a:p>
            <a:r>
              <a:rPr lang="en-AU" dirty="0"/>
              <a:t>Before asking whether the answer is correct, ask whether the evidence supports giving that answer.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To conclude.</a:t>
            </a:r>
          </a:p>
          <a:p>
            <a:r>
              <a:rPr lang="en-AU" dirty="0"/>
              <a:t>The survey organises the field. Understanding multi-page documents is a problem of evidence management, and four families of architecture handle it in different ways.</a:t>
            </a:r>
          </a:p>
          <a:p>
            <a:r>
              <a:rPr lang="en-AU" dirty="0"/>
              <a:t>The empirical study locates the failures. They sit at representation, at selection, or at reasoning, and each one needs a different fix.</a:t>
            </a:r>
          </a:p>
          <a:p>
            <a:r>
              <a:rPr lang="en-AU" dirty="0"/>
              <a:t>Thank you. I am happy to take questions.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If there is time, I can show a small proof of concept that puts the findings into one system.</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It is one model playing three roles.</a:t>
            </a:r>
          </a:p>
          <a:p>
            <a:r>
              <a:rPr lang="en-AU" dirty="0"/>
              <a:t>The reader goes through the pages in ranked order. For each page it sees both the text and the image, writes down any evidence it finds, and flags pages that may hold the answer.</a:t>
            </a:r>
          </a:p>
          <a:p>
            <a:r>
              <a:rPr lang="en-AU" dirty="0"/>
              <a:t>The synthesizer answers from the flagged pages in full and the short records of everything else.</a:t>
            </a:r>
          </a:p>
          <a:p>
            <a:r>
              <a:rPr lang="en-AU" dirty="0"/>
              <a:t>The arbiter cannot write an answer. It either accepts, or names a missing fact and sends the reader back for more pages.</a:t>
            </a:r>
          </a:p>
          <a:p>
            <a:r>
              <a:rPr lang="en-AU" dirty="0"/>
              <a:t>Each choice follows from a finding. Text and image together, for representation. Read broadly but pass on short records, for selection. And a separate step that judges whether the evidence is enough, for reasoning.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All systems in this table use the same model with eight billion parameters.</a:t>
            </a:r>
          </a:p>
          <a:p>
            <a:r>
              <a:rPr lang="en-AU" dirty="0"/>
              <a:t>Ours reaches 56.5 percent on MMLongBench-Doc and 61.3 percent on LongDocURL, the highest in the table, without any training and with the model stored at four-bit precision.</a:t>
            </a:r>
          </a:p>
          <a:p>
            <a:r>
              <a:rPr lang="en-AU" dirty="0"/>
              <a:t>It is still behind the trained system DocTrace on questions that need several pages, 39.2 against 41.1.</a:t>
            </a:r>
          </a:p>
          <a:p>
            <a:r>
              <a:rPr lang="en-AU" dirty="0"/>
              <a:t>The cost is time: about eleven minutes per question on average, in about eight gigabytes of memory.</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Hi-VT5 is an example of page-to-document encoding. It builds on T5, a text encoder-decoder, and adds visual and layout information.</a:t>
            </a:r>
          </a:p>
          <a:p>
            <a:r>
              <a:rPr lang="en-AU" dirty="0"/>
              <a:t>Each page is encoded separately, together with the question, the recognised words and their positions, and patches of the page image.</a:t>
            </a:r>
          </a:p>
          <a:p>
            <a:r>
              <a:rPr lang="en-AU" dirty="0"/>
              <a:t>Ten learnable page tokens summarise the information on that page relevant to the question.</a:t>
            </a:r>
          </a:p>
          <a:p>
            <a:r>
              <a:rPr lang="en-AU" dirty="0"/>
              <a:t>Those tokens from all the pages are joined together and passed to the decoder to generate the answer. So the decoder reads the page summaries, rather than the full pages.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DocSLM is an example of the second family. It is a small vision-language model, designed to read long documents under limited memory.</a:t>
            </a:r>
          </a:p>
          <a:p>
            <a:r>
              <a:rPr lang="en-AU" dirty="0"/>
              <a:t>The first idea is compression. A hierarchical compressor jointly encodes the visual, text and layout information of each page into a fixed 576 tokens, however much text the page holds.</a:t>
            </a:r>
          </a:p>
          <a:p>
            <a:r>
              <a:rPr lang="en-AU" dirty="0"/>
              <a:t>The second idea is streaming. The document is split into segments, which are processed one at a time. Each segment either gives an answer or abstains.</a:t>
            </a:r>
          </a:p>
          <a:p>
            <a:r>
              <a:rPr lang="en-AU" dirty="0"/>
              <a:t>An uncertainty calibrator then keeps the answer with the lowest uncertainty. That is what the figure shows.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MoLoRAG is an example of a retrieval-augmented pipeline. There are three main parts.</a:t>
            </a:r>
          </a:p>
          <a:p>
            <a:r>
              <a:rPr lang="en-AU" dirty="0"/>
              <a:t>First, it builds a graph-based index: a visual retriever represents each page, and pages are connected based on their similarity.</a:t>
            </a:r>
          </a:p>
          <a:p>
            <a:r>
              <a:rPr lang="en-AU" dirty="0"/>
              <a:t>Second, it searches that graph, starting from pages similar to the question. A small vision-language model helps score their relevance, and the search selects the top K pages.</a:t>
            </a:r>
          </a:p>
          <a:p>
            <a:r>
              <a:rPr lang="en-AU" dirty="0"/>
              <a:t>Third, those top K pages are passed to a separate vision-language model, the reasoner, to answer the question.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Finally, SimpleDoc is an example of an adaptive-trajectory pipeline. It has two stages.</a:t>
            </a:r>
          </a:p>
          <a:p>
            <a:r>
              <a:rPr lang="en-AU" dirty="0"/>
              <a:t>In pre-processing, every page is indexed twice: as a visual embedding, and as a short summary written by a vision-language model.</a:t>
            </a:r>
          </a:p>
          <a:p>
            <a:r>
              <a:rPr lang="en-AU" dirty="0"/>
              <a:t>To answer a question, pages are first shortlisted by embedding similarity. A language model then re-ranks them using the summaries.</a:t>
            </a:r>
          </a:p>
          <a:p>
            <a:r>
              <a:rPr lang="en-AU" dirty="0"/>
              <a:t>A single reasoning agent reads those pages together with a working memory of earlier notes. It either answers, or issues a refined query to retrieve more pages.</a:t>
            </a:r>
          </a:p>
          <a:p>
            <a:r>
              <a:rPr lang="en-AU" dirty="0"/>
              <a:t>So the number of retrieval rounds depends on the question, rather than being fixed in advance.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8"/>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8"/>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8"/>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8"/>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4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4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4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4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4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Deck">
  <a:themeElements>
    <a:clrScheme name="Deck">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Deck">
      <a:majorFont>
        <a:latin typeface="Calibri Light"/>
        <a:ea typeface=""/>
        <a:cs typeface=""/>
      </a:majorFont>
      <a:minorFont>
        <a:latin typeface="Calibri"/>
        <a:ea typeface=""/>
        <a:cs typeface=""/>
      </a:minorFont>
    </a:fontScheme>
    <a:fmtScheme name="Deck">
      <a:fillStyleLst>
        <a:solidFill>
          <a:schemeClr val="phClr"/>
        </a:solidFill>
        <a:solidFill>
          <a:schemeClr val="phClr"/>
        </a:solidFill>
        <a:solidFill>
          <a:schemeClr val="phClr"/>
        </a:solidFill>
      </a:fillStyleLst>
      <a:lnStyleLst>
        <a:ln w="6350" cap="flat" cmpd="sng" algn="ctr">
          <a:solidFill>
            <a:schemeClr val="phClr"/>
          </a:solidFill>
          <a:prstDash val="solid"/>
        </a:ln>
        <a:ln w="6350" cap="flat" cmpd="sng" algn="ctr">
          <a:solidFill>
            <a:schemeClr val="phClr"/>
          </a:solidFill>
          <a:prstDash val="solid"/>
        </a:ln>
        <a:ln w="635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Deck">
  <a:themeElements>
    <a:clrScheme name="Deck">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Deck">
      <a:majorFont>
        <a:latin typeface="Calibri Light"/>
        <a:ea typeface=""/>
        <a:cs typeface=""/>
      </a:majorFont>
      <a:minorFont>
        <a:latin typeface="Calibri"/>
        <a:ea typeface=""/>
        <a:cs typeface=""/>
      </a:minorFont>
    </a:fontScheme>
    <a:fmtScheme name="Deck">
      <a:fillStyleLst>
        <a:solidFill>
          <a:schemeClr val="phClr"/>
        </a:solidFill>
        <a:solidFill>
          <a:schemeClr val="phClr"/>
        </a:solidFill>
        <a:solidFill>
          <a:schemeClr val="phClr"/>
        </a:solidFill>
      </a:fillStyleLst>
      <a:lnStyleLst>
        <a:ln w="6350" cap="flat" cmpd="sng" algn="ctr">
          <a:solidFill>
            <a:schemeClr val="phClr"/>
          </a:solidFill>
          <a:prstDash val="solid"/>
        </a:ln>
        <a:ln w="6350" cap="flat" cmpd="sng" algn="ctr">
          <a:solidFill>
            <a:schemeClr val="phClr"/>
          </a:solidFill>
          <a:prstDash val="solid"/>
        </a:ln>
        <a:ln w="635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