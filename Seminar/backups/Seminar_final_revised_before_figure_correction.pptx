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2638CC-EB42-4478-9DB3-19327D192BC3}">
  <a:tblStyle styleId="{922638CC-EB42-4478-9DB3-19327D192BC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h39bf41852e5d6338_2_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h39bf41852e5d6338_2_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Hello everyone, my name is Lewei, and I’ve been working on multi-page visually rich document understanding, </a:t>
            </a:r>
            <a:r>
              <a:rPr lang="en-GB"/>
              <a:t>or just long document understanding,</a:t>
            </a:r>
            <a:r>
              <a:rPr lang="en-GB" sz="1100"/>
              <a:t> for my honours project this year.</a:t>
            </a:r>
            <a:endParaRPr/>
          </a:p>
        </p:txBody>
      </p:sp>
      <p:sp>
        <p:nvSpPr>
          <p:cNvPr id="62" name="Google Shape;62;h39bf41852e5d6338_2_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h39bf41852e5d6338_2_2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h39bf41852e5d6338_2_2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First, I’ll go through some background</a:t>
            </a:r>
            <a:r>
              <a:rPr lang="en-GB"/>
              <a:t>.</a:t>
            </a:r>
            <a:endParaRPr/>
          </a:p>
          <a:p>
            <a:pPr indent="-298450" lvl="0" marL="457200" rtl="0" algn="l">
              <a:lnSpc>
                <a:spcPct val="100000"/>
              </a:lnSpc>
              <a:spcBef>
                <a:spcPts val="0"/>
              </a:spcBef>
              <a:spcAft>
                <a:spcPts val="0"/>
              </a:spcAft>
              <a:buSzPts val="1100"/>
              <a:buChar char="●"/>
            </a:pPr>
            <a:r>
              <a:rPr lang="en-GB"/>
              <a:t>Then I’ll go cover the 2 papers completed this year.</a:t>
            </a:r>
            <a:endParaRPr/>
          </a:p>
          <a:p>
            <a:pPr indent="-298450" lvl="0" marL="457200" rtl="0" algn="l">
              <a:lnSpc>
                <a:spcPct val="100000"/>
              </a:lnSpc>
              <a:spcBef>
                <a:spcPts val="0"/>
              </a:spcBef>
              <a:spcAft>
                <a:spcPts val="0"/>
              </a:spcAft>
              <a:buSzPts val="1100"/>
              <a:buChar char="●"/>
            </a:pPr>
            <a:r>
              <a:rPr lang="en-GB"/>
              <a:t>The first is </a:t>
            </a:r>
            <a:r>
              <a:rPr lang="en-GB" sz="1100"/>
              <a:t>survey of </a:t>
            </a:r>
            <a:r>
              <a:rPr lang="en-GB"/>
              <a:t>the long document understanding field.</a:t>
            </a:r>
            <a:endParaRPr/>
          </a:p>
          <a:p>
            <a:pPr indent="-298450" lvl="0" marL="457200" rtl="0" algn="l">
              <a:lnSpc>
                <a:spcPct val="100000"/>
              </a:lnSpc>
              <a:spcBef>
                <a:spcPts val="0"/>
              </a:spcBef>
              <a:spcAft>
                <a:spcPts val="0"/>
              </a:spcAft>
              <a:buSzPts val="1100"/>
              <a:buChar char="●"/>
            </a:pPr>
            <a:r>
              <a:rPr lang="en-GB"/>
              <a:t>The second paper is an empirical study on designing and deploying long document understanding systems.</a:t>
            </a:r>
            <a:endParaRPr/>
          </a:p>
          <a:p>
            <a:pPr indent="-298450" lvl="0" marL="457200" rtl="0" algn="l">
              <a:lnSpc>
                <a:spcPct val="100000"/>
              </a:lnSpc>
              <a:spcBef>
                <a:spcPts val="0"/>
              </a:spcBef>
              <a:spcAft>
                <a:spcPts val="0"/>
              </a:spcAft>
              <a:buSzPts val="1100"/>
              <a:buChar char="●"/>
            </a:pPr>
            <a:r>
              <a:rPr lang="en-GB" sz="1100"/>
              <a:t>If we have time,</a:t>
            </a:r>
            <a:r>
              <a:rPr lang="en-GB"/>
              <a:t> I’ll go over this proof of concept method for long document understanding that uses the findings of empirical study.</a:t>
            </a:r>
            <a:endParaRPr/>
          </a:p>
        </p:txBody>
      </p:sp>
      <p:sp>
        <p:nvSpPr>
          <p:cNvPr id="73" name="Google Shape;73;h39bf41852e5d6338_2_2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39bf41852e5d6338_2_2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h39bf41852e5d6338_2_2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So, </a:t>
            </a:r>
            <a:r>
              <a:rPr lang="en-GB" sz="1100"/>
              <a:t>what do we mean by a visually rich document?</a:t>
            </a:r>
            <a:endParaRPr/>
          </a:p>
          <a:p>
            <a:pPr indent="-298450" lvl="0" marL="457200" rtl="0" algn="l">
              <a:lnSpc>
                <a:spcPct val="100000"/>
              </a:lnSpc>
              <a:spcBef>
                <a:spcPts val="0"/>
              </a:spcBef>
              <a:spcAft>
                <a:spcPts val="0"/>
              </a:spcAft>
              <a:buSzPts val="1100"/>
              <a:buChar char="●"/>
            </a:pPr>
            <a:r>
              <a:rPr lang="en-GB" sz="1100"/>
              <a:t>Documents carry meaning through text, visual elements like charts and figures, and how the</a:t>
            </a:r>
            <a:r>
              <a:rPr lang="en-GB"/>
              <a:t>se</a:t>
            </a:r>
            <a:r>
              <a:rPr lang="en-GB" sz="1100"/>
              <a:t> are laid out on a page.</a:t>
            </a:r>
            <a:endParaRPr/>
          </a:p>
          <a:p>
            <a:pPr indent="-298450" lvl="0" marL="457200" rtl="0" algn="l">
              <a:lnSpc>
                <a:spcPct val="100000"/>
              </a:lnSpc>
              <a:spcBef>
                <a:spcPts val="0"/>
              </a:spcBef>
              <a:spcAft>
                <a:spcPts val="0"/>
              </a:spcAft>
              <a:buSzPts val="1100"/>
              <a:buChar char="●"/>
            </a:pPr>
            <a:r>
              <a:rPr lang="en-GB" sz="1100"/>
              <a:t>A multi-page document simply has two or more pages, but its meaning can be spread across those pages and connected between t</a:t>
            </a:r>
            <a:r>
              <a:rPr lang="en-GB"/>
              <a:t>hem.</a:t>
            </a:r>
            <a:endParaRPr/>
          </a:p>
          <a:p>
            <a:pPr indent="-298450" lvl="0" marL="457200" rtl="0" algn="l">
              <a:lnSpc>
                <a:spcPct val="100000"/>
              </a:lnSpc>
              <a:spcBef>
                <a:spcPts val="0"/>
              </a:spcBef>
              <a:spcAft>
                <a:spcPts val="0"/>
              </a:spcAft>
              <a:buSzPts val="1100"/>
              <a:buChar char="●"/>
            </a:pPr>
            <a:r>
              <a:rPr lang="en-GB"/>
              <a:t>Although when we say multi-page, we generally mean longer documents from 50 or hundreds of pages.</a:t>
            </a:r>
            <a:endParaRPr/>
          </a:p>
          <a:p>
            <a:pPr indent="-298450" lvl="0" marL="457200" rtl="0" algn="l">
              <a:lnSpc>
                <a:spcPct val="100000"/>
              </a:lnSpc>
              <a:spcBef>
                <a:spcPts val="0"/>
              </a:spcBef>
              <a:spcAft>
                <a:spcPts val="0"/>
              </a:spcAft>
              <a:buSzPts val="1100"/>
              <a:buChar char="●"/>
            </a:pPr>
            <a:r>
              <a:rPr lang="en-GB"/>
              <a:t>For the purposes of this seminar, the definition of document understanding is just answering an arbitrarily specific natural language question over a long visually rich document.</a:t>
            </a:r>
            <a:endParaRPr/>
          </a:p>
          <a:p>
            <a:pPr indent="-298450" lvl="0" marL="457200" rtl="0" algn="l">
              <a:lnSpc>
                <a:spcPct val="100000"/>
              </a:lnSpc>
              <a:spcBef>
                <a:spcPts val="0"/>
              </a:spcBef>
              <a:spcAft>
                <a:spcPts val="0"/>
              </a:spcAft>
              <a:buSzPts val="1100"/>
              <a:buChar char="●"/>
            </a:pPr>
            <a:r>
              <a:rPr lang="en-GB"/>
              <a:t>Here is an example of relatively easy question now, but was very difficult even just a year ago.</a:t>
            </a:r>
            <a:endParaRPr/>
          </a:p>
          <a:p>
            <a:pPr indent="-298450" lvl="0" marL="457200" rtl="0" algn="l">
              <a:lnSpc>
                <a:spcPct val="100000"/>
              </a:lnSpc>
              <a:spcBef>
                <a:spcPts val="0"/>
              </a:spcBef>
              <a:spcAft>
                <a:spcPts val="0"/>
              </a:spcAft>
              <a:buSzPts val="1100"/>
              <a:buChar char="●"/>
            </a:pPr>
            <a:r>
              <a:rPr lang="en-GB"/>
              <a:t>Long document understanding is difficult due to two main reasons</a:t>
            </a:r>
            <a:endParaRPr/>
          </a:p>
          <a:p>
            <a:pPr indent="-298450" lvl="0" marL="457200" rtl="0" algn="l">
              <a:lnSpc>
                <a:spcPct val="100000"/>
              </a:lnSpc>
              <a:spcBef>
                <a:spcPts val="0"/>
              </a:spcBef>
              <a:spcAft>
                <a:spcPts val="0"/>
              </a:spcAft>
              <a:buSzPts val="1100"/>
              <a:buChar char="●"/>
            </a:pPr>
            <a:r>
              <a:rPr lang="en-GB"/>
              <a:t>First is the sheer volume of information, both textual, visual and structural, is often too much for even long context vision language models to read in full, and even if you can, reasoning over so much information is very difficult.</a:t>
            </a:r>
            <a:endParaRPr/>
          </a:p>
          <a:p>
            <a:pPr indent="-298450" lvl="0" marL="457200" rtl="0" algn="l">
              <a:lnSpc>
                <a:spcPct val="100000"/>
              </a:lnSpc>
              <a:spcBef>
                <a:spcPts val="0"/>
              </a:spcBef>
              <a:spcAft>
                <a:spcPts val="0"/>
              </a:spcAft>
              <a:buSzPts val="1100"/>
              <a:buChar char="●"/>
            </a:pPr>
            <a:r>
              <a:rPr lang="en-GB"/>
              <a:t>Second is that answer relevant evidence can be scattered across the document, and you need to combine and reason over this evidence to successfully answer a question.</a:t>
            </a:r>
            <a:endParaRPr/>
          </a:p>
        </p:txBody>
      </p:sp>
      <p:sp>
        <p:nvSpPr>
          <p:cNvPr id="83" name="Google Shape;83;h39bf41852e5d6338_2_2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h39bf41852e5d6338_2_4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h39bf41852e5d6338_2_4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We can already see document understanding research being applied in the language model assistants we use.</a:t>
            </a:r>
            <a:endParaRPr/>
          </a:p>
          <a:p>
            <a:pPr indent="-298450" lvl="0" marL="457200" rtl="0" algn="l">
              <a:lnSpc>
                <a:spcPct val="100000"/>
              </a:lnSpc>
              <a:spcBef>
                <a:spcPts val="0"/>
              </a:spcBef>
              <a:spcAft>
                <a:spcPts val="0"/>
              </a:spcAft>
              <a:buSzPts val="1100"/>
              <a:buChar char="●"/>
            </a:pPr>
            <a:r>
              <a:rPr lang="en-GB"/>
              <a:t>Here’s an example of me uploading my thesis which is close to 100 pages, and claude is able to answer questions very accurately.</a:t>
            </a:r>
            <a:endParaRPr/>
          </a:p>
          <a:p>
            <a:pPr indent="-298450" lvl="0" marL="457200" rtl="0" algn="l">
              <a:lnSpc>
                <a:spcPct val="100000"/>
              </a:lnSpc>
              <a:spcBef>
                <a:spcPts val="0"/>
              </a:spcBef>
              <a:spcAft>
                <a:spcPts val="0"/>
              </a:spcAft>
              <a:buSzPts val="1100"/>
              <a:buChar char="●"/>
            </a:pPr>
            <a:r>
              <a:rPr lang="en-GB" sz="1100"/>
              <a:t>But these assistants are just one application of doc</a:t>
            </a:r>
            <a:r>
              <a:rPr lang="en-GB"/>
              <a:t>ument understanding</a:t>
            </a:r>
            <a:r>
              <a:rPr lang="en-GB" sz="1100"/>
              <a:t>. </a:t>
            </a:r>
            <a:endParaRPr sz="1100"/>
          </a:p>
          <a:p>
            <a:pPr indent="-298450" lvl="0" marL="457200" rtl="0" algn="l">
              <a:lnSpc>
                <a:spcPct val="100000"/>
              </a:lnSpc>
              <a:spcBef>
                <a:spcPts val="0"/>
              </a:spcBef>
              <a:spcAft>
                <a:spcPts val="0"/>
              </a:spcAft>
              <a:buSzPts val="1100"/>
              <a:buChar char="●"/>
            </a:pPr>
            <a:r>
              <a:rPr lang="en-GB" sz="1100"/>
              <a:t>In industry, you might have one or a few specific tasks to perform over thousands or millions of documents.</a:t>
            </a:r>
            <a:endParaRPr/>
          </a:p>
          <a:p>
            <a:pPr indent="-298450" lvl="0" marL="457200" rtl="0" algn="l">
              <a:lnSpc>
                <a:spcPct val="100000"/>
              </a:lnSpc>
              <a:spcBef>
                <a:spcPts val="0"/>
              </a:spcBef>
              <a:spcAft>
                <a:spcPts val="0"/>
              </a:spcAft>
              <a:buSzPts val="1100"/>
              <a:buChar char="●"/>
            </a:pPr>
            <a:r>
              <a:rPr lang="en-GB" sz="1100"/>
              <a:t>One major concern is privacy. </a:t>
            </a:r>
            <a:r>
              <a:rPr lang="en-GB"/>
              <a:t>For example, </a:t>
            </a:r>
            <a:r>
              <a:rPr lang="en-GB"/>
              <a:t>medical and legal documents</a:t>
            </a:r>
            <a:r>
              <a:rPr lang="en-GB" sz="1100"/>
              <a:t> cannot be sent to a third-party service</a:t>
            </a:r>
            <a:r>
              <a:rPr lang="en-GB"/>
              <a:t> due to data-residency requirements.</a:t>
            </a:r>
            <a:endParaRPr/>
          </a:p>
          <a:p>
            <a:pPr indent="-298450" lvl="0" marL="457200" rtl="0" algn="l">
              <a:lnSpc>
                <a:spcPct val="100000"/>
              </a:lnSpc>
              <a:spcBef>
                <a:spcPts val="0"/>
              </a:spcBef>
              <a:spcAft>
                <a:spcPts val="0"/>
              </a:spcAft>
              <a:buSzPts val="1100"/>
              <a:buChar char="●"/>
            </a:pPr>
            <a:r>
              <a:rPr lang="en-GB" sz="1100"/>
              <a:t>Another is cost. Even without privacy concerns, processing that volume through a commercial API can be very expensive.</a:t>
            </a:r>
            <a:endParaRPr/>
          </a:p>
          <a:p>
            <a:pPr indent="-298450" lvl="0" marL="457200" rtl="0" algn="l">
              <a:lnSpc>
                <a:spcPct val="100000"/>
              </a:lnSpc>
              <a:spcBef>
                <a:spcPts val="0"/>
              </a:spcBef>
              <a:spcAft>
                <a:spcPts val="0"/>
              </a:spcAft>
              <a:buSzPts val="1100"/>
              <a:buChar char="●"/>
            </a:pPr>
            <a:r>
              <a:rPr lang="en-GB" sz="1100"/>
              <a:t>A</a:t>
            </a:r>
            <a:r>
              <a:rPr lang="en-GB"/>
              <a:t>nother case is</a:t>
            </a:r>
            <a:r>
              <a:rPr lang="en-GB" sz="1100"/>
              <a:t> specialist document types may </a:t>
            </a:r>
            <a:r>
              <a:rPr lang="en-GB"/>
              <a:t>need specialized pipelines to process them, or maybe even additional training on the language model.</a:t>
            </a:r>
            <a:endParaRPr/>
          </a:p>
          <a:p>
            <a:pPr indent="-298450" lvl="0" marL="457200" rtl="0" algn="l">
              <a:spcBef>
                <a:spcPts val="0"/>
              </a:spcBef>
              <a:spcAft>
                <a:spcPts val="0"/>
              </a:spcAft>
              <a:buClr>
                <a:schemeClr val="dk1"/>
              </a:buClr>
              <a:buSzPts val="1100"/>
              <a:buChar char="●"/>
            </a:pPr>
            <a:r>
              <a:rPr lang="en-GB">
                <a:solidFill>
                  <a:schemeClr val="dk1"/>
                </a:solidFill>
              </a:rPr>
              <a:t>Nor is uploading documents one by one to a LLM assistant feasible, and you might need structured output for automatic downstream processing</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As a result, real deployments need to implement their own document understanding pipeline either using API calls to closed source models, or by running local vision language models.</a:t>
            </a:r>
            <a:endParaRPr/>
          </a:p>
        </p:txBody>
      </p:sp>
      <p:sp>
        <p:nvSpPr>
          <p:cNvPr id="97" name="Google Shape;97;h39bf41852e5d6338_2_4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h39bf41852e5d6338_2_5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h39bf41852e5d6338_2_5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That brings us to the survey paper completed earlier this year.</a:t>
            </a:r>
            <a:endParaRPr/>
          </a:p>
          <a:p>
            <a:pPr indent="-298450" lvl="0" marL="457200" rtl="0" algn="l">
              <a:lnSpc>
                <a:spcPct val="100000"/>
              </a:lnSpc>
              <a:spcBef>
                <a:spcPts val="0"/>
              </a:spcBef>
              <a:spcAft>
                <a:spcPts val="0"/>
              </a:spcAft>
              <a:buSzPts val="1100"/>
              <a:buChar char="●"/>
            </a:pPr>
            <a:r>
              <a:rPr lang="en-GB"/>
              <a:t>This is the first survey to treat the multi-page setting as a distinct problem.</a:t>
            </a:r>
            <a:endParaRPr/>
          </a:p>
          <a:p>
            <a:pPr indent="-298450" lvl="0" marL="457200" rtl="0" algn="l">
              <a:lnSpc>
                <a:spcPct val="100000"/>
              </a:lnSpc>
              <a:spcBef>
                <a:spcPts val="0"/>
              </a:spcBef>
              <a:spcAft>
                <a:spcPts val="0"/>
              </a:spcAft>
              <a:buSzPts val="1100"/>
              <a:buChar char="●"/>
            </a:pPr>
            <a:r>
              <a:rPr lang="en-GB"/>
              <a:t>And has been accepted into a top tier conference for natural language processing.</a:t>
            </a:r>
            <a:endParaRPr/>
          </a:p>
          <a:p>
            <a:pPr indent="-298450" lvl="0" marL="457200" rtl="0" algn="l">
              <a:lnSpc>
                <a:spcPct val="100000"/>
              </a:lnSpc>
              <a:spcBef>
                <a:spcPts val="0"/>
              </a:spcBef>
              <a:spcAft>
                <a:spcPts val="0"/>
              </a:spcAft>
              <a:buSzPts val="1100"/>
              <a:buChar char="●"/>
            </a:pPr>
            <a:r>
              <a:rPr lang="en-GB"/>
              <a:t>I’m a bit conscious of time so i’ll mainly talk about the 4 architectural families, and mostly skip </a:t>
            </a:r>
            <a:r>
              <a:rPr lang="en-GB"/>
              <a:t>everything else</a:t>
            </a:r>
            <a:endParaRPr/>
          </a:p>
        </p:txBody>
      </p:sp>
      <p:sp>
        <p:nvSpPr>
          <p:cNvPr id="110" name="Google Shape;110;h39bf41852e5d6338_2_5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h39bf41852e5d6338_2_7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h39bf41852e5d6338_2_7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These architectural families can also be considered different approaches to long document understanding.</a:t>
            </a:r>
            <a:endParaRPr/>
          </a:p>
          <a:p>
            <a:pPr indent="-298450" lvl="0" marL="457200" rtl="0" algn="l">
              <a:lnSpc>
                <a:spcPct val="100000"/>
              </a:lnSpc>
              <a:spcBef>
                <a:spcPts val="0"/>
              </a:spcBef>
              <a:spcAft>
                <a:spcPts val="0"/>
              </a:spcAft>
              <a:buSzPts val="1100"/>
              <a:buChar char="●"/>
            </a:pPr>
            <a:r>
              <a:rPr lang="en-GB" sz="1100"/>
              <a:t>The first family is page-to-document encoding models, an early approach that extends single-page architectures to the multi-page setting.</a:t>
            </a:r>
            <a:endParaRPr/>
          </a:p>
          <a:p>
            <a:pPr indent="-298450" lvl="0" marL="457200" rtl="0" algn="l">
              <a:lnSpc>
                <a:spcPct val="100000"/>
              </a:lnSpc>
              <a:spcBef>
                <a:spcPts val="0"/>
              </a:spcBef>
              <a:spcAft>
                <a:spcPts val="0"/>
              </a:spcAft>
              <a:buSzPts val="1100"/>
              <a:buChar char="●"/>
            </a:pPr>
            <a:r>
              <a:rPr lang="en-GB" sz="1100"/>
              <a:t>Each page is encoded separately into a compact representation. Those representations are connected through a cross-page mechanism, such as attention, and passed to a decoder to generate the final answer.</a:t>
            </a:r>
            <a:endParaRPr/>
          </a:p>
          <a:p>
            <a:pPr indent="-298450" lvl="0" marL="457200" rtl="0" algn="l">
              <a:lnSpc>
                <a:spcPct val="100000"/>
              </a:lnSpc>
              <a:spcBef>
                <a:spcPts val="0"/>
              </a:spcBef>
              <a:spcAft>
                <a:spcPts val="0"/>
              </a:spcAft>
              <a:buSzPts val="1100"/>
              <a:buChar char="●"/>
            </a:pPr>
            <a:r>
              <a:rPr lang="en-GB" sz="1100"/>
              <a:t>The limitation is that pages contain different amounts of information. Giving each page a fixed representation budget can lose fine-grained detail during encoding.</a:t>
            </a:r>
            <a:endParaRPr/>
          </a:p>
          <a:p>
            <a:pPr indent="-298450" lvl="0" marL="457200" rtl="0" algn="l">
              <a:lnSpc>
                <a:spcPct val="100000"/>
              </a:lnSpc>
              <a:spcBef>
                <a:spcPts val="0"/>
              </a:spcBef>
              <a:spcAft>
                <a:spcPts val="0"/>
              </a:spcAft>
              <a:buSzPts val="1100"/>
              <a:buChar char="●"/>
            </a:pPr>
            <a:r>
              <a:rPr lang="en-GB" sz="1100"/>
              <a:t>The second family addresses this by </a:t>
            </a:r>
            <a:r>
              <a:rPr lang="en-GB"/>
              <a:t>removing the per page encoding step, and instead </a:t>
            </a:r>
            <a:r>
              <a:rPr lang="en-GB" sz="1100"/>
              <a:t>adapts a pretrained multimodal large language model to process the document natively within its context window.</a:t>
            </a:r>
            <a:endParaRPr/>
          </a:p>
          <a:p>
            <a:pPr indent="-298450" lvl="0" marL="457200" rtl="0" algn="l">
              <a:lnSpc>
                <a:spcPct val="100000"/>
              </a:lnSpc>
              <a:spcBef>
                <a:spcPts val="0"/>
              </a:spcBef>
              <a:spcAft>
                <a:spcPts val="0"/>
              </a:spcAft>
              <a:buSzPts val="1100"/>
              <a:buChar char="●"/>
            </a:pPr>
            <a:r>
              <a:rPr lang="en-GB" sz="1100"/>
              <a:t>Adaptation can involve continued pretraining on document tasks or fine-tuning. Some systems also compress the representations to fit longer documents.</a:t>
            </a:r>
            <a:endParaRPr/>
          </a:p>
          <a:p>
            <a:pPr indent="-298450" lvl="0" marL="457200" rtl="0" algn="l">
              <a:lnSpc>
                <a:spcPct val="100000"/>
              </a:lnSpc>
              <a:spcBef>
                <a:spcPts val="0"/>
              </a:spcBef>
              <a:spcAft>
                <a:spcPts val="0"/>
              </a:spcAft>
              <a:buSzPts val="1100"/>
              <a:buChar char="●"/>
            </a:pPr>
            <a:r>
              <a:rPr lang="en-GB" sz="1100"/>
              <a:t>But performance can still degrade as documents get longer, and some documents cannot fit at all.</a:t>
            </a:r>
            <a:endParaRPr/>
          </a:p>
          <a:p>
            <a:pPr indent="-298450" lvl="0" marL="457200" rtl="0" algn="l">
              <a:lnSpc>
                <a:spcPct val="100000"/>
              </a:lnSpc>
              <a:spcBef>
                <a:spcPts val="0"/>
              </a:spcBef>
              <a:spcAft>
                <a:spcPts val="0"/>
              </a:spcAft>
              <a:buSzPts val="1100"/>
              <a:buChar char="●"/>
            </a:pPr>
            <a:r>
              <a:rPr lang="en-GB" sz="1100"/>
              <a:t>This motivates retrieval-augmented pipelines. Instead of fitting the whole document into the model, we retrieve relevant evidence and pass a smaller evidence set to a vision-language model.</a:t>
            </a:r>
            <a:endParaRPr/>
          </a:p>
          <a:p>
            <a:pPr indent="-298450" lvl="0" marL="457200" rtl="0" algn="l">
              <a:lnSpc>
                <a:spcPct val="100000"/>
              </a:lnSpc>
              <a:spcBef>
                <a:spcPts val="0"/>
              </a:spcBef>
              <a:spcAft>
                <a:spcPts val="0"/>
              </a:spcAft>
              <a:buSzPts val="1100"/>
              <a:buChar char="●"/>
            </a:pPr>
            <a:r>
              <a:rPr lang="en-GB" sz="1100"/>
              <a:t>Retrieval can be sophisticated, but the workflow is fixed in advance. Evidence missed during retrieval cannot be recovered by the answering stage.</a:t>
            </a:r>
            <a:endParaRPr/>
          </a:p>
          <a:p>
            <a:pPr indent="-298450" lvl="0" marL="457200" rtl="0" algn="l">
              <a:lnSpc>
                <a:spcPct val="100000"/>
              </a:lnSpc>
              <a:spcBef>
                <a:spcPts val="0"/>
              </a:spcBef>
              <a:spcAft>
                <a:spcPts val="0"/>
              </a:spcAft>
              <a:buSzPts val="1100"/>
              <a:buChar char="●"/>
            </a:pPr>
            <a:r>
              <a:rPr lang="en-GB" sz="1100"/>
              <a:t>Finally, adaptive-trajectory pipelines follow an agentic approach. The language model decides what evidence to collect, how to collect it, and when it has enough to answer.</a:t>
            </a:r>
            <a:endParaRPr/>
          </a:p>
          <a:p>
            <a:pPr indent="-298450" lvl="0" marL="457200" rtl="0" algn="l">
              <a:lnSpc>
                <a:spcPct val="100000"/>
              </a:lnSpc>
              <a:spcBef>
                <a:spcPts val="0"/>
              </a:spcBef>
              <a:spcAft>
                <a:spcPts val="0"/>
              </a:spcAft>
              <a:buSzPts val="1100"/>
              <a:buChar char="●"/>
            </a:pPr>
            <a:r>
              <a:rPr lang="en-GB" sz="1100"/>
              <a:t>But those repeated calls can become expensive, and make the total time and compute cost harder to bound.</a:t>
            </a:r>
            <a:endParaRPr/>
          </a:p>
          <a:p>
            <a:pPr indent="-298450" lvl="0" marL="457200" rtl="0" algn="l">
              <a:lnSpc>
                <a:spcPct val="100000"/>
              </a:lnSpc>
              <a:spcBef>
                <a:spcPts val="0"/>
              </a:spcBef>
              <a:spcAft>
                <a:spcPts val="0"/>
              </a:spcAft>
              <a:buSzPts val="1100"/>
              <a:buChar char="●"/>
            </a:pPr>
            <a:r>
              <a:rPr lang="en-GB" sz="1100"/>
              <a:t>The dates show roughly when each family is active in the papers we surveyed. Each one fixes the bottleneck of the one before, and moves it somewhere else.</a:t>
            </a:r>
            <a:endParaRPr/>
          </a:p>
          <a:p>
            <a:pPr indent="-298450" lvl="0" marL="457200" rtl="0" algn="l">
              <a:lnSpc>
                <a:spcPct val="100000"/>
              </a:lnSpc>
              <a:spcBef>
                <a:spcPts val="0"/>
              </a:spcBef>
              <a:spcAft>
                <a:spcPts val="0"/>
              </a:spcAft>
              <a:buSzPts val="1100"/>
              <a:buChar char="●"/>
            </a:pPr>
            <a:r>
              <a:rPr lang="en-GB" sz="1100"/>
              <a:t>We call the first two families models, because they are trained end to end. We call the last two pipelines, because their components are interchangeable.</a:t>
            </a:r>
            <a:endParaRPr/>
          </a:p>
        </p:txBody>
      </p:sp>
      <p:sp>
        <p:nvSpPr>
          <p:cNvPr id="126" name="Google Shape;126;h39bf41852e5d6338_2_7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39bf41852e5d6338_2_8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h39bf41852e5d6338_2_8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This is the main table of the survey, with the systems and papers we surveyed grouped by architectural family.</a:t>
            </a:r>
            <a:endParaRPr/>
          </a:p>
          <a:p>
            <a:pPr indent="-298450" lvl="0" marL="457200" rtl="0" algn="l">
              <a:lnSpc>
                <a:spcPct val="100000"/>
              </a:lnSpc>
              <a:spcBef>
                <a:spcPts val="0"/>
              </a:spcBef>
              <a:spcAft>
                <a:spcPts val="0"/>
              </a:spcAft>
              <a:buSzPts val="1100"/>
              <a:buChar char="●"/>
            </a:pPr>
            <a:r>
              <a:rPr lang="en-GB" sz="1100"/>
              <a:t>There are three things I want to point ou</a:t>
            </a:r>
            <a:r>
              <a:rPr lang="en-GB"/>
              <a:t>t</a:t>
            </a:r>
            <a:endParaRPr/>
          </a:p>
          <a:p>
            <a:pPr indent="-298450" lvl="0" marL="457200" rtl="0" algn="l">
              <a:lnSpc>
                <a:spcPct val="100000"/>
              </a:lnSpc>
              <a:spcBef>
                <a:spcPts val="0"/>
              </a:spcBef>
              <a:spcAft>
                <a:spcPts val="0"/>
              </a:spcAft>
              <a:buSzPts val="1100"/>
              <a:buChar char="●"/>
            </a:pPr>
            <a:r>
              <a:rPr lang="en-GB"/>
              <a:t>First, with the first 2 architectural families, we call them “models” because they’re generally trained end to end with purpose build components</a:t>
            </a:r>
            <a:endParaRPr/>
          </a:p>
          <a:p>
            <a:pPr indent="-298450" lvl="0" marL="457200" rtl="0" algn="l">
              <a:lnSpc>
                <a:spcPct val="100000"/>
              </a:lnSpc>
              <a:spcBef>
                <a:spcPts val="0"/>
              </a:spcBef>
              <a:spcAft>
                <a:spcPts val="0"/>
              </a:spcAft>
              <a:buSzPts val="1100"/>
              <a:buChar char="●"/>
            </a:pPr>
            <a:r>
              <a:rPr lang="en-GB"/>
              <a:t>The last 2 families we call them “pipelines” because they generally use a frozen vision language backbone sometimes with some fine tuning.</a:t>
            </a:r>
            <a:endParaRPr/>
          </a:p>
          <a:p>
            <a:pPr indent="-298450" lvl="0" marL="457200" rtl="0" algn="l">
              <a:lnSpc>
                <a:spcPct val="100000"/>
              </a:lnSpc>
              <a:spcBef>
                <a:spcPts val="0"/>
              </a:spcBef>
              <a:spcAft>
                <a:spcPts val="0"/>
              </a:spcAft>
              <a:buSzPts val="1100"/>
              <a:buChar char="●"/>
            </a:pPr>
            <a:r>
              <a:rPr lang="en-GB"/>
              <a:t>Their components are usually interchangeable, especially the vision language backbone, so as these language models get stronger, the pipelines also benefit from these improvements</a:t>
            </a:r>
            <a:endParaRPr/>
          </a:p>
          <a:p>
            <a:pPr indent="-298450" lvl="0" marL="457200" rtl="0" algn="l">
              <a:lnSpc>
                <a:spcPct val="100000"/>
              </a:lnSpc>
              <a:spcBef>
                <a:spcPts val="0"/>
              </a:spcBef>
              <a:spcAft>
                <a:spcPts val="0"/>
              </a:spcAft>
              <a:buSzPts val="1100"/>
              <a:buChar char="●"/>
            </a:pPr>
            <a:r>
              <a:rPr lang="en-GB" sz="1100"/>
              <a:t>Second, the modalities. Some systems use vision only, </a:t>
            </a:r>
            <a:r>
              <a:rPr lang="en-GB"/>
              <a:t>treating document understanding as a pure computer vision problem.</a:t>
            </a:r>
            <a:endParaRPr/>
          </a:p>
          <a:p>
            <a:pPr indent="-298450" lvl="0" marL="457200" rtl="0" algn="l">
              <a:lnSpc>
                <a:spcPct val="100000"/>
              </a:lnSpc>
              <a:spcBef>
                <a:spcPts val="0"/>
              </a:spcBef>
              <a:spcAft>
                <a:spcPts val="0"/>
              </a:spcAft>
              <a:buSzPts val="1100"/>
              <a:buChar char="●"/>
            </a:pPr>
            <a:r>
              <a:rPr lang="en-GB" sz="1100"/>
              <a:t>Others combine vision with text and layout information. The text may be embedded in the document or extracted by a parser.</a:t>
            </a:r>
            <a:endParaRPr/>
          </a:p>
          <a:p>
            <a:pPr indent="-298450" lvl="0" marL="457200" rtl="0" algn="l">
              <a:lnSpc>
                <a:spcPct val="100000"/>
              </a:lnSpc>
              <a:spcBef>
                <a:spcPts val="0"/>
              </a:spcBef>
              <a:spcAft>
                <a:spcPts val="0"/>
              </a:spcAft>
              <a:buSzPts val="1100"/>
              <a:buChar char="●"/>
            </a:pPr>
            <a:r>
              <a:rPr lang="en-GB" sz="1100"/>
              <a:t>This distinction will be important in the next part of the seminar.</a:t>
            </a:r>
            <a:endParaRPr/>
          </a:p>
          <a:p>
            <a:pPr indent="-298450" lvl="0" marL="457200" rtl="0" algn="l">
              <a:lnSpc>
                <a:spcPct val="100000"/>
              </a:lnSpc>
              <a:spcBef>
                <a:spcPts val="0"/>
              </a:spcBef>
              <a:spcAft>
                <a:spcPts val="0"/>
              </a:spcAft>
              <a:buSzPts val="1100"/>
              <a:buChar char="●"/>
            </a:pPr>
            <a:r>
              <a:rPr lang="en-GB" sz="1100"/>
              <a:t>Third, search. It only appears once retrieval is separated from answering, in the two pipeline families.</a:t>
            </a:r>
            <a:endParaRPr/>
          </a:p>
        </p:txBody>
      </p:sp>
      <p:sp>
        <p:nvSpPr>
          <p:cNvPr id="144" name="Google Shape;144;h39bf41852e5d6338_2_8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h39bf41852e5d6338_2_10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h39bf41852e5d6338_2_10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Various training free strategies can be used to improve document understanding performance</a:t>
            </a:r>
            <a:endParaRPr/>
          </a:p>
          <a:p>
            <a:pPr indent="-298450" lvl="0" marL="457200" rtl="0" algn="l">
              <a:lnSpc>
                <a:spcPct val="100000"/>
              </a:lnSpc>
              <a:spcBef>
                <a:spcPts val="0"/>
              </a:spcBef>
              <a:spcAft>
                <a:spcPts val="0"/>
              </a:spcAft>
              <a:buSzPts val="1100"/>
              <a:buChar char="●"/>
            </a:pPr>
            <a:r>
              <a:rPr lang="en-GB"/>
              <a:t>Retrieval and navigation techniques such as similarity based and relation aware retrieval</a:t>
            </a:r>
            <a:endParaRPr/>
          </a:p>
          <a:p>
            <a:pPr indent="-298450" lvl="0" marL="457200" rtl="0" algn="l">
              <a:lnSpc>
                <a:spcPct val="100000"/>
              </a:lnSpc>
              <a:spcBef>
                <a:spcPts val="0"/>
              </a:spcBef>
              <a:spcAft>
                <a:spcPts val="0"/>
              </a:spcAft>
              <a:buSzPts val="1100"/>
              <a:buChar char="●"/>
            </a:pPr>
            <a:r>
              <a:rPr lang="en-GB"/>
              <a:t>And agentic methods such as reason + act with tool calls and multi-agent orchestration</a:t>
            </a:r>
            <a:endParaRPr/>
          </a:p>
          <a:p>
            <a:pPr indent="-298450" lvl="0" marL="457200" rtl="0" algn="l">
              <a:lnSpc>
                <a:spcPct val="100000"/>
              </a:lnSpc>
              <a:spcBef>
                <a:spcPts val="0"/>
              </a:spcBef>
              <a:spcAft>
                <a:spcPts val="0"/>
              </a:spcAft>
              <a:buSzPts val="1100"/>
              <a:buChar char="●"/>
            </a:pPr>
            <a:r>
              <a:rPr lang="en-GB"/>
              <a:t>These are used only in retrieval augmented and adaptive trajectory pipelines</a:t>
            </a:r>
            <a:endParaRPr/>
          </a:p>
          <a:p>
            <a:pPr indent="-298450" lvl="0" marL="457200" rtl="0" algn="l">
              <a:lnSpc>
                <a:spcPct val="100000"/>
              </a:lnSpc>
              <a:spcBef>
                <a:spcPts val="0"/>
              </a:spcBef>
              <a:spcAft>
                <a:spcPts val="0"/>
              </a:spcAft>
              <a:buSzPts val="1100"/>
              <a:buChar char="●"/>
            </a:pPr>
            <a:r>
              <a:rPr lang="en-GB"/>
              <a:t>Reasoning strategies such as cot, </a:t>
            </a:r>
            <a:r>
              <a:rPr lang="en-GB"/>
              <a:t>reflexion</a:t>
            </a:r>
            <a:r>
              <a:rPr lang="en-GB"/>
              <a:t>, sc, tot can be applied to all reasoning backbones.</a:t>
            </a:r>
            <a:endParaRPr/>
          </a:p>
        </p:txBody>
      </p:sp>
      <p:sp>
        <p:nvSpPr>
          <p:cNvPr id="160" name="Google Shape;160;h39bf41852e5d6338_2_10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39bf41852e5d6338_2_11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h39bf41852e5d6338_2_11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Pretraining is rare</a:t>
            </a:r>
            <a:r>
              <a:rPr lang="en-GB"/>
              <a:t> for long document understanding due to scarcity of data</a:t>
            </a:r>
            <a:endParaRPr/>
          </a:p>
          <a:p>
            <a:pPr indent="-298450" lvl="0" marL="457200" rtl="0" algn="l">
              <a:lnSpc>
                <a:spcPct val="100000"/>
              </a:lnSpc>
              <a:spcBef>
                <a:spcPts val="0"/>
              </a:spcBef>
              <a:spcAft>
                <a:spcPts val="0"/>
              </a:spcAft>
              <a:buSzPts val="1100"/>
              <a:buChar char="●"/>
            </a:pPr>
            <a:r>
              <a:rPr lang="en-GB"/>
              <a:t>We see a lot of fine tuning techniques </a:t>
            </a:r>
            <a:r>
              <a:rPr lang="en-GB"/>
              <a:t>applied</a:t>
            </a:r>
            <a:r>
              <a:rPr lang="en-GB"/>
              <a:t> across retrieval, reasoning and agentic behaviour</a:t>
            </a:r>
            <a:endParaRPr/>
          </a:p>
          <a:p>
            <a:pPr indent="-298450" lvl="0" marL="457200" rtl="0" algn="l">
              <a:lnSpc>
                <a:spcPct val="100000"/>
              </a:lnSpc>
              <a:spcBef>
                <a:spcPts val="0"/>
              </a:spcBef>
              <a:spcAft>
                <a:spcPts val="0"/>
              </a:spcAft>
              <a:buSzPts val="1100"/>
              <a:buChar char="●"/>
            </a:pPr>
            <a:r>
              <a:rPr lang="en-GB"/>
              <a:t>Document length in benchmarks are also getting increasingly longer as document understanding systems get better</a:t>
            </a:r>
            <a:endParaRPr/>
          </a:p>
        </p:txBody>
      </p:sp>
      <p:sp>
        <p:nvSpPr>
          <p:cNvPr id="173" name="Google Shape;173;h39bf41852e5d6338_2_11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h39bf41852e5d6338_2_14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h39bf41852e5d6338_2_14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The survey in Chapter 2 maps how systems manage evidence. This empirical paper asks where the evidence pipeline fails.</a:t>
            </a:r>
          </a:p>
          <a:p>
            <a:r>
              <a:t>A final wrong answer does not reveal whether a page was encoded poorly, the needed evidence was not selected, or the model failed to reason over evidence it received.</a:t>
            </a:r>
          </a:p>
          <a:p>
            <a:r>
              <a:t>We isolate representation, selection and reasoning with controlled interventions on MMLongBench-Doc and LongDocURL, using Qwen3-VL and Gemma-3 backbones. The study is under review.</a:t>
            </a:r>
          </a:p>
        </p:txBody>
      </p:sp>
      <p:sp>
        <p:nvSpPr>
          <p:cNvPr id="187" name="Google Shape;187;h39bf41852e5d6338_2_14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h3ecb2ab4a044285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h3ecb2ab4a044285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framework is also our experimental setup. Every document question-answering system has to represent pages, choose what reaches the model and reason over that evidence.</a:t>
            </a:r>
          </a:p>
          <a:p>
            <a:r>
              <a:t>We use one encode, retrieve and answer pipeline. For representation we vary embedded text, parser text and page images, including parser and resolution choices. For selection we start with annotated gold pages, then omit required pages or add non-gold pages. For reasoning we vary the backbone and its instructions.</a:t>
            </a:r>
          </a:p>
          <a:p>
            <a:r>
              <a:t>Each comparison changes one stage while the others stay fixed. MMLongBench-Doc supplies evidence-page and evidence-source annotations; LongDocURL checks whether the patterns transfer to born-digital documents. Correctness and refusal come from their respective judges.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h39bf41852e5d6338_2_18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h39bf41852e5d6338_2_18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This is Table 1 from the empirical paper, with every evidence-source row and all four representation modes. T is embedded text, TL parser text, TLV parser text plus image, and V image only. The table separates answerable-question abstention from answer accuracy.</a:t>
            </a:r>
          </a:p>
          <a:p>
            <a:r>
              <a:t>On MMLongBench-Doc, chart accuracy rises from 19.1 percent with parser text to 45.5 percent with parser text and the page image. Figure accuracy rises from 23.8 to 44.8 percent. Visual questions need the image. On born-digital LongDocURL, images add only 2.8 points on text questions, and table accuracy slips from 69.5 to 68.2 percent.</a:t>
            </a:r>
          </a:p>
          <a:p>
            <a:r>
              <a:t>Vision is expensive. On two V100 16 GB GPUs, image-only prefill takes 22.7 seconds against 1.1 seconds for embedded text, about 21 times as long. Text plus low-resolution images reaches 49.2 percent overall on 847 answerable questions, 90 percent of the 54.7 percent high-resolution result. This resolution result is discussed here but is not part of Table 1.</a:t>
            </a:r>
          </a:p>
        </p:txBody>
      </p:sp>
      <p:sp>
        <p:nvSpPr>
          <p:cNvPr id="233" name="Google Shape;233;h39bf41852e5d6338_2_18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39bf41852e5d6338_2_20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h39bf41852e5d6338_2_20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Figure 4 from the paper is the single unified distractor plot. Its panels show Qwen3-VL-8B and Gemma-3-12B on MMLongBench-Doc, plus Qwen3-VL-8B on LongDocURL. Every annotated gold page remains present; we add the highest-ranked non-gold pages.</a:t>
            </a:r>
          </a:p>
          <a:p>
            <a:r>
              <a:t>At plus three pages, Qwen3 multi-hop accuracy falls from 43.9 to 35.1 percent. Gemma-3 falls from 35.4 to 28.7 percent. The step-level bars show a mechanism behind the net loss: 13.3 percent of Qwen3 answers break while 7.0 percent repair at plus three.</a:t>
            </a:r>
          </a:p>
          <a:p>
            <a:r>
              <a:t>The repaired cases show that a non-gold page can still add a useful clue. More answers break than repair, and flips continue at later k values. Selection has to manage distractor exposure even when evidence recall is already complete.</a:t>
            </a:r>
          </a:p>
        </p:txBody>
      </p:sp>
      <p:sp>
        <p:nvSpPr>
          <p:cNvPr id="247" name="Google Shape;247;h39bf41852e5d6338_2_20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h39bf41852e5d6338_2_21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h39bf41852e5d6338_2_21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This new figure follows the paper prompt-calibration style and extends the Qwen3-VL-8B row from four prompt modes to six modes. A dotted line separates the two inference strategies, self-consistency and Reflexion, from the four prompt modes. The paper figure remains unchanged.</a:t>
            </a:r>
          </a:p>
          <a:p>
            <a:r>
              <a:t>The grey answerable segment is correctness from the accuracy judge. The blue segment above it is abstention on answerable questions from the taxonomy judge. Blue bars on unanswerable questions are correct results from the accuracy judge. These are judged outcomes, not string matches.</a:t>
            </a:r>
          </a:p>
          <a:p>
            <a:r>
              <a:t>An explicit abstain prompt moves unanswerable correctness from 47.5 to 74.6 percent, while answerable correctness falls from 52.5 to 41.4 percent. CoT plus abstain recovers answerable correctness to 53.0 percent and reaches 85.5 percent unanswerable correctness. Self-consistency reaches 60.6 percent answerable correctness, eight points above plain prompting, but 54.5 percent unanswerable correctness. Reflexion reaches 55.1 and 61.5 percent, gains of 2.5 and 13.9 points.</a:t>
            </a:r>
          </a:p>
          <a:p>
            <a:r>
              <a:t>The two strategy runs use 4-bit precision and different prompt settings, while the four prompt-mode runs use bf16, so these are observed comparisons rather than a matched causal estimate. Reflexion abstention is provisional, with rubric judgements for 294 of its 846 answerable accuracy cases. Self-consistency has 844 rubric-judged answerable cases.</a:t>
            </a:r>
          </a:p>
        </p:txBody>
      </p:sp>
      <p:sp>
        <p:nvSpPr>
          <p:cNvPr id="263" name="Google Shape;263;h39bf41852e5d6338_2_21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39bf41852e5d6338_2_22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h39bf41852e5d6338_2_22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The paper also checks individual questions to show what each failure looks like. Representation can hide an icon colour or corrupt a table during parsing. Selection can omit a required page or bury it among competing pages. Reasoning can accept a false premise or refuse despite sufficient evidence.</a:t>
            </a:r>
          </a:p>
          <a:p>
            <a:r>
              <a:t>The design responses follow the same three stages: add the image when appearance matters or text is unreliable; retrieve broadly, then filter the evidence as a set; and calibrate the reasoner against the evidence it actually received.</a:t>
            </a:r>
          </a:p>
        </p:txBody>
      </p:sp>
      <p:sp>
        <p:nvSpPr>
          <p:cNvPr id="276" name="Google Shape;276;h39bf41852e5d6338_2_22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39bf41852e5d6338_2_24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h39bf41852e5d6338_2_24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To check the findings, we put them into one small system. It is one model playing three roles.</a:t>
            </a:r>
            <a:endParaRPr/>
          </a:p>
          <a:p>
            <a:pPr indent="-298450" lvl="0" marL="457200" rtl="0" algn="l">
              <a:lnSpc>
                <a:spcPct val="100000"/>
              </a:lnSpc>
              <a:spcBef>
                <a:spcPts val="0"/>
              </a:spcBef>
              <a:spcAft>
                <a:spcPts val="0"/>
              </a:spcAft>
              <a:buSzPts val="1100"/>
              <a:buChar char="●"/>
            </a:pPr>
            <a:r>
              <a:rPr lang="en-GB" sz="1100"/>
              <a:t>The reader goes through the pages in ranked order. For each page it sees both the text and the image, writes down any evidence it finds, and flags pages that may hold the answer.</a:t>
            </a:r>
            <a:endParaRPr/>
          </a:p>
          <a:p>
            <a:pPr indent="-298450" lvl="0" marL="457200" rtl="0" algn="l">
              <a:lnSpc>
                <a:spcPct val="100000"/>
              </a:lnSpc>
              <a:spcBef>
                <a:spcPts val="0"/>
              </a:spcBef>
              <a:spcAft>
                <a:spcPts val="0"/>
              </a:spcAft>
              <a:buSzPts val="1100"/>
              <a:buChar char="●"/>
            </a:pPr>
            <a:r>
              <a:rPr lang="en-GB" sz="1100"/>
              <a:t>The synthesizer answers from the flagged pages in full and the short records of everything else.</a:t>
            </a:r>
            <a:endParaRPr/>
          </a:p>
          <a:p>
            <a:pPr indent="-298450" lvl="0" marL="457200" rtl="0" algn="l">
              <a:lnSpc>
                <a:spcPct val="100000"/>
              </a:lnSpc>
              <a:spcBef>
                <a:spcPts val="0"/>
              </a:spcBef>
              <a:spcAft>
                <a:spcPts val="0"/>
              </a:spcAft>
              <a:buSzPts val="1100"/>
              <a:buChar char="●"/>
            </a:pPr>
            <a:r>
              <a:rPr lang="en-GB" sz="1100"/>
              <a:t>The arbiter cannot write an answer. It either accepts, or names a missing fact and sends the reader back for more pages.</a:t>
            </a:r>
            <a:endParaRPr/>
          </a:p>
          <a:p>
            <a:pPr indent="-298450" lvl="0" marL="457200" rtl="0" algn="l">
              <a:lnSpc>
                <a:spcPct val="100000"/>
              </a:lnSpc>
              <a:spcBef>
                <a:spcPts val="0"/>
              </a:spcBef>
              <a:spcAft>
                <a:spcPts val="0"/>
              </a:spcAft>
              <a:buSzPts val="1100"/>
              <a:buChar char="●"/>
            </a:pPr>
            <a:r>
              <a:rPr lang="en-GB" sz="1100"/>
              <a:t>Each choice follows from a finding. Text and image together, for representation. Read broadly but pass on short records, for selection. And a separate step that judges whether the evidence is enough, for reasoning.</a:t>
            </a:r>
            <a:endParaRPr/>
          </a:p>
        </p:txBody>
      </p:sp>
      <p:sp>
        <p:nvSpPr>
          <p:cNvPr id="290" name="Google Shape;290;h39bf41852e5d6338_2_24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h39bf41852e5d6338_2_25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h39bf41852e5d6338_2_25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This is the Qwen3-VL-8B section of the updated LaTeX comparison table, including DocBench. Ours uses one model at 4-bit without task-specific training.</a:t>
            </a:r>
          </a:p>
          <a:p>
            <a:r>
              <a:t>The method scores 56.5 percent on MMLongBench-Doc and 61.3 percent on LongDocURL under their official protocols. In DocBench the current 762 of 1,065 completed questions score 71.6 percent. MARDoc reports 72.3 percent there, so do not describe ours as best in that column.</a:t>
            </a:r>
          </a:p>
          <a:p>
            <a:r>
              <a:t>Our multi-page score is 39.2 percent, below DocTrace at 41.1 percent. DocBench evaluations in the source table also use a different evaluator for ours and the MARDoc results, so that column is a reported comparison with a protocol caveat.</a:t>
            </a:r>
          </a:p>
        </p:txBody>
      </p:sp>
      <p:sp>
        <p:nvSpPr>
          <p:cNvPr id="303" name="Google Shape;303;h39bf41852e5d6338_2_25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h39bf41852e5d6338_2_26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h39bf41852e5d6338_2_26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To conclude, back to the three research questions.</a:t>
            </a:r>
            <a:endParaRPr/>
          </a:p>
          <a:p>
            <a:pPr indent="-298450" lvl="0" marL="457200" rtl="0" algn="l">
              <a:lnSpc>
                <a:spcPct val="100000"/>
              </a:lnSpc>
              <a:spcBef>
                <a:spcPts val="0"/>
              </a:spcBef>
              <a:spcAft>
                <a:spcPts val="0"/>
              </a:spcAft>
              <a:buSzPts val="1100"/>
              <a:buChar char="●"/>
            </a:pPr>
            <a:r>
              <a:rPr lang="en-GB" sz="1100"/>
              <a:t>The survey organises the field. Understanding multi-page documents is a problem of evidence management, and four families of architecture handle it in different ways.</a:t>
            </a:r>
            <a:endParaRPr/>
          </a:p>
          <a:p>
            <a:pPr indent="-298450" lvl="0" marL="457200" rtl="0" algn="l">
              <a:lnSpc>
                <a:spcPct val="100000"/>
              </a:lnSpc>
              <a:spcBef>
                <a:spcPts val="0"/>
              </a:spcBef>
              <a:spcAft>
                <a:spcPts val="0"/>
              </a:spcAft>
              <a:buSzPts val="1100"/>
              <a:buChar char="●"/>
            </a:pPr>
            <a:r>
              <a:rPr lang="en-GB" sz="1100"/>
              <a:t>The empirical study locates the failures. They sit at representation, at selection, or at reasoning, and each one needs a different fix.</a:t>
            </a:r>
            <a:endParaRPr/>
          </a:p>
          <a:p>
            <a:pPr indent="-298450" lvl="0" marL="457200" rtl="0" algn="l">
              <a:lnSpc>
                <a:spcPct val="100000"/>
              </a:lnSpc>
              <a:spcBef>
                <a:spcPts val="0"/>
              </a:spcBef>
              <a:spcAft>
                <a:spcPts val="0"/>
              </a:spcAft>
              <a:buSzPts val="1100"/>
              <a:buChar char="●"/>
            </a:pPr>
            <a:r>
              <a:rPr lang="en-GB" sz="1100"/>
              <a:t>And a training-free system built on those findings is competitive under a fixed compute budget.</a:t>
            </a:r>
            <a:endParaRPr/>
          </a:p>
          <a:p>
            <a:pPr indent="-298450" lvl="0" marL="457200" rtl="0" algn="l">
              <a:lnSpc>
                <a:spcPct val="100000"/>
              </a:lnSpc>
              <a:spcBef>
                <a:spcPts val="0"/>
              </a:spcBef>
              <a:spcAft>
                <a:spcPts val="0"/>
              </a:spcAft>
              <a:buSzPts val="1100"/>
              <a:buChar char="●"/>
            </a:pPr>
            <a:r>
              <a:rPr lang="en-GB" sz="1100"/>
              <a:t>Thank you. I am happy to take questions.</a:t>
            </a:r>
            <a:endParaRPr/>
          </a:p>
        </p:txBody>
      </p:sp>
      <p:sp>
        <p:nvSpPr>
          <p:cNvPr id="314" name="Google Shape;314;h39bf41852e5d6338_2_26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h39bf41852e5d6338_2_13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h39bf41852e5d6338_2_13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The survey ends with five open challenges, and the one missing piece that motivates our second paper: an end-to-end account of where systems fail.</a:t>
            </a:r>
            <a:endParaRPr/>
          </a:p>
        </p:txBody>
      </p:sp>
      <p:sp>
        <p:nvSpPr>
          <p:cNvPr id="332" name="Google Shape;332;h39bf41852e5d6338_2_13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h39bf41852e5d6338_2_28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h39bf41852e5d6338_2_28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For questions: the accuracy and cost of each representation, retriever and reasoner choice.</a:t>
            </a:r>
            <a:endParaRPr/>
          </a:p>
        </p:txBody>
      </p:sp>
      <p:sp>
        <p:nvSpPr>
          <p:cNvPr id="352" name="Google Shape;352;h39bf41852e5d6338_2_28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h39bf41852e5d6338_2_29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h39bf41852e5d6338_2_29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For questions: one example system from each of the four families.</a:t>
            </a:r>
            <a:endParaRPr/>
          </a:p>
        </p:txBody>
      </p:sp>
      <p:sp>
        <p:nvSpPr>
          <p:cNvPr id="363" name="Google Shape;363;h39bf41852e5d6338_2_29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27348B"/>
        </a:solidFill>
      </p:bgPr>
    </p:bg>
    <p:spTree>
      <p:nvGrpSpPr>
        <p:cNvPr id="52" name="Shape 52"/>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53" name="Shape 53"/>
        <p:cNvGrpSpPr/>
        <p:nvPr/>
      </p:nvGrpSpPr>
      <p:grpSpPr>
        <a:xfrm>
          <a:off x="0" y="0"/>
          <a:ext cx="0" cy="0"/>
          <a:chOff x="0" y="0"/>
          <a:chExt cx="0" cy="0"/>
        </a:xfrm>
      </p:grpSpPr>
      <p:pic>
        <p:nvPicPr>
          <p:cNvPr descr="C:\Users\dyh93\Downloads\lewei_thesis\deck2\figures\uwa_logo.jpg" id="54" name="Google Shape;54;p15"/>
          <p:cNvPicPr preferRelativeResize="0"/>
          <p:nvPr/>
        </p:nvPicPr>
        <p:blipFill rotWithShape="1">
          <a:blip r:embed="rId2">
            <a:alphaModFix/>
          </a:blip>
          <a:srcRect b="0" l="0" r="0" t="0"/>
          <a:stretch/>
        </p:blipFill>
        <p:spPr>
          <a:xfrm>
            <a:off x="7540348" y="4651473"/>
            <a:ext cx="941625" cy="376650"/>
          </a:xfrm>
          <a:prstGeom prst="rect">
            <a:avLst/>
          </a:prstGeom>
          <a:noFill/>
          <a:ln>
            <a:noFill/>
          </a:ln>
        </p:spPr>
      </p:pic>
      <p:sp>
        <p:nvSpPr>
          <p:cNvPr id="55" name="Google Shape;55;p15"/>
          <p:cNvSpPr/>
          <p:nvPr/>
        </p:nvSpPr>
        <p:spPr>
          <a:xfrm>
            <a:off x="411475" y="4736909"/>
            <a:ext cx="34290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072"/>
              </a:buClr>
              <a:buSzPts val="800"/>
              <a:buFont typeface="Calibri"/>
              <a:buNone/>
            </a:pPr>
            <a:r>
              <a:rPr b="0" i="0" lang="en-GB" spc="0" sz="800" u="none" cap="none" strike="noStrike">
                <a:solidFill>
                  <a:srgbClr val="5A6072"/>
                </a:solidFill>
                <a:latin typeface="Calibri"/>
                <a:ea typeface="Calibri"/>
                <a:cs typeface="Calibri"/>
                <a:sym typeface="Calibri"/>
              </a:rPr>
              <a:t>Lewei Xu  ·  Honours Project</a:t>
            </a:r>
            <a:endParaRPr b="0" i="0" spc="0" sz="800" u="none" cap="none" strike="noStrike">
              <a:solidFill>
                <a:schemeClr val="dk1"/>
              </a:solidFill>
              <a:latin typeface="Calibri"/>
              <a:ea typeface="Calibri"/>
              <a:cs typeface="Calibri"/>
              <a:sym typeface="Calibri"/>
            </a:endParaRPr>
          </a:p>
        </p:txBody>
      </p:sp>
      <p:sp>
        <p:nvSpPr>
          <p:cNvPr id="56" name="Google Shape;56;p15"/>
          <p:cNvSpPr txBox="1"/>
          <p:nvPr>
            <p:ph type="title"/>
          </p:nvPr>
        </p:nvSpPr>
        <p:spPr>
          <a:xfrm>
            <a:off x="411480" y="260604"/>
            <a:ext cx="6583680" cy="425196"/>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rgbClr val="27348B"/>
              </a:buClr>
              <a:buSzPts val="2300"/>
              <a:buFont typeface="Calibri"/>
              <a:buNone/>
              <a:defRPr b="1" i="0" spc="0" sz="2300" u="none" cap="none" strike="noStrike">
                <a:solidFill>
                  <a:srgbClr val="27348B"/>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9pPr>
          </a:lstStyle>
          <a:p/>
        </p:txBody>
      </p:sp>
      <p:sp>
        <p:nvSpPr>
          <p:cNvPr id="57" name="Google Shape;57;p15"/>
          <p:cNvSpPr txBox="1"/>
          <p:nvPr>
            <p:ph idx="12"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8" name="Shape 5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30.png"/><Relationship Id="rId6"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31.png"/><Relationship Id="rId6" Type="http://schemas.openxmlformats.org/officeDocument/2006/relationships/image" Target="../media/image36.png"/><Relationship Id="rId7"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The University of Western Australia" id="64" name="Google Shape;64;p17"/>
          <p:cNvPicPr preferRelativeResize="0"/>
          <p:nvPr/>
        </p:nvPicPr>
        <p:blipFill rotWithShape="1">
          <a:blip r:embed="rId3">
            <a:alphaModFix/>
          </a:blip>
          <a:srcRect b="0" l="0" r="0" t="0"/>
          <a:stretch/>
        </p:blipFill>
        <p:spPr>
          <a:xfrm>
            <a:off x="445770" y="377190"/>
            <a:ext cx="1851660" cy="614602"/>
          </a:xfrm>
          <a:prstGeom prst="rect">
            <a:avLst/>
          </a:prstGeom>
          <a:noFill/>
          <a:ln>
            <a:noFill/>
          </a:ln>
        </p:spPr>
      </p:pic>
      <p:sp>
        <p:nvSpPr>
          <p:cNvPr id="65" name="Google Shape;65;p17"/>
          <p:cNvSpPr txBox="1"/>
          <p:nvPr/>
        </p:nvSpPr>
        <p:spPr>
          <a:xfrm>
            <a:off x="445770" y="1508760"/>
            <a:ext cx="5486400" cy="2400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100"/>
              <a:buFont typeface="Calibri"/>
              <a:buNone/>
            </a:pPr>
            <a:r>
              <a:rPr b="1" i="0" lang="en-GB" spc="200" sz="1100" u="none" cap="none" strike="noStrike">
                <a:solidFill>
                  <a:srgbClr val="E1B650"/>
                </a:solidFill>
                <a:latin typeface="Calibri"/>
                <a:ea typeface="Calibri"/>
                <a:cs typeface="Calibri"/>
                <a:sym typeface="Calibri"/>
              </a:rPr>
              <a:t>HONOURS THESIS PRESENTATION</a:t>
            </a:r>
            <a:endParaRPr b="0" i="0" spc="0" sz="1100" u="none" cap="none" strike="noStrike">
              <a:solidFill>
                <a:schemeClr val="dk1"/>
              </a:solidFill>
              <a:latin typeface="Calibri"/>
              <a:ea typeface="Calibri"/>
              <a:cs typeface="Calibri"/>
              <a:sym typeface="Calibri"/>
            </a:endParaRPr>
          </a:p>
        </p:txBody>
      </p:sp>
      <p:sp>
        <p:nvSpPr>
          <p:cNvPr id="66" name="Google Shape;66;p17"/>
          <p:cNvSpPr txBox="1"/>
          <p:nvPr/>
        </p:nvSpPr>
        <p:spPr>
          <a:xfrm>
            <a:off x="445770" y="1783080"/>
            <a:ext cx="8229600" cy="5143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000"/>
              <a:buFont typeface="Calibri"/>
              <a:buNone/>
            </a:pPr>
            <a:r>
              <a:rPr b="1" i="0" lang="en-GB" spc="0" sz="3000" u="none" cap="none" strike="noStrike">
                <a:solidFill>
                  <a:srgbClr val="FFFFFF"/>
                </a:solidFill>
                <a:latin typeface="Calibri"/>
                <a:ea typeface="Calibri"/>
                <a:cs typeface="Calibri"/>
                <a:sym typeface="Calibri"/>
              </a:rPr>
              <a:t>Multi-Page Visually Rich Document Understanding</a:t>
            </a:r>
            <a:endParaRPr b="0" i="0" spc="0" sz="3000" u="none" cap="none" strike="noStrike">
              <a:solidFill>
                <a:schemeClr val="dk1"/>
              </a:solidFill>
              <a:latin typeface="Calibri"/>
              <a:ea typeface="Calibri"/>
              <a:cs typeface="Calibri"/>
              <a:sym typeface="Calibri"/>
            </a:endParaRPr>
          </a:p>
        </p:txBody>
      </p:sp>
      <p:sp>
        <p:nvSpPr>
          <p:cNvPr id="67" name="Google Shape;67;p17"/>
          <p:cNvSpPr txBox="1"/>
          <p:nvPr/>
        </p:nvSpPr>
        <p:spPr>
          <a:xfrm>
            <a:off x="445770" y="2366010"/>
            <a:ext cx="822960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0" i="0" lang="en-GB" spc="0" sz="1800" u="none" cap="none" strike="noStrike">
                <a:solidFill>
                  <a:srgbClr val="E1B650"/>
                </a:solidFill>
                <a:latin typeface="Calibri"/>
                <a:ea typeface="Calibri"/>
                <a:cs typeface="Calibri"/>
                <a:sym typeface="Calibri"/>
              </a:rPr>
              <a:t>A Survey of System Design and an Empirical Attribution of Failure</a:t>
            </a:r>
            <a:endParaRPr b="0" i="0" spc="0" sz="1800" u="none" cap="none" strike="noStrike">
              <a:solidFill>
                <a:schemeClr val="dk1"/>
              </a:solidFill>
              <a:latin typeface="Calibri"/>
              <a:ea typeface="Calibri"/>
              <a:cs typeface="Calibri"/>
              <a:sym typeface="Calibri"/>
            </a:endParaRPr>
          </a:p>
        </p:txBody>
      </p:sp>
      <p:sp>
        <p:nvSpPr>
          <p:cNvPr id="68" name="Google Shape;68;p17"/>
          <p:cNvSpPr txBox="1"/>
          <p:nvPr/>
        </p:nvSpPr>
        <p:spPr>
          <a:xfrm>
            <a:off x="445770" y="3120390"/>
            <a:ext cx="5486400"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1" i="0" lang="en-GB" spc="0" sz="1800" u="none" cap="none" strike="noStrike">
                <a:solidFill>
                  <a:srgbClr val="FFFFFF"/>
                </a:solidFill>
                <a:latin typeface="Calibri"/>
                <a:ea typeface="Calibri"/>
                <a:cs typeface="Calibri"/>
                <a:sym typeface="Calibri"/>
              </a:rPr>
              <a:t>Lewei Xu</a:t>
            </a:r>
            <a:endParaRPr b="0" i="0" spc="0" sz="1800" u="none" cap="none" strike="noStrike">
              <a:solidFill>
                <a:schemeClr val="dk1"/>
              </a:solidFill>
              <a:latin typeface="Calibri"/>
              <a:ea typeface="Calibri"/>
              <a:cs typeface="Calibri"/>
              <a:sym typeface="Calibri"/>
            </a:endParaRPr>
          </a:p>
        </p:txBody>
      </p:sp>
      <p:sp>
        <p:nvSpPr>
          <p:cNvPr id="69" name="Google Shape;69;p17"/>
          <p:cNvSpPr txBox="1"/>
          <p:nvPr/>
        </p:nvSpPr>
        <p:spPr>
          <a:xfrm>
            <a:off x="445770" y="3497580"/>
            <a:ext cx="685800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ADDF0"/>
              </a:buClr>
              <a:buSzPts val="1200"/>
              <a:buFont typeface="Calibri"/>
              <a:buNone/>
            </a:pPr>
            <a:r>
              <a:rPr b="0" i="0" lang="en-GB" spc="0" sz="1200" u="none" cap="none" strike="noStrike">
                <a:solidFill>
                  <a:srgbClr val="DADDF0"/>
                </a:solidFill>
                <a:latin typeface="Calibri"/>
                <a:ea typeface="Calibri"/>
                <a:cs typeface="Calibri"/>
                <a:sym typeface="Calibri"/>
              </a:rPr>
              <a:t>Supervisors: Dr Yihao Ding · Dr Daochang Liu</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DADDF0"/>
              </a:buClr>
              <a:buSzPts val="1200"/>
              <a:buFont typeface="Calibri"/>
              <a:buNone/>
            </a:pPr>
            <a:r>
              <a:rPr b="0" i="0" lang="en-GB" spc="0" sz="1200" u="none" cap="none" strike="noStrike">
                <a:solidFill>
                  <a:srgbClr val="DADDF0"/>
                </a:solidFill>
                <a:latin typeface="Calibri"/>
                <a:ea typeface="Calibri"/>
                <a:cs typeface="Calibri"/>
                <a:sym typeface="Calibri"/>
              </a:rPr>
              <a:t>Department of Computer Science and Software Engineering</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DADDF0"/>
              </a:buClr>
              <a:buSzPts val="1200"/>
              <a:buFont typeface="Calibri"/>
              <a:buNone/>
            </a:pPr>
            <a:r>
              <a:rPr b="0" i="0" lang="en-GB" spc="0" sz="1200" u="none" cap="none" strike="noStrike">
                <a:solidFill>
                  <a:srgbClr val="DADDF0"/>
                </a:solidFill>
                <a:latin typeface="Calibri"/>
                <a:ea typeface="Calibri"/>
                <a:cs typeface="Calibri"/>
                <a:sym typeface="Calibri"/>
              </a:rPr>
              <a:t>School of Physics, Mathematics and Computing · October 2026</a:t>
            </a:r>
            <a:endParaRPr b="0" i="0" spc="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Seminar/Thesis </a:t>
            </a:r>
            <a:r>
              <a:rPr b="1" lang="en-GB" sz="2300">
                <a:solidFill>
                  <a:srgbClr val="27348B"/>
                </a:solidFill>
                <a:latin typeface="Calibri"/>
                <a:ea typeface="Calibri"/>
                <a:cs typeface="Calibri"/>
                <a:sym typeface="Calibri"/>
              </a:rPr>
              <a:t>Overview</a:t>
            </a:r>
            <a:endParaRPr sz="2300"/>
          </a:p>
        </p:txBody>
      </p:sp>
      <p:sp>
        <p:nvSpPr>
          <p:cNvPr id="76" name="Google Shape;76;p1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1 · Introduction</a:t>
            </a:r>
            <a:endParaRPr b="0" i="0" spc="0" sz="900" u="none" cap="none" strike="noStrike">
              <a:solidFill>
                <a:schemeClr val="dk1"/>
              </a:solidFill>
              <a:latin typeface="Calibri"/>
              <a:ea typeface="Calibri"/>
              <a:cs typeface="Calibri"/>
              <a:sym typeface="Calibri"/>
            </a:endParaRPr>
          </a:p>
        </p:txBody>
      </p:sp>
      <p:sp>
        <p:nvSpPr>
          <p:cNvPr id="77" name="Google Shape;77;p18"/>
          <p:cNvSpPr txBox="1"/>
          <p:nvPr/>
        </p:nvSpPr>
        <p:spPr>
          <a:xfrm>
            <a:off x="411480" y="699516"/>
            <a:ext cx="8320800" cy="30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Four chapters, three research questions, two papers.</a:t>
            </a:r>
            <a:endParaRPr b="0" i="0" spc="0" sz="1400" u="none" cap="none" strike="noStrike">
              <a:solidFill>
                <a:schemeClr val="dk1"/>
              </a:solidFill>
              <a:latin typeface="Calibri"/>
              <a:ea typeface="Calibri"/>
              <a:cs typeface="Calibri"/>
              <a:sym typeface="Calibri"/>
            </a:endParaRPr>
          </a:p>
        </p:txBody>
      </p:sp>
      <p:graphicFrame>
        <p:nvGraphicFramePr>
          <p:cNvPr id="78" name="Google Shape;78;p18"/>
          <p:cNvGraphicFramePr/>
          <p:nvPr/>
        </p:nvGraphicFramePr>
        <p:xfrm>
          <a:off x="422805" y="1345625"/>
          <a:ext cx="3000000" cy="3000000"/>
        </p:xfrm>
        <a:graphic>
          <a:graphicData uri="http://schemas.openxmlformats.org/drawingml/2006/table">
            <a:tbl>
              <a:tblPr>
                <a:noFill/>
                <a:tableStyleId>{922638CC-EB42-4478-9DB3-19327D192BC3}</a:tableStyleId>
              </a:tblPr>
              <a:tblGrid>
                <a:gridCol w="2057400"/>
                <a:gridCol w="3154675"/>
                <a:gridCol w="3086100"/>
              </a:tblGrid>
              <a:tr h="308600">
                <a:tc>
                  <a:txBody>
                    <a:bodyPr/>
                    <a:lstStyle/>
                    <a:p>
                      <a:pPr indent="0" lvl="0" marL="0" marR="0" rtl="0" algn="l">
                        <a:lnSpc>
                          <a:spcPct val="100000"/>
                        </a:lnSpc>
                        <a:spcBef>
                          <a:spcPts val="0"/>
                        </a:spcBef>
                        <a:spcAft>
                          <a:spcPts val="0"/>
                        </a:spcAft>
                        <a:buClr>
                          <a:srgbClr val="5A6072"/>
                        </a:buClr>
                        <a:buSzPts val="1000"/>
                        <a:buFont typeface="Calibri"/>
                        <a:buNone/>
                      </a:pPr>
                      <a:r>
                        <a:rPr b="1" lang="en-GB" spc="0" sz="1000" u="none" cap="none" strike="noStrike">
                          <a:solidFill>
                            <a:schemeClr val="dk1"/>
                          </a:solidFill>
                          <a:latin typeface="Calibri"/>
                          <a:ea typeface="Calibri"/>
                          <a:cs typeface="Calibri"/>
                          <a:sym typeface="Calibri"/>
                        </a:rPr>
                        <a:t>CHAPTER</a:t>
                      </a:r>
                      <a:endParaRPr b="1" spc="0"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000"/>
                        <a:buFont typeface="Calibri"/>
                        <a:buNone/>
                      </a:pPr>
                      <a:r>
                        <a:rPr b="1" lang="en-GB" spc="0" sz="1000" u="none" cap="none" strike="noStrike">
                          <a:solidFill>
                            <a:schemeClr val="dk1"/>
                          </a:solidFill>
                          <a:latin typeface="Calibri"/>
                          <a:ea typeface="Calibri"/>
                          <a:cs typeface="Calibri"/>
                          <a:sym typeface="Calibri"/>
                        </a:rPr>
                        <a:t>QUESTION</a:t>
                      </a:r>
                      <a:endParaRPr b="1" spc="0"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000"/>
                        <a:buFont typeface="Calibri"/>
                        <a:buNone/>
                      </a:pPr>
                      <a:r>
                        <a:rPr b="1" lang="en-GB" spc="0" sz="1000" u="none" cap="none" strike="noStrike">
                          <a:solidFill>
                            <a:schemeClr val="dk1"/>
                          </a:solidFill>
                          <a:latin typeface="Calibri"/>
                          <a:ea typeface="Calibri"/>
                          <a:cs typeface="Calibri"/>
                          <a:sym typeface="Calibri"/>
                        </a:rPr>
                        <a:t>PUBLICATION</a:t>
                      </a:r>
                      <a:endParaRPr b="1" spc="0"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582925">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1  </a:t>
                      </a:r>
                      <a:r>
                        <a:rPr lang="en-GB" spc="0" sz="1200" u="none" cap="none" strike="noStrike">
                          <a:solidFill>
                            <a:srgbClr val="1B1F2A"/>
                          </a:solidFill>
                          <a:latin typeface="Calibri"/>
                          <a:ea typeface="Calibri"/>
                          <a:cs typeface="Calibri"/>
                          <a:sym typeface="Calibri"/>
                        </a:rPr>
                        <a:t>Introduction &amp; Background</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lang="en-GB" spc="0" sz="1200" u="none" cap="none" strike="noStrike">
                          <a:solidFill>
                            <a:srgbClr val="1B1F2A"/>
                          </a:solidFill>
                          <a:latin typeface="Calibri"/>
                          <a:ea typeface="Calibri"/>
                          <a:cs typeface="Calibri"/>
                          <a:sym typeface="Calibri"/>
                        </a:rPr>
                        <a:t>Why are long documents hard, and why a fixed compute budget?</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200"/>
                        <a:buFont typeface="Calibri"/>
                        <a:buNone/>
                      </a:pPr>
                      <a:r>
                        <a:rPr lang="en-GB" spc="0" sz="1200" u="none" cap="none" strike="noStrike">
                          <a:solidFill>
                            <a:srgbClr val="5A6072"/>
                          </a:solidFill>
                          <a:latin typeface="Calibri"/>
                          <a:ea typeface="Calibri"/>
                          <a:cs typeface="Calibri"/>
                          <a:sym typeface="Calibri"/>
                        </a:rPr>
                        <a:t>Thesis chapter</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20075">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2  </a:t>
                      </a:r>
                      <a:r>
                        <a:rPr lang="en-GB" spc="0" sz="1200" u="none" cap="none" strike="noStrike">
                          <a:solidFill>
                            <a:srgbClr val="1B1F2A"/>
                          </a:solidFill>
                          <a:latin typeface="Calibri"/>
                          <a:ea typeface="Calibri"/>
                          <a:cs typeface="Calibri"/>
                          <a:sym typeface="Calibri"/>
                        </a:rPr>
                        <a:t>Survey</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1B1F2A"/>
                          </a:solidFill>
                          <a:latin typeface="Calibri"/>
                          <a:ea typeface="Calibri"/>
                          <a:cs typeface="Calibri"/>
                          <a:sym typeface="Calibri"/>
                        </a:rPr>
                        <a:t>RQ1  </a:t>
                      </a:r>
                      <a:r>
                        <a:rPr lang="en-GB" spc="0" sz="1200" u="none" cap="none" strike="noStrike">
                          <a:solidFill>
                            <a:srgbClr val="1B1F2A"/>
                          </a:solidFill>
                          <a:latin typeface="Calibri"/>
                          <a:ea typeface="Calibri"/>
                          <a:cs typeface="Calibri"/>
                          <a:sym typeface="Calibri"/>
                        </a:rPr>
                        <a:t>How are multi-page systems designed?</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27348B"/>
                          </a:solidFill>
                          <a:latin typeface="Calibri"/>
                          <a:ea typeface="Calibri"/>
                          <a:cs typeface="Calibri"/>
                          <a:sym typeface="Calibri"/>
                        </a:rPr>
                        <a:t>Managing Evidence at Document Scale: A Survey of MP-VRDU</a:t>
                      </a:r>
                      <a:endParaRPr b="1" spc="0" sz="1200" u="none" cap="none" strike="noStrike">
                        <a:solidFill>
                          <a:srgbClr val="27348B"/>
                        </a:solidFill>
                        <a:latin typeface="Calibri"/>
                        <a:ea typeface="Calibri"/>
                        <a:cs typeface="Calibri"/>
                        <a:sym typeface="Calibri"/>
                      </a:endParaRPr>
                    </a:p>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chemeClr val="accent2"/>
                          </a:solidFill>
                          <a:latin typeface="Calibri"/>
                          <a:ea typeface="Calibri"/>
                          <a:cs typeface="Calibri"/>
                          <a:sym typeface="Calibri"/>
                        </a:rPr>
                        <a:t>EMNLP 2026, Main Conference</a:t>
                      </a:r>
                      <a:endParaRPr spc="0" sz="1200" u="none" cap="none" strike="noStrike">
                        <a:solidFill>
                          <a:schemeClr val="accent2"/>
                        </a:solidFill>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20075">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3  </a:t>
                      </a:r>
                      <a:r>
                        <a:rPr lang="en-GB" spc="0" sz="1200" u="none" cap="none" strike="noStrike">
                          <a:solidFill>
                            <a:srgbClr val="1B1F2A"/>
                          </a:solidFill>
                          <a:latin typeface="Calibri"/>
                          <a:ea typeface="Calibri"/>
                          <a:cs typeface="Calibri"/>
                          <a:sym typeface="Calibri"/>
                        </a:rPr>
                        <a:t>Empirical study</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1B1F2A"/>
                          </a:solidFill>
                          <a:latin typeface="Calibri"/>
                          <a:ea typeface="Calibri"/>
                          <a:cs typeface="Calibri"/>
                          <a:sym typeface="Calibri"/>
                        </a:rPr>
                        <a:t>RQ2  </a:t>
                      </a:r>
                      <a:r>
                        <a:rPr lang="en-GB" spc="0" sz="1200" u="none" cap="none" strike="noStrike">
                          <a:solidFill>
                            <a:srgbClr val="1B1F2A"/>
                          </a:solidFill>
                          <a:latin typeface="Calibri"/>
                          <a:ea typeface="Calibri"/>
                          <a:cs typeface="Calibri"/>
                          <a:sym typeface="Calibri"/>
                        </a:rPr>
                        <a:t>Where and why do these systems fail?</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27348B"/>
                          </a:solidFill>
                          <a:latin typeface="Calibri"/>
                          <a:ea typeface="Calibri"/>
                          <a:cs typeface="Calibri"/>
                          <a:sym typeface="Calibri"/>
                        </a:rPr>
                        <a:t>Locating Failure in MP-VRDU: An Empirical Attribution</a:t>
                      </a:r>
                      <a:endParaRPr b="1" spc="0" sz="1200" u="none" cap="none" strike="noStrike">
                        <a:solidFill>
                          <a:srgbClr val="27348B"/>
                        </a:solidFill>
                        <a:latin typeface="Calibri"/>
                        <a:ea typeface="Calibri"/>
                        <a:cs typeface="Calibri"/>
                        <a:sym typeface="Calibri"/>
                      </a:endParaRPr>
                    </a:p>
                    <a:p>
                      <a:pPr indent="0" lvl="0" marL="0" marR="0" rtl="0" algn="l">
                        <a:lnSpc>
                          <a:spcPct val="100000"/>
                        </a:lnSpc>
                        <a:spcBef>
                          <a:spcPts val="0"/>
                        </a:spcBef>
                        <a:spcAft>
                          <a:spcPts val="0"/>
                        </a:spcAft>
                        <a:buClr>
                          <a:srgbClr val="5A6072"/>
                        </a:buClr>
                        <a:buSzPts val="1200"/>
                        <a:buFont typeface="Calibri"/>
                        <a:buNone/>
                      </a:pPr>
                      <a:r>
                        <a:rPr b="1" lang="en-GB" spc="0" sz="1200" u="none" cap="none" strike="noStrike">
                          <a:solidFill>
                            <a:srgbClr val="5A6072"/>
                          </a:solidFill>
                          <a:latin typeface="Calibri"/>
                          <a:ea typeface="Calibri"/>
                          <a:cs typeface="Calibri"/>
                          <a:sym typeface="Calibri"/>
                        </a:rPr>
                        <a:t>Submitted to NAACL</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51500">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4  </a:t>
                      </a:r>
                      <a:r>
                        <a:rPr lang="en-GB" spc="0" sz="1200" u="none" cap="none" strike="noStrike">
                          <a:solidFill>
                            <a:srgbClr val="1B1F2A"/>
                          </a:solidFill>
                          <a:latin typeface="Calibri"/>
                          <a:ea typeface="Calibri"/>
                          <a:cs typeface="Calibri"/>
                          <a:sym typeface="Calibri"/>
                        </a:rPr>
                        <a:t>Method &amp; Conclusion</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1B1F2A"/>
                          </a:solidFill>
                          <a:latin typeface="Calibri"/>
                          <a:ea typeface="Calibri"/>
                          <a:cs typeface="Calibri"/>
                          <a:sym typeface="Calibri"/>
                        </a:rPr>
                        <a:t>RQ3  </a:t>
                      </a:r>
                      <a:r>
                        <a:rPr lang="en-GB" spc="0" sz="1200" u="none" cap="none" strike="noStrike">
                          <a:solidFill>
                            <a:srgbClr val="1B1F2A"/>
                          </a:solidFill>
                          <a:latin typeface="Calibri"/>
                          <a:ea typeface="Calibri"/>
                          <a:cs typeface="Calibri"/>
                          <a:sym typeface="Calibri"/>
                        </a:rPr>
                        <a:t>Can the findings build a competitive system under a fixed budget?</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200"/>
                        <a:buFont typeface="Calibri"/>
                        <a:buNone/>
                      </a:pPr>
                      <a:r>
                        <a:rPr lang="en-GB" spc="0" sz="1200" u="none" cap="none" strike="noStrike">
                          <a:solidFill>
                            <a:srgbClr val="5A6072"/>
                          </a:solidFill>
                          <a:latin typeface="Calibri"/>
                          <a:ea typeface="Calibri"/>
                          <a:cs typeface="Calibri"/>
                          <a:sym typeface="Calibri"/>
                        </a:rPr>
                        <a:t>Thesis chapter: training-free proof of concept</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79" name="Google Shape;79;p1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9"/>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What is MP-VRDU?</a:t>
            </a:r>
            <a:endParaRPr sz="2300"/>
          </a:p>
        </p:txBody>
      </p:sp>
      <p:sp>
        <p:nvSpPr>
          <p:cNvPr id="86" name="Google Shape;86;p19"/>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1 · Introduction</a:t>
            </a:r>
            <a:endParaRPr b="0" i="0" spc="0" sz="900" u="none" cap="none" strike="noStrike">
              <a:solidFill>
                <a:schemeClr val="dk1"/>
              </a:solidFill>
              <a:latin typeface="Calibri"/>
              <a:ea typeface="Calibri"/>
              <a:cs typeface="Calibri"/>
              <a:sym typeface="Calibri"/>
            </a:endParaRPr>
          </a:p>
        </p:txBody>
      </p:sp>
      <p:sp>
        <p:nvSpPr>
          <p:cNvPr id="87" name="Google Shape;87;p19"/>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Meaning lives in </a:t>
            </a:r>
            <a:r>
              <a:rPr b="1" i="0" lang="en-GB" spc="0" sz="1400" u="none" cap="none" strike="noStrike">
                <a:solidFill>
                  <a:schemeClr val="accent2"/>
                </a:solidFill>
                <a:latin typeface="Calibri"/>
                <a:ea typeface="Calibri"/>
                <a:cs typeface="Calibri"/>
                <a:sym typeface="Calibri"/>
              </a:rPr>
              <a:t>text</a:t>
            </a:r>
            <a:r>
              <a:rPr b="0" i="0" lang="en-GB" spc="0" sz="1400" u="none" cap="none" strike="noStrike">
                <a:solidFill>
                  <a:schemeClr val="accent2"/>
                </a:solidFill>
                <a:latin typeface="Calibri"/>
                <a:ea typeface="Calibri"/>
                <a:cs typeface="Calibri"/>
                <a:sym typeface="Calibri"/>
              </a:rPr>
              <a:t>, </a:t>
            </a:r>
            <a:r>
              <a:rPr b="1" i="0" lang="en-GB" spc="0" sz="1400" u="none" cap="none" strike="noStrike">
                <a:solidFill>
                  <a:schemeClr val="accent2"/>
                </a:solidFill>
                <a:latin typeface="Calibri"/>
                <a:ea typeface="Calibri"/>
                <a:cs typeface="Calibri"/>
                <a:sym typeface="Calibri"/>
              </a:rPr>
              <a:t>visuals</a:t>
            </a:r>
            <a:r>
              <a:rPr b="0" i="0" lang="en-GB" spc="0" sz="1400" u="none" cap="none" strike="noStrike">
                <a:solidFill>
                  <a:srgbClr val="1B1F2A"/>
                </a:solidFill>
                <a:latin typeface="Calibri"/>
                <a:ea typeface="Calibri"/>
                <a:cs typeface="Calibri"/>
                <a:sym typeface="Calibri"/>
              </a:rPr>
              <a:t> and </a:t>
            </a:r>
            <a:r>
              <a:rPr b="1" i="0" lang="en-GB" spc="0" sz="1400" u="none" cap="none" strike="noStrike">
                <a:solidFill>
                  <a:schemeClr val="accent2"/>
                </a:solidFill>
                <a:latin typeface="Calibri"/>
                <a:ea typeface="Calibri"/>
                <a:cs typeface="Calibri"/>
                <a:sym typeface="Calibri"/>
              </a:rPr>
              <a:t>layout</a:t>
            </a:r>
            <a:r>
              <a:rPr b="0" i="0" lang="en-GB" spc="0" sz="1400" u="none" cap="none" strike="noStrike">
                <a:solidFill>
                  <a:schemeClr val="accent2"/>
                </a:solidFill>
                <a:latin typeface="Calibri"/>
                <a:ea typeface="Calibri"/>
                <a:cs typeface="Calibri"/>
                <a:sym typeface="Calibri"/>
              </a:rPr>
              <a:t>,</a:t>
            </a:r>
            <a:r>
              <a:rPr b="0" i="0" lang="en-GB" spc="0" sz="1400" u="none" cap="none" strike="noStrike">
                <a:solidFill>
                  <a:srgbClr val="1B1F2A"/>
                </a:solidFill>
                <a:latin typeface="Calibri"/>
                <a:ea typeface="Calibri"/>
                <a:cs typeface="Calibri"/>
                <a:sym typeface="Calibri"/>
              </a:rPr>
              <a:t> and often runs across pages.</a:t>
            </a:r>
            <a:endParaRPr b="0" i="0" spc="0" sz="1400" u="none" cap="none" strike="noStrike">
              <a:solidFill>
                <a:schemeClr val="dk1"/>
              </a:solidFill>
              <a:latin typeface="Calibri"/>
              <a:ea typeface="Calibri"/>
              <a:cs typeface="Calibri"/>
              <a:sym typeface="Calibri"/>
            </a:endParaRPr>
          </a:p>
        </p:txBody>
      </p:sp>
      <p:sp>
        <p:nvSpPr>
          <p:cNvPr id="88" name="Google Shape;88;p19"/>
          <p:cNvSpPr txBox="1"/>
          <p:nvPr/>
        </p:nvSpPr>
        <p:spPr>
          <a:xfrm>
            <a:off x="411480" y="3273552"/>
            <a:ext cx="8321040" cy="2103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A question from MMLongBench-Doc: the answer needs the table on page 16 and the map on page 34.</a:t>
            </a:r>
            <a:endParaRPr b="0" i="0" spc="0" sz="900" u="none" cap="none" strike="noStrike">
              <a:solidFill>
                <a:schemeClr val="dk1"/>
              </a:solidFill>
              <a:latin typeface="Calibri"/>
              <a:ea typeface="Calibri"/>
              <a:cs typeface="Calibri"/>
              <a:sym typeface="Calibri"/>
            </a:endParaRPr>
          </a:p>
        </p:txBody>
      </p:sp>
      <p:sp>
        <p:nvSpPr>
          <p:cNvPr id="89" name="Google Shape;89;p19"/>
          <p:cNvSpPr txBox="1"/>
          <p:nvPr/>
        </p:nvSpPr>
        <p:spPr>
          <a:xfrm>
            <a:off x="411480" y="356616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Long</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Exceeds the model’s context window</a:t>
            </a:r>
            <a:endParaRPr b="0" i="0" spc="0" sz="1400" u="none" cap="none" strike="noStrike">
              <a:solidFill>
                <a:schemeClr val="dk1"/>
              </a:solidFill>
              <a:latin typeface="Calibri"/>
              <a:ea typeface="Calibri"/>
              <a:cs typeface="Calibri"/>
              <a:sym typeface="Calibri"/>
            </a:endParaRPr>
          </a:p>
        </p:txBody>
      </p:sp>
      <p:sp>
        <p:nvSpPr>
          <p:cNvPr id="90" name="Google Shape;90;p19"/>
          <p:cNvSpPr txBox="1"/>
          <p:nvPr/>
        </p:nvSpPr>
        <p:spPr>
          <a:xfrm>
            <a:off x="3299384" y="3566160"/>
            <a:ext cx="2545003"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Sparse</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Evidence is buried among many pages</a:t>
            </a:r>
            <a:endParaRPr b="0" i="0" spc="0" sz="1400" u="none" cap="none" strike="noStrike">
              <a:solidFill>
                <a:schemeClr val="dk1"/>
              </a:solidFill>
              <a:latin typeface="Calibri"/>
              <a:ea typeface="Calibri"/>
              <a:cs typeface="Calibri"/>
              <a:sym typeface="Calibri"/>
            </a:endParaRPr>
          </a:p>
        </p:txBody>
      </p:sp>
      <p:sp>
        <p:nvSpPr>
          <p:cNvPr id="91" name="Google Shape;91;p19"/>
          <p:cNvSpPr txBox="1"/>
          <p:nvPr/>
        </p:nvSpPr>
        <p:spPr>
          <a:xfrm>
            <a:off x="6187288" y="356616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Structured</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Links cross pages: “see Table 3”</a:t>
            </a:r>
            <a:endParaRPr b="0" i="0" spc="0" sz="1400" u="none" cap="none" strike="noStrike">
              <a:solidFill>
                <a:schemeClr val="dk1"/>
              </a:solidFill>
              <a:latin typeface="Calibri"/>
              <a:ea typeface="Calibri"/>
              <a:cs typeface="Calibri"/>
              <a:sym typeface="Calibri"/>
            </a:endParaRPr>
          </a:p>
        </p:txBody>
      </p:sp>
      <p:sp>
        <p:nvSpPr>
          <p:cNvPr id="92" name="Google Shape;92;p19"/>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pic>
        <p:nvPicPr>
          <p:cNvPr descr="multipage.png" id="93" name="Google Shape;93;p19"/>
          <p:cNvPicPr preferRelativeResize="0"/>
          <p:nvPr/>
        </p:nvPicPr>
        <p:blipFill rotWithShape="1">
          <a:blip r:embed="rId3">
            <a:alphaModFix/>
          </a:blip>
          <a:srcRect b="0" l="0" r="0" t="0"/>
          <a:stretch/>
        </p:blipFill>
        <p:spPr>
          <a:xfrm>
            <a:off x="411480" y="1097280"/>
            <a:ext cx="8321040" cy="214884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MP-VRDU in Real World Applications</a:t>
            </a:r>
            <a:endParaRPr sz="2300"/>
          </a:p>
        </p:txBody>
      </p:sp>
      <p:sp>
        <p:nvSpPr>
          <p:cNvPr id="100" name="Google Shape;100;p20"/>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1 · Introduction</a:t>
            </a:r>
            <a:endParaRPr b="0" i="0" spc="0" sz="900" u="none" cap="none" strike="noStrike">
              <a:solidFill>
                <a:schemeClr val="dk1"/>
              </a:solidFill>
              <a:latin typeface="Calibri"/>
              <a:ea typeface="Calibri"/>
              <a:cs typeface="Calibri"/>
              <a:sym typeface="Calibri"/>
            </a:endParaRPr>
          </a:p>
        </p:txBody>
      </p:sp>
      <p:sp>
        <p:nvSpPr>
          <p:cNvPr id="101" name="Google Shape;101;p20"/>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Real deployments need </a:t>
            </a:r>
            <a:r>
              <a:rPr b="1" i="0" lang="en-GB" spc="0" sz="1400" u="none" cap="none" strike="noStrike">
                <a:solidFill>
                  <a:schemeClr val="accent2"/>
                </a:solidFill>
                <a:latin typeface="Calibri"/>
                <a:ea typeface="Calibri"/>
                <a:cs typeface="Calibri"/>
                <a:sym typeface="Calibri"/>
              </a:rPr>
              <a:t>local, open-weight models</a:t>
            </a:r>
            <a:r>
              <a:rPr b="0" i="0" lang="en-GB" spc="0" sz="1400" u="none" cap="none" strike="noStrike">
                <a:solidFill>
                  <a:srgbClr val="1B1F2A"/>
                </a:solidFill>
                <a:latin typeface="Calibri"/>
                <a:ea typeface="Calibri"/>
                <a:cs typeface="Calibri"/>
                <a:sym typeface="Calibri"/>
              </a:rPr>
              <a:t> under a fixed compute budget.</a:t>
            </a:r>
            <a:endParaRPr b="0" i="0" spc="0" sz="1400" u="none" cap="none" strike="noStrike">
              <a:solidFill>
                <a:schemeClr val="dk1"/>
              </a:solidFill>
              <a:latin typeface="Calibri"/>
              <a:ea typeface="Calibri"/>
              <a:cs typeface="Calibri"/>
              <a:sym typeface="Calibri"/>
            </a:endParaRPr>
          </a:p>
        </p:txBody>
      </p:sp>
      <p:pic>
        <p:nvPicPr>
          <p:cNvPr descr="claude_example_1.png" id="102" name="Google Shape;102;p20"/>
          <p:cNvPicPr preferRelativeResize="0"/>
          <p:nvPr/>
        </p:nvPicPr>
        <p:blipFill rotWithShape="1">
          <a:blip r:embed="rId3">
            <a:alphaModFix/>
          </a:blip>
          <a:srcRect b="21624" l="0" r="0" t="11804"/>
          <a:stretch/>
        </p:blipFill>
        <p:spPr>
          <a:xfrm>
            <a:off x="411480" y="1161288"/>
            <a:ext cx="3211943" cy="2999232"/>
          </a:xfrm>
          <a:prstGeom prst="rect">
            <a:avLst/>
          </a:prstGeom>
          <a:noFill/>
          <a:ln>
            <a:noFill/>
          </a:ln>
        </p:spPr>
      </p:pic>
      <p:sp>
        <p:nvSpPr>
          <p:cNvPr id="103" name="Google Shape;103;p20"/>
          <p:cNvSpPr txBox="1"/>
          <p:nvPr/>
        </p:nvSpPr>
        <p:spPr>
          <a:xfrm>
            <a:off x="411475" y="4195199"/>
            <a:ext cx="4160400" cy="30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0" i="0" lang="en-GB" spc="0" sz="1200" u="none" cap="none" strike="noStrike">
                <a:solidFill>
                  <a:srgbClr val="5A6072"/>
                </a:solidFill>
                <a:latin typeface="Calibri"/>
                <a:ea typeface="Calibri"/>
                <a:cs typeface="Calibri"/>
                <a:sym typeface="Calibri"/>
              </a:rPr>
              <a:t>LLM assistants plan, locate and inspect pages before answering.</a:t>
            </a:r>
            <a:endParaRPr b="0" i="0" spc="0" sz="1200" u="none" cap="none" strike="noStrike">
              <a:solidFill>
                <a:schemeClr val="dk1"/>
              </a:solidFill>
              <a:latin typeface="Calibri"/>
              <a:ea typeface="Calibri"/>
              <a:cs typeface="Calibri"/>
              <a:sym typeface="Calibri"/>
            </a:endParaRPr>
          </a:p>
        </p:txBody>
      </p:sp>
      <p:sp>
        <p:nvSpPr>
          <p:cNvPr id="104" name="Google Shape;104;p20"/>
          <p:cNvSpPr txBox="1"/>
          <p:nvPr/>
        </p:nvSpPr>
        <p:spPr>
          <a:xfrm>
            <a:off x="4296649" y="1200150"/>
            <a:ext cx="44130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IN INDUSTRY</a:t>
            </a:r>
            <a:endParaRPr b="0" i="0" spc="0" sz="900" u="none" cap="none" strike="noStrike">
              <a:solidFill>
                <a:schemeClr val="dk1"/>
              </a:solidFill>
              <a:latin typeface="Calibri"/>
              <a:ea typeface="Calibri"/>
              <a:cs typeface="Calibri"/>
              <a:sym typeface="Calibri"/>
            </a:endParaRPr>
          </a:p>
        </p:txBody>
      </p:sp>
      <p:sp>
        <p:nvSpPr>
          <p:cNvPr id="105" name="Google Shape;105;p20"/>
          <p:cNvSpPr txBox="1"/>
          <p:nvPr/>
        </p:nvSpPr>
        <p:spPr>
          <a:xfrm>
            <a:off x="4296600" y="1474475"/>
            <a:ext cx="4413000" cy="2720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1" lang="en-GB">
                <a:solidFill>
                  <a:srgbClr val="1B1F2A"/>
                </a:solidFill>
                <a:latin typeface="Calibri"/>
                <a:ea typeface="Calibri"/>
                <a:cs typeface="Calibri"/>
                <a:sym typeface="Calibri"/>
              </a:rPr>
              <a:t>Thousands to millions of documents</a:t>
            </a:r>
            <a:endParaRPr>
              <a:solidFill>
                <a:srgbClr val="1B1F2A"/>
              </a:solidFill>
              <a:latin typeface="Calibri"/>
              <a:ea typeface="Calibri"/>
              <a:cs typeface="Calibri"/>
              <a:sym typeface="Calibri"/>
            </a:endParaRPr>
          </a:p>
          <a:p>
            <a:pPr indent="0" lvl="0" marL="0" marR="0" rtl="0" algn="l">
              <a:lnSpc>
                <a:spcPct val="100000"/>
              </a:lnSpc>
              <a:spcBef>
                <a:spcPts val="100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Privacy</a:t>
            </a:r>
            <a:r>
              <a:rPr b="0" i="0" lang="en-GB" spc="0" sz="1400" u="none" cap="none" strike="noStrike">
                <a:solidFill>
                  <a:srgbClr val="1B1F2A"/>
                </a:solidFill>
                <a:latin typeface="Calibri"/>
                <a:ea typeface="Calibri"/>
                <a:cs typeface="Calibri"/>
                <a:sym typeface="Calibri"/>
              </a:rPr>
              <a:t>: medical, legal and financial records stay in-house</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90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Cost</a:t>
            </a:r>
            <a:r>
              <a:rPr b="0" i="0" lang="en-GB" spc="0" sz="1400" u="none" cap="none" strike="noStrike">
                <a:solidFill>
                  <a:srgbClr val="1B1F2A"/>
                </a:solidFill>
                <a:latin typeface="Calibri"/>
                <a:ea typeface="Calibri"/>
                <a:cs typeface="Calibri"/>
                <a:sym typeface="Calibri"/>
              </a:rPr>
              <a:t>: API fees become prohibitive at millions of documents</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90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Specialisation</a:t>
            </a:r>
            <a:r>
              <a:rPr b="0" i="0" lang="en-GB" spc="0" sz="1400" u="none" cap="none" strike="noStrike">
                <a:solidFill>
                  <a:srgbClr val="1B1F2A"/>
                </a:solidFill>
                <a:latin typeface="Calibri"/>
                <a:ea typeface="Calibri"/>
                <a:cs typeface="Calibri"/>
                <a:sym typeface="Calibri"/>
              </a:rPr>
              <a:t>: domain documents need an adapted model</a:t>
            </a:r>
            <a:endParaRPr b="0" i="0" spc="0" sz="1400" u="none" cap="none" strike="noStrike">
              <a:solidFill>
                <a:srgbClr val="1B1F2A"/>
              </a:solidFill>
              <a:latin typeface="Calibri"/>
              <a:ea typeface="Calibri"/>
              <a:cs typeface="Calibri"/>
              <a:sym typeface="Calibri"/>
            </a:endParaRPr>
          </a:p>
          <a:p>
            <a:pPr indent="0" lvl="0" marL="0" marR="0" rtl="0" algn="l">
              <a:lnSpc>
                <a:spcPct val="100000"/>
              </a:lnSpc>
              <a:spcBef>
                <a:spcPts val="900"/>
              </a:spcBef>
              <a:spcAft>
                <a:spcPts val="0"/>
              </a:spcAft>
              <a:buClr>
                <a:srgbClr val="1B1F2A"/>
              </a:buClr>
              <a:buSzPts val="1400"/>
              <a:buFont typeface="Calibri"/>
              <a:buNone/>
            </a:pPr>
            <a:r>
              <a:rPr lang="en-GB">
                <a:solidFill>
                  <a:srgbClr val="1B1F2A"/>
                </a:solidFill>
                <a:latin typeface="Calibri"/>
                <a:ea typeface="Calibri"/>
                <a:cs typeface="Calibri"/>
                <a:sym typeface="Calibri"/>
              </a:rPr>
              <a:t>In any case, you need to build your own document understanding pipeline, either by running </a:t>
            </a:r>
            <a:r>
              <a:rPr b="1" lang="en-GB">
                <a:solidFill>
                  <a:srgbClr val="1B1F2A"/>
                </a:solidFill>
                <a:latin typeface="Calibri"/>
                <a:ea typeface="Calibri"/>
                <a:cs typeface="Calibri"/>
                <a:sym typeface="Calibri"/>
              </a:rPr>
              <a:t>local VLMs</a:t>
            </a:r>
            <a:r>
              <a:rPr lang="en-GB">
                <a:solidFill>
                  <a:srgbClr val="1B1F2A"/>
                </a:solidFill>
                <a:latin typeface="Calibri"/>
                <a:ea typeface="Calibri"/>
                <a:cs typeface="Calibri"/>
                <a:sym typeface="Calibri"/>
              </a:rPr>
              <a:t>, or via third party API</a:t>
            </a:r>
            <a:endParaRPr>
              <a:solidFill>
                <a:srgbClr val="1B1F2A"/>
              </a:solidFill>
              <a:latin typeface="Calibri"/>
              <a:ea typeface="Calibri"/>
              <a:cs typeface="Calibri"/>
              <a:sym typeface="Calibri"/>
            </a:endParaRPr>
          </a:p>
        </p:txBody>
      </p:sp>
      <p:sp>
        <p:nvSpPr>
          <p:cNvPr id="106" name="Google Shape;106;p20"/>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Managing Evidence at Document Scale: A </a:t>
            </a:r>
            <a:r>
              <a:rPr lang="en-GB"/>
              <a:t>Survey of Multi-Page Visually Rich Document Understanding</a:t>
            </a:r>
            <a:endParaRPr sz="2300"/>
          </a:p>
        </p:txBody>
      </p:sp>
      <p:sp>
        <p:nvSpPr>
          <p:cNvPr id="113" name="Google Shape;113;p21"/>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 </a:t>
            </a:r>
            <a:r>
              <a:rPr lang="en-GB" sz="900">
                <a:solidFill>
                  <a:srgbClr val="5A6072"/>
                </a:solidFill>
                <a:latin typeface="Calibri"/>
                <a:ea typeface="Calibri"/>
                <a:cs typeface="Calibri"/>
                <a:sym typeface="Calibri"/>
              </a:rPr>
              <a:t>\</a:t>
            </a:r>
            <a:endParaRPr b="0" i="0" spc="0" sz="900" u="none" cap="none" strike="noStrike">
              <a:solidFill>
                <a:schemeClr val="dk1"/>
              </a:solidFill>
              <a:latin typeface="Calibri"/>
              <a:ea typeface="Calibri"/>
              <a:cs typeface="Calibri"/>
              <a:sym typeface="Calibri"/>
            </a:endParaRPr>
          </a:p>
        </p:txBody>
      </p:sp>
      <p:pic>
        <p:nvPicPr>
          <p:cNvPr descr="First page of the survey paper" id="114" name="Google Shape;114;p21"/>
          <p:cNvPicPr preferRelativeResize="0"/>
          <p:nvPr/>
        </p:nvPicPr>
        <p:blipFill rotWithShape="1">
          <a:blip r:embed="rId3">
            <a:alphaModFix/>
          </a:blip>
          <a:srcRect b="14626" l="0" r="0" t="0"/>
          <a:stretch/>
        </p:blipFill>
        <p:spPr>
          <a:xfrm>
            <a:off x="411480" y="1165860"/>
            <a:ext cx="2811780" cy="3394710"/>
          </a:xfrm>
          <a:prstGeom prst="rect">
            <a:avLst/>
          </a:prstGeom>
          <a:noFill/>
          <a:ln>
            <a:noFill/>
          </a:ln>
        </p:spPr>
      </p:pic>
      <p:sp>
        <p:nvSpPr>
          <p:cNvPr id="115" name="Google Shape;115;p21"/>
          <p:cNvSpPr/>
          <p:nvPr/>
        </p:nvSpPr>
        <p:spPr>
          <a:xfrm>
            <a:off x="411480" y="1165860"/>
            <a:ext cx="2811780" cy="339471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emnlp2026_logo.png" id="116" name="Google Shape;116;p21"/>
          <p:cNvPicPr preferRelativeResize="0"/>
          <p:nvPr/>
        </p:nvPicPr>
        <p:blipFill rotWithShape="1">
          <a:blip r:embed="rId4">
            <a:alphaModFix/>
          </a:blip>
          <a:srcRect b="0" l="0" r="0" t="0"/>
          <a:stretch/>
        </p:blipFill>
        <p:spPr>
          <a:xfrm>
            <a:off x="6788790" y="732104"/>
            <a:ext cx="2057398" cy="358385"/>
          </a:xfrm>
          <a:prstGeom prst="rect">
            <a:avLst/>
          </a:prstGeom>
          <a:noFill/>
          <a:ln>
            <a:noFill/>
          </a:ln>
        </p:spPr>
      </p:pic>
      <p:sp>
        <p:nvSpPr>
          <p:cNvPr id="117" name="Google Shape;117;p21"/>
          <p:cNvSpPr txBox="1"/>
          <p:nvPr/>
        </p:nvSpPr>
        <p:spPr>
          <a:xfrm>
            <a:off x="3634790" y="2020005"/>
            <a:ext cx="50976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RESEARCH GAP</a:t>
            </a:r>
            <a:endParaRPr b="0" i="0" spc="0" sz="900" u="none" cap="none" strike="noStrike">
              <a:solidFill>
                <a:schemeClr val="dk1"/>
              </a:solidFill>
              <a:latin typeface="Calibri"/>
              <a:ea typeface="Calibri"/>
              <a:cs typeface="Calibri"/>
              <a:sym typeface="Calibri"/>
            </a:endParaRPr>
          </a:p>
        </p:txBody>
      </p:sp>
      <p:sp>
        <p:nvSpPr>
          <p:cNvPr id="118" name="Google Shape;118;p21"/>
          <p:cNvSpPr txBox="1"/>
          <p:nvPr/>
        </p:nvSpPr>
        <p:spPr>
          <a:xfrm>
            <a:off x="3634790" y="2260035"/>
            <a:ext cx="50976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Multi-page systems grew along </a:t>
            </a:r>
            <a:r>
              <a:rPr b="1" i="0" lang="en-GB" spc="0" sz="1400" u="none" cap="none" strike="noStrike">
                <a:solidFill>
                  <a:srgbClr val="27348B"/>
                </a:solidFill>
                <a:latin typeface="Calibri"/>
                <a:ea typeface="Calibri"/>
                <a:cs typeface="Calibri"/>
                <a:sym typeface="Calibri"/>
              </a:rPr>
              <a:t>parallel lines</a:t>
            </a:r>
            <a:r>
              <a:rPr b="0" i="0" lang="en-GB" spc="0" sz="1400" u="none" cap="none" strike="noStrike">
                <a:solidFill>
                  <a:srgbClr val="1B1F2A"/>
                </a:solidFill>
                <a:latin typeface="Calibri"/>
                <a:ea typeface="Calibri"/>
                <a:cs typeface="Calibri"/>
                <a:sym typeface="Calibri"/>
              </a:rPr>
              <a:t>, with inconsistent terminology and little cross-family comparison.</a:t>
            </a:r>
            <a:endParaRPr b="0" i="0" spc="0" sz="1400" u="none" cap="none" strike="noStrike">
              <a:solidFill>
                <a:schemeClr val="dk1"/>
              </a:solidFill>
              <a:latin typeface="Calibri"/>
              <a:ea typeface="Calibri"/>
              <a:cs typeface="Calibri"/>
              <a:sym typeface="Calibri"/>
            </a:endParaRPr>
          </a:p>
        </p:txBody>
      </p:sp>
      <p:sp>
        <p:nvSpPr>
          <p:cNvPr id="119" name="Google Shape;119;p21"/>
          <p:cNvSpPr txBox="1"/>
          <p:nvPr/>
        </p:nvSpPr>
        <p:spPr>
          <a:xfrm>
            <a:off x="3634790" y="2980125"/>
            <a:ext cx="50976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CONTRIBUTIONS</a:t>
            </a:r>
            <a:endParaRPr b="0" i="0" spc="0" sz="900" u="none" cap="none" strike="noStrike">
              <a:solidFill>
                <a:schemeClr val="dk1"/>
              </a:solidFill>
              <a:latin typeface="Calibri"/>
              <a:ea typeface="Calibri"/>
              <a:cs typeface="Calibri"/>
              <a:sym typeface="Calibri"/>
            </a:endParaRPr>
          </a:p>
        </p:txBody>
      </p:sp>
      <p:sp>
        <p:nvSpPr>
          <p:cNvPr id="120" name="Google Shape;120;p21"/>
          <p:cNvSpPr txBox="1"/>
          <p:nvPr/>
        </p:nvSpPr>
        <p:spPr>
          <a:xfrm>
            <a:off x="3634790" y="3220155"/>
            <a:ext cx="5097600" cy="123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The first survey to treat MP-VRDU as a </a:t>
            </a:r>
            <a:r>
              <a:rPr b="1" i="0" lang="en-GB" spc="0" sz="1400" u="none" cap="none" strike="noStrike">
                <a:solidFill>
                  <a:srgbClr val="27348B"/>
                </a:solidFill>
                <a:latin typeface="Calibri"/>
                <a:ea typeface="Calibri"/>
                <a:cs typeface="Calibri"/>
                <a:sym typeface="Calibri"/>
              </a:rPr>
              <a:t>distinct problem</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1B1F2A"/>
              </a:buClr>
              <a:buSzPts val="1400"/>
              <a:buFont typeface="Calibri"/>
              <a:buNone/>
            </a:pPr>
            <a:r>
              <a:rPr lang="en-GB">
                <a:solidFill>
                  <a:srgbClr val="1B1F2A"/>
                </a:solidFill>
                <a:latin typeface="Calibri"/>
                <a:ea typeface="Calibri"/>
                <a:cs typeface="Calibri"/>
                <a:sym typeface="Calibri"/>
              </a:rPr>
              <a:t>We survey </a:t>
            </a:r>
            <a:r>
              <a:rPr b="1" i="0" lang="en-GB" spc="0" sz="1400" u="none" cap="none" strike="noStrike">
                <a:solidFill>
                  <a:srgbClr val="27348B"/>
                </a:solidFill>
                <a:latin typeface="Calibri"/>
                <a:ea typeface="Calibri"/>
                <a:cs typeface="Calibri"/>
                <a:sym typeface="Calibri"/>
              </a:rPr>
              <a:t>46 systems</a:t>
            </a:r>
            <a:r>
              <a:rPr b="0" i="0" lang="en-GB" spc="0" sz="1400" u="none" cap="none" strike="noStrike">
                <a:solidFill>
                  <a:srgbClr val="1B1F2A"/>
                </a:solidFill>
                <a:latin typeface="Calibri"/>
                <a:ea typeface="Calibri"/>
                <a:cs typeface="Calibri"/>
                <a:sym typeface="Calibri"/>
              </a:rPr>
              <a:t>, organised by </a:t>
            </a:r>
            <a:r>
              <a:rPr i="0" lang="en-GB" spc="0" sz="1400" u="none" cap="none" strike="noStrike">
                <a:solidFill>
                  <a:schemeClr val="dk1"/>
                </a:solidFill>
                <a:latin typeface="Calibri"/>
                <a:ea typeface="Calibri"/>
                <a:cs typeface="Calibri"/>
                <a:sym typeface="Calibri"/>
              </a:rPr>
              <a:t>evidence management, </a:t>
            </a:r>
            <a:r>
              <a:rPr lang="en-GB">
                <a:solidFill>
                  <a:schemeClr val="dk1"/>
                </a:solidFill>
                <a:latin typeface="Calibri"/>
                <a:ea typeface="Calibri"/>
                <a:cs typeface="Calibri"/>
                <a:sym typeface="Calibri"/>
              </a:rPr>
              <a:t>spanning </a:t>
            </a:r>
            <a:r>
              <a:rPr b="1" lang="en-GB">
                <a:solidFill>
                  <a:srgbClr val="27348B"/>
                </a:solidFill>
                <a:latin typeface="Calibri"/>
                <a:ea typeface="Calibri"/>
                <a:cs typeface="Calibri"/>
                <a:sym typeface="Calibri"/>
              </a:rPr>
              <a:t>4 architectural families</a:t>
            </a:r>
            <a:r>
              <a:rPr lang="en-GB">
                <a:solidFill>
                  <a:schemeClr val="dk1"/>
                </a:solidFill>
                <a:latin typeface="Calibri"/>
                <a:ea typeface="Calibri"/>
                <a:cs typeface="Calibri"/>
                <a:sym typeface="Calibri"/>
              </a:rPr>
              <a:t>, multi-page multimodal representation, inference-time adaptation, and training strategies.</a:t>
            </a:r>
            <a:endParaRPr i="0" spc="0" sz="14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47 datasets</a:t>
            </a:r>
            <a:r>
              <a:rPr b="0" i="0" lang="en-GB" spc="0" sz="1400" u="none" cap="none" strike="noStrike">
                <a:solidFill>
                  <a:srgbClr val="1B1F2A"/>
                </a:solidFill>
                <a:latin typeface="Calibri"/>
                <a:ea typeface="Calibri"/>
                <a:cs typeface="Calibri"/>
                <a:sym typeface="Calibri"/>
              </a:rPr>
              <a:t> consolidated; five open challenges</a:t>
            </a:r>
            <a:endParaRPr b="0" i="0" spc="0" sz="1400" u="none" cap="none" strike="noStrike">
              <a:solidFill>
                <a:schemeClr val="dk1"/>
              </a:solidFill>
              <a:latin typeface="Calibri"/>
              <a:ea typeface="Calibri"/>
              <a:cs typeface="Calibri"/>
              <a:sym typeface="Calibri"/>
            </a:endParaRPr>
          </a:p>
        </p:txBody>
      </p:sp>
      <p:sp>
        <p:nvSpPr>
          <p:cNvPr id="121" name="Google Shape;121;p21"/>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122" name="Google Shape;122;p21"/>
          <p:cNvSpPr txBox="1"/>
          <p:nvPr/>
        </p:nvSpPr>
        <p:spPr>
          <a:xfrm>
            <a:off x="3565650" y="1301400"/>
            <a:ext cx="5166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rgbClr val="980000"/>
                </a:solidFill>
                <a:latin typeface="Calibri"/>
                <a:ea typeface="Calibri"/>
                <a:cs typeface="Calibri"/>
                <a:sym typeface="Calibri"/>
              </a:rPr>
              <a:t>First-Authored</a:t>
            </a:r>
            <a:r>
              <a:rPr lang="en-GB">
                <a:solidFill>
                  <a:srgbClr val="1B1F2A"/>
                </a:solidFill>
                <a:latin typeface="Calibri"/>
                <a:ea typeface="Calibri"/>
                <a:cs typeface="Calibri"/>
                <a:sym typeface="Calibri"/>
              </a:rPr>
              <a:t> and Accepted at the </a:t>
            </a:r>
            <a:r>
              <a:rPr b="1" lang="en-GB">
                <a:solidFill>
                  <a:srgbClr val="980000"/>
                </a:solidFill>
                <a:latin typeface="Calibri"/>
                <a:ea typeface="Calibri"/>
                <a:cs typeface="Calibri"/>
                <a:sym typeface="Calibri"/>
              </a:rPr>
              <a:t>EMNLP 2026 Main Conference</a:t>
            </a:r>
            <a:r>
              <a:rPr lang="en-GB">
                <a:solidFill>
                  <a:srgbClr val="1B1F2A"/>
                </a:solidFill>
                <a:latin typeface="Calibri"/>
                <a:ea typeface="Calibri"/>
                <a:cs typeface="Calibri"/>
                <a:sym typeface="Calibri"/>
              </a:rPr>
              <a:t>, Budapest.</a:t>
            </a:r>
            <a:endParaRPr>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Four Architectural Families</a:t>
            </a:r>
            <a:endParaRPr sz="2300"/>
          </a:p>
        </p:txBody>
      </p:sp>
      <p:sp>
        <p:nvSpPr>
          <p:cNvPr id="129" name="Google Shape;129;p22"/>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a:t>
            </a:r>
            <a:endParaRPr b="0" i="0" spc="0" sz="900" u="none" cap="none" strike="noStrike">
              <a:solidFill>
                <a:schemeClr val="dk1"/>
              </a:solidFill>
              <a:latin typeface="Calibri"/>
              <a:ea typeface="Calibri"/>
              <a:cs typeface="Calibri"/>
              <a:sym typeface="Calibri"/>
            </a:endParaRPr>
          </a:p>
        </p:txBody>
      </p:sp>
      <p:sp>
        <p:nvSpPr>
          <p:cNvPr id="130" name="Google Shape;130;p22"/>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Each family fixes the previous bottleneck and </a:t>
            </a:r>
            <a:r>
              <a:rPr b="1" i="0" lang="en-GB" spc="0" sz="1400" u="none" cap="none" strike="noStrike">
                <a:solidFill>
                  <a:srgbClr val="27348B"/>
                </a:solidFill>
                <a:latin typeface="Calibri"/>
                <a:ea typeface="Calibri"/>
                <a:cs typeface="Calibri"/>
                <a:sym typeface="Calibri"/>
              </a:rPr>
              <a:t>relocates</a:t>
            </a:r>
            <a:r>
              <a:rPr b="0" i="0" lang="en-GB" spc="0" sz="1400" u="none" cap="none" strike="noStrike">
                <a:solidFill>
                  <a:srgbClr val="1B1F2A"/>
                </a:solidFill>
                <a:latin typeface="Calibri"/>
                <a:ea typeface="Calibri"/>
                <a:cs typeface="Calibri"/>
                <a:sym typeface="Calibri"/>
              </a:rPr>
              <a:t> it rather than removing it.</a:t>
            </a:r>
            <a:endParaRPr b="0" i="0" spc="0" sz="1400" u="none" cap="none" strike="noStrike">
              <a:solidFill>
                <a:schemeClr val="dk1"/>
              </a:solidFill>
              <a:latin typeface="Calibri"/>
              <a:ea typeface="Calibri"/>
              <a:cs typeface="Calibri"/>
              <a:sym typeface="Calibri"/>
            </a:endParaRPr>
          </a:p>
        </p:txBody>
      </p:sp>
      <p:pic>
        <p:nvPicPr>
          <p:cNvPr descr="models_arch.png" id="131" name="Google Shape;131;p22"/>
          <p:cNvPicPr preferRelativeResize="0"/>
          <p:nvPr/>
        </p:nvPicPr>
        <p:blipFill rotWithShape="1">
          <a:blip r:embed="rId3">
            <a:alphaModFix/>
          </a:blip>
          <a:srcRect b="0" l="0" r="0" t="0"/>
          <a:stretch/>
        </p:blipFill>
        <p:spPr>
          <a:xfrm>
            <a:off x="411480" y="1131570"/>
            <a:ext cx="8320811" cy="2419969"/>
          </a:xfrm>
          <a:prstGeom prst="rect">
            <a:avLst/>
          </a:prstGeom>
          <a:noFill/>
          <a:ln>
            <a:noFill/>
          </a:ln>
        </p:spPr>
      </p:pic>
      <p:sp>
        <p:nvSpPr>
          <p:cNvPr id="132" name="Google Shape;132;p22"/>
          <p:cNvSpPr txBox="1"/>
          <p:nvPr/>
        </p:nvSpPr>
        <p:spPr>
          <a:xfrm>
            <a:off x="411480"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Hi-VT5, GRAM</a:t>
            </a:r>
            <a:endParaRPr b="0" i="0" spc="0" sz="1000" u="none" cap="none" strike="noStrike">
              <a:solidFill>
                <a:schemeClr val="dk1"/>
              </a:solidFill>
              <a:latin typeface="Calibri"/>
              <a:ea typeface="Calibri"/>
              <a:cs typeface="Calibri"/>
              <a:sym typeface="Calibri"/>
            </a:endParaRPr>
          </a:p>
        </p:txBody>
      </p:sp>
      <p:sp>
        <p:nvSpPr>
          <p:cNvPr id="133" name="Google Shape;133;p22"/>
          <p:cNvSpPr txBox="1"/>
          <p:nvPr/>
        </p:nvSpPr>
        <p:spPr>
          <a:xfrm>
            <a:off x="411480"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Late 2023 to mid 2024</a:t>
            </a:r>
            <a:endParaRPr b="0" i="0" spc="0" sz="1000" u="none" cap="none" strike="noStrike">
              <a:solidFill>
                <a:schemeClr val="dk1"/>
              </a:solidFill>
              <a:latin typeface="Calibri"/>
              <a:ea typeface="Calibri"/>
              <a:cs typeface="Calibri"/>
              <a:sym typeface="Calibri"/>
            </a:endParaRPr>
          </a:p>
        </p:txBody>
      </p:sp>
      <p:sp>
        <p:nvSpPr>
          <p:cNvPr id="134" name="Google Shape;134;p22"/>
          <p:cNvSpPr txBox="1"/>
          <p:nvPr/>
        </p:nvSpPr>
        <p:spPr>
          <a:xfrm>
            <a:off x="2491683"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DocSLM, Docopilot</a:t>
            </a:r>
            <a:endParaRPr b="0" i="0" spc="0" sz="1000" u="none" cap="none" strike="noStrike">
              <a:solidFill>
                <a:schemeClr val="dk1"/>
              </a:solidFill>
              <a:latin typeface="Calibri"/>
              <a:ea typeface="Calibri"/>
              <a:cs typeface="Calibri"/>
              <a:sym typeface="Calibri"/>
            </a:endParaRPr>
          </a:p>
        </p:txBody>
      </p:sp>
      <p:sp>
        <p:nvSpPr>
          <p:cNvPr id="135" name="Google Shape;135;p22"/>
          <p:cNvSpPr txBox="1"/>
          <p:nvPr/>
        </p:nvSpPr>
        <p:spPr>
          <a:xfrm>
            <a:off x="2491683"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Early 2024 to late 2025</a:t>
            </a:r>
            <a:endParaRPr b="0" i="0" spc="0" sz="1000" u="none" cap="none" strike="noStrike">
              <a:solidFill>
                <a:schemeClr val="dk1"/>
              </a:solidFill>
              <a:latin typeface="Calibri"/>
              <a:ea typeface="Calibri"/>
              <a:cs typeface="Calibri"/>
              <a:sym typeface="Calibri"/>
            </a:endParaRPr>
          </a:p>
        </p:txBody>
      </p:sp>
      <p:sp>
        <p:nvSpPr>
          <p:cNvPr id="136" name="Google Shape;136;p22"/>
          <p:cNvSpPr txBox="1"/>
          <p:nvPr/>
        </p:nvSpPr>
        <p:spPr>
          <a:xfrm>
            <a:off x="4571886"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M3DocRAG, MoLoRAG</a:t>
            </a:r>
            <a:endParaRPr b="0" i="0" spc="0" sz="1000" u="none" cap="none" strike="noStrike">
              <a:solidFill>
                <a:schemeClr val="dk1"/>
              </a:solidFill>
              <a:latin typeface="Calibri"/>
              <a:ea typeface="Calibri"/>
              <a:cs typeface="Calibri"/>
              <a:sym typeface="Calibri"/>
            </a:endParaRPr>
          </a:p>
        </p:txBody>
      </p:sp>
      <p:sp>
        <p:nvSpPr>
          <p:cNvPr id="137" name="Google Shape;137;p22"/>
          <p:cNvSpPr txBox="1"/>
          <p:nvPr/>
        </p:nvSpPr>
        <p:spPr>
          <a:xfrm>
            <a:off x="4571886"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Early 2024 to mid 2026</a:t>
            </a:r>
            <a:endParaRPr b="0" i="0" spc="0" sz="1000" u="none" cap="none" strike="noStrike">
              <a:solidFill>
                <a:schemeClr val="dk1"/>
              </a:solidFill>
              <a:latin typeface="Calibri"/>
              <a:ea typeface="Calibri"/>
              <a:cs typeface="Calibri"/>
              <a:sym typeface="Calibri"/>
            </a:endParaRPr>
          </a:p>
        </p:txBody>
      </p:sp>
      <p:sp>
        <p:nvSpPr>
          <p:cNvPr id="138" name="Google Shape;138;p22"/>
          <p:cNvSpPr txBox="1"/>
          <p:nvPr/>
        </p:nvSpPr>
        <p:spPr>
          <a:xfrm>
            <a:off x="6652088"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SimpleDoc, DocAgent</a:t>
            </a:r>
            <a:endParaRPr b="0" i="0" spc="0" sz="1000" u="none" cap="none" strike="noStrike">
              <a:solidFill>
                <a:schemeClr val="dk1"/>
              </a:solidFill>
              <a:latin typeface="Calibri"/>
              <a:ea typeface="Calibri"/>
              <a:cs typeface="Calibri"/>
              <a:sym typeface="Calibri"/>
            </a:endParaRPr>
          </a:p>
        </p:txBody>
      </p:sp>
      <p:sp>
        <p:nvSpPr>
          <p:cNvPr id="139" name="Google Shape;139;p22"/>
          <p:cNvSpPr txBox="1"/>
          <p:nvPr/>
        </p:nvSpPr>
        <p:spPr>
          <a:xfrm>
            <a:off x="6652088"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Early 2025 to mid 2026</a:t>
            </a:r>
            <a:endParaRPr b="0" i="0" spc="0" sz="1000" u="none" cap="none" strike="noStrike">
              <a:solidFill>
                <a:schemeClr val="dk1"/>
              </a:solidFill>
              <a:latin typeface="Calibri"/>
              <a:ea typeface="Calibri"/>
              <a:cs typeface="Calibri"/>
              <a:sym typeface="Calibri"/>
            </a:endParaRPr>
          </a:p>
        </p:txBody>
      </p:sp>
      <p:sp>
        <p:nvSpPr>
          <p:cNvPr id="140" name="Google Shape;140;p22"/>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Surveyed Systems </a:t>
            </a:r>
            <a:r>
              <a:rPr lang="en-GB"/>
              <a:t>Main Table</a:t>
            </a:r>
            <a:endParaRPr sz="2300"/>
          </a:p>
        </p:txBody>
      </p:sp>
      <p:sp>
        <p:nvSpPr>
          <p:cNvPr id="147" name="Google Shape;147;p23"/>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a:t>
            </a:r>
            <a:endParaRPr b="0" i="0" spc="0" sz="900" u="none" cap="none" strike="noStrike">
              <a:solidFill>
                <a:schemeClr val="dk1"/>
              </a:solidFill>
              <a:latin typeface="Calibri"/>
              <a:ea typeface="Calibri"/>
              <a:cs typeface="Calibri"/>
              <a:sym typeface="Calibri"/>
            </a:endParaRPr>
          </a:p>
        </p:txBody>
      </p:sp>
      <p:pic>
        <p:nvPicPr>
          <p:cNvPr descr="Table 1 of the survey" id="148" name="Google Shape;148;p23"/>
          <p:cNvPicPr preferRelativeResize="0"/>
          <p:nvPr/>
        </p:nvPicPr>
        <p:blipFill rotWithShape="1">
          <a:blip r:embed="rId3">
            <a:alphaModFix/>
          </a:blip>
          <a:srcRect b="0" l="0" r="0" t="0"/>
          <a:stretch/>
        </p:blipFill>
        <p:spPr>
          <a:xfrm>
            <a:off x="411480" y="1097280"/>
            <a:ext cx="3747718" cy="3531870"/>
          </a:xfrm>
          <a:prstGeom prst="rect">
            <a:avLst/>
          </a:prstGeom>
          <a:noFill/>
          <a:ln>
            <a:noFill/>
          </a:ln>
        </p:spPr>
      </p:pic>
      <p:sp>
        <p:nvSpPr>
          <p:cNvPr id="149" name="Google Shape;149;p23"/>
          <p:cNvSpPr/>
          <p:nvPr/>
        </p:nvSpPr>
        <p:spPr>
          <a:xfrm>
            <a:off x="411480" y="1097280"/>
            <a:ext cx="3747600" cy="353190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0" name="Google Shape;150;p23"/>
          <p:cNvSpPr txBox="1"/>
          <p:nvPr/>
        </p:nvSpPr>
        <p:spPr>
          <a:xfrm>
            <a:off x="4746525" y="1337300"/>
            <a:ext cx="3985800" cy="12345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27348B"/>
              </a:buClr>
              <a:buSzPts val="1400"/>
              <a:buFont typeface="Calibri"/>
              <a:buChar char="●"/>
            </a:pPr>
            <a:r>
              <a:rPr b="1" i="0" lang="en-GB" spc="0" sz="1400" u="none" cap="none" strike="noStrike">
                <a:solidFill>
                  <a:srgbClr val="27348B"/>
                </a:solidFill>
                <a:latin typeface="Calibri"/>
                <a:ea typeface="Calibri"/>
                <a:cs typeface="Calibri"/>
                <a:sym typeface="Calibri"/>
              </a:rPr>
              <a:t>Models vs pipelines</a:t>
            </a:r>
            <a:endParaRPr b="0" i="0" spc="0" sz="1400" u="none" cap="none" strike="noStrike">
              <a:solidFill>
                <a:schemeClr val="dk1"/>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lang="en-GB">
                <a:solidFill>
                  <a:srgbClr val="1B1F2A"/>
                </a:solidFill>
                <a:latin typeface="Calibri"/>
                <a:ea typeface="Calibri"/>
                <a:cs typeface="Calibri"/>
                <a:sym typeface="Calibri"/>
              </a:rPr>
              <a:t>Models are trained end-to-end with purpose built components</a:t>
            </a:r>
            <a:endParaRPr>
              <a:solidFill>
                <a:srgbClr val="1B1F2A"/>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Pipelines </a:t>
            </a:r>
            <a:r>
              <a:rPr lang="en-GB">
                <a:solidFill>
                  <a:srgbClr val="1B1F2A"/>
                </a:solidFill>
                <a:latin typeface="Calibri"/>
                <a:ea typeface="Calibri"/>
                <a:cs typeface="Calibri"/>
                <a:sym typeface="Calibri"/>
              </a:rPr>
              <a:t>usually use a frozen LVLM backbone with interchangeable components/backbones.</a:t>
            </a:r>
            <a:endParaRPr b="0" i="0" spc="0" sz="1400" u="none" cap="none" strike="noStrike">
              <a:solidFill>
                <a:srgbClr val="1B1F2A"/>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t/>
            </a:r>
            <a:endParaRPr>
              <a:solidFill>
                <a:srgbClr val="1B1F2A"/>
              </a:solidFill>
              <a:latin typeface="Calibri"/>
              <a:ea typeface="Calibri"/>
              <a:cs typeface="Calibri"/>
              <a:sym typeface="Calibri"/>
            </a:endParaRPr>
          </a:p>
        </p:txBody>
      </p:sp>
      <p:sp>
        <p:nvSpPr>
          <p:cNvPr id="151" name="Google Shape;151;p23"/>
          <p:cNvSpPr txBox="1"/>
          <p:nvPr/>
        </p:nvSpPr>
        <p:spPr>
          <a:xfrm>
            <a:off x="4746526" y="2703525"/>
            <a:ext cx="3985800" cy="8229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27348B"/>
              </a:buClr>
              <a:buSzPts val="1400"/>
              <a:buFont typeface="Calibri"/>
              <a:buChar char="●"/>
            </a:pPr>
            <a:r>
              <a:rPr b="1" i="0" lang="en-GB" spc="0" sz="1400" u="none" cap="none" strike="noStrike">
                <a:solidFill>
                  <a:srgbClr val="27348B"/>
                </a:solidFill>
                <a:latin typeface="Calibri"/>
                <a:ea typeface="Calibri"/>
                <a:cs typeface="Calibri"/>
                <a:sym typeface="Calibri"/>
              </a:rPr>
              <a:t>Modalities</a:t>
            </a:r>
            <a:endParaRPr b="0" i="0" spc="0" sz="1400" u="none" cap="none" strike="noStrike">
              <a:solidFill>
                <a:schemeClr val="dk1"/>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Encoding models use text, vision and layout; MLLM-centric models are mostly vision only.</a:t>
            </a:r>
            <a:endParaRPr b="0" i="0" spc="0" sz="1400" u="none" cap="none" strike="noStrike">
              <a:solidFill>
                <a:schemeClr val="dk1"/>
              </a:solidFill>
              <a:latin typeface="Calibri"/>
              <a:ea typeface="Calibri"/>
              <a:cs typeface="Calibri"/>
              <a:sym typeface="Calibri"/>
            </a:endParaRPr>
          </a:p>
        </p:txBody>
      </p:sp>
      <p:sp>
        <p:nvSpPr>
          <p:cNvPr id="152" name="Google Shape;152;p23"/>
          <p:cNvSpPr txBox="1"/>
          <p:nvPr/>
        </p:nvSpPr>
        <p:spPr>
          <a:xfrm>
            <a:off x="4746526" y="3574600"/>
            <a:ext cx="3985800" cy="8229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27348B"/>
              </a:buClr>
              <a:buSzPts val="1400"/>
              <a:buFont typeface="Calibri"/>
              <a:buChar char="●"/>
            </a:pPr>
            <a:r>
              <a:rPr b="1" i="0" lang="en-GB" spc="0" sz="1400" u="none" cap="none" strike="noStrike">
                <a:solidFill>
                  <a:srgbClr val="27348B"/>
                </a:solidFill>
                <a:latin typeface="Calibri"/>
                <a:ea typeface="Calibri"/>
                <a:cs typeface="Calibri"/>
                <a:sym typeface="Calibri"/>
              </a:rPr>
              <a:t>Search</a:t>
            </a:r>
            <a:endParaRPr b="0" i="0" spc="0" sz="1400" u="none" cap="none" strike="noStrike">
              <a:solidFill>
                <a:schemeClr val="dk1"/>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Appears only once retrieval is separated from answering.</a:t>
            </a:r>
            <a:endParaRPr b="0" i="0" spc="0" sz="1400" u="none" cap="none" strike="noStrike">
              <a:solidFill>
                <a:schemeClr val="dk1"/>
              </a:solidFill>
              <a:latin typeface="Calibri"/>
              <a:ea typeface="Calibri"/>
              <a:cs typeface="Calibri"/>
              <a:sym typeface="Calibri"/>
            </a:endParaRPr>
          </a:p>
        </p:txBody>
      </p:sp>
      <p:sp>
        <p:nvSpPr>
          <p:cNvPr id="153" name="Google Shape;153;p23"/>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154" name="Google Shape;154;p23"/>
          <p:cNvSpPr/>
          <p:nvPr/>
        </p:nvSpPr>
        <p:spPr>
          <a:xfrm>
            <a:off x="2162281" y="2387267"/>
            <a:ext cx="802294" cy="1747144"/>
          </a:xfrm>
          <a:prstGeom prst="rect">
            <a:avLst/>
          </a:prstGeom>
          <a:noFill/>
          <a:ln cap="flat" cmpd="sng" w="22225">
            <a:solidFill>
              <a:srgbClr val="ED7D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155" name="Google Shape;155;p23"/>
          <p:cNvSpPr/>
          <p:nvPr/>
        </p:nvSpPr>
        <p:spPr>
          <a:xfrm>
            <a:off x="2958202" y="1359480"/>
            <a:ext cx="200948" cy="2774253"/>
          </a:xfrm>
          <a:prstGeom prst="rect">
            <a:avLst/>
          </a:prstGeom>
          <a:noFill/>
          <a:ln cap="flat" cmpd="sng" w="22225">
            <a:solidFill>
              <a:srgbClr val="ED7D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156" name="Google Shape;156;p23"/>
          <p:cNvSpPr/>
          <p:nvPr/>
        </p:nvSpPr>
        <p:spPr>
          <a:xfrm>
            <a:off x="3170773" y="2387267"/>
            <a:ext cx="419892" cy="1747144"/>
          </a:xfrm>
          <a:prstGeom prst="rect">
            <a:avLst/>
          </a:prstGeom>
          <a:noFill/>
          <a:ln cap="flat" cmpd="sng" w="22225">
            <a:solidFill>
              <a:srgbClr val="ED7D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Inference-Time Strategies</a:t>
            </a:r>
            <a:endParaRPr sz="2300"/>
          </a:p>
        </p:txBody>
      </p:sp>
      <p:sp>
        <p:nvSpPr>
          <p:cNvPr id="163" name="Google Shape;163;p24"/>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 </a:t>
            </a:r>
            <a:endParaRPr b="0" i="0" spc="0" sz="900" u="none" cap="none" strike="noStrike">
              <a:solidFill>
                <a:schemeClr val="dk1"/>
              </a:solidFill>
              <a:latin typeface="Calibri"/>
              <a:ea typeface="Calibri"/>
              <a:cs typeface="Calibri"/>
              <a:sym typeface="Calibri"/>
            </a:endParaRPr>
          </a:p>
        </p:txBody>
      </p:sp>
      <p:sp>
        <p:nvSpPr>
          <p:cNvPr id="164" name="Google Shape;164;p24"/>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lang="en-GB">
                <a:solidFill>
                  <a:srgbClr val="1B1F2A"/>
                </a:solidFill>
                <a:latin typeface="Calibri"/>
                <a:ea typeface="Calibri"/>
                <a:cs typeface="Calibri"/>
                <a:sym typeface="Calibri"/>
              </a:rPr>
              <a:t>Training free strategies to </a:t>
            </a:r>
            <a:r>
              <a:rPr lang="en-GB">
                <a:solidFill>
                  <a:srgbClr val="1B1F2A"/>
                </a:solidFill>
                <a:latin typeface="Calibri"/>
                <a:ea typeface="Calibri"/>
                <a:cs typeface="Calibri"/>
                <a:sym typeface="Calibri"/>
              </a:rPr>
              <a:t>improve document understanding performance. Retrieval and Agentic methods are used for Retrieval Augmented and Adaptive Trajectory Pipelines; Reasoning strategies can be applied to any LVLM.</a:t>
            </a:r>
            <a:endParaRPr b="0" i="0" spc="0" sz="1400" u="none" cap="none" strike="noStrike">
              <a:solidFill>
                <a:schemeClr val="dk1"/>
              </a:solidFill>
              <a:latin typeface="Calibri"/>
              <a:ea typeface="Calibri"/>
              <a:cs typeface="Calibri"/>
              <a:sym typeface="Calibri"/>
            </a:endParaRPr>
          </a:p>
        </p:txBody>
      </p:sp>
      <p:pic>
        <p:nvPicPr>
          <p:cNvPr descr="inference_strategies.png" id="165" name="Google Shape;165;p24"/>
          <p:cNvPicPr preferRelativeResize="0"/>
          <p:nvPr/>
        </p:nvPicPr>
        <p:blipFill rotWithShape="1">
          <a:blip r:embed="rId3">
            <a:alphaModFix/>
          </a:blip>
          <a:srcRect b="0" l="0" r="0" t="0"/>
          <a:stretch/>
        </p:blipFill>
        <p:spPr>
          <a:xfrm>
            <a:off x="411593" y="1204220"/>
            <a:ext cx="8320811" cy="3029930"/>
          </a:xfrm>
          <a:prstGeom prst="rect">
            <a:avLst/>
          </a:prstGeom>
          <a:noFill/>
          <a:ln>
            <a:noFill/>
          </a:ln>
        </p:spPr>
      </p:pic>
      <p:sp>
        <p:nvSpPr>
          <p:cNvPr id="166" name="Google Shape;166;p24"/>
          <p:cNvSpPr txBox="1"/>
          <p:nvPr/>
        </p:nvSpPr>
        <p:spPr>
          <a:xfrm>
            <a:off x="411588" y="4316450"/>
            <a:ext cx="27051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Relation-aware retrieval finds links similarity misses</a:t>
            </a:r>
            <a:endParaRPr b="0" i="0" spc="0" sz="1100" u="none" cap="none" strike="noStrike">
              <a:solidFill>
                <a:schemeClr val="dk1"/>
              </a:solidFill>
              <a:latin typeface="Calibri"/>
              <a:ea typeface="Calibri"/>
              <a:cs typeface="Calibri"/>
              <a:sym typeface="Calibri"/>
            </a:endParaRPr>
          </a:p>
        </p:txBody>
      </p:sp>
      <p:sp>
        <p:nvSpPr>
          <p:cNvPr id="167" name="Google Shape;167;p24"/>
          <p:cNvSpPr txBox="1"/>
          <p:nvPr/>
        </p:nvSpPr>
        <p:spPr>
          <a:xfrm>
            <a:off x="3253777" y="4316445"/>
            <a:ext cx="26364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A chain cannot recover what retrieval missed</a:t>
            </a:r>
            <a:endParaRPr b="0" i="0" spc="0" sz="1100" u="none" cap="none" strike="noStrike">
              <a:solidFill>
                <a:schemeClr val="dk1"/>
              </a:solidFill>
              <a:latin typeface="Calibri"/>
              <a:ea typeface="Calibri"/>
              <a:cs typeface="Calibri"/>
              <a:sym typeface="Calibri"/>
            </a:endParaRPr>
          </a:p>
        </p:txBody>
      </p:sp>
      <p:sp>
        <p:nvSpPr>
          <p:cNvPr id="168" name="Google Shape;168;p24"/>
          <p:cNvSpPr txBox="1"/>
          <p:nvPr/>
        </p:nvSpPr>
        <p:spPr>
          <a:xfrm>
            <a:off x="6027380" y="4316445"/>
            <a:ext cx="26364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Lifts the recall ceiling; cost is hard to bound</a:t>
            </a:r>
            <a:endParaRPr b="0" i="0" spc="0" sz="1100" u="none" cap="none" strike="noStrike">
              <a:solidFill>
                <a:schemeClr val="dk1"/>
              </a:solidFill>
              <a:latin typeface="Calibri"/>
              <a:ea typeface="Calibri"/>
              <a:cs typeface="Calibri"/>
              <a:sym typeface="Calibri"/>
            </a:endParaRPr>
          </a:p>
        </p:txBody>
      </p:sp>
      <p:sp>
        <p:nvSpPr>
          <p:cNvPr id="169" name="Google Shape;169;p24"/>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Training Strategies &amp; Datasets</a:t>
            </a:r>
            <a:endParaRPr sz="2300"/>
          </a:p>
        </p:txBody>
      </p:sp>
      <p:sp>
        <p:nvSpPr>
          <p:cNvPr id="176" name="Google Shape;176;p25"/>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a:t>
            </a:r>
            <a:endParaRPr b="0" i="0" spc="0" sz="900" u="none" cap="none" strike="noStrike">
              <a:solidFill>
                <a:schemeClr val="dk1"/>
              </a:solidFill>
              <a:latin typeface="Calibri"/>
              <a:ea typeface="Calibri"/>
              <a:cs typeface="Calibri"/>
              <a:sym typeface="Calibri"/>
            </a:endParaRPr>
          </a:p>
        </p:txBody>
      </p:sp>
      <p:sp>
        <p:nvSpPr>
          <p:cNvPr id="177" name="Google Shape;177;p25"/>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Pretraining is rare; </a:t>
            </a:r>
            <a:r>
              <a:rPr b="1" i="0" lang="en-GB" spc="0" sz="1400" u="none" cap="none" strike="noStrike">
                <a:solidFill>
                  <a:srgbClr val="27348B"/>
                </a:solidFill>
                <a:latin typeface="Calibri"/>
                <a:ea typeface="Calibri"/>
                <a:cs typeface="Calibri"/>
                <a:sym typeface="Calibri"/>
              </a:rPr>
              <a:t>fine-tuning carries the weight</a:t>
            </a:r>
            <a:r>
              <a:rPr b="0" i="0" lang="en-GB" spc="0" sz="1400" u="none" cap="none" strike="noStrike">
                <a:solidFill>
                  <a:srgbClr val="1B1F2A"/>
                </a:solidFill>
                <a:latin typeface="Calibri"/>
                <a:ea typeface="Calibri"/>
                <a:cs typeface="Calibri"/>
                <a:sym typeface="Calibri"/>
              </a:rPr>
              <a:t>, with RL layered on top.</a:t>
            </a:r>
            <a:endParaRPr b="0" i="0" spc="0" sz="1400" u="none" cap="none" strike="noStrike">
              <a:solidFill>
                <a:schemeClr val="dk1"/>
              </a:solidFill>
              <a:latin typeface="Calibri"/>
              <a:ea typeface="Calibri"/>
              <a:cs typeface="Calibri"/>
              <a:sym typeface="Calibri"/>
            </a:endParaRPr>
          </a:p>
        </p:txBody>
      </p:sp>
      <p:sp>
        <p:nvSpPr>
          <p:cNvPr id="178" name="Google Shape;178;p25"/>
          <p:cNvSpPr txBox="1"/>
          <p:nvPr/>
        </p:nvSpPr>
        <p:spPr>
          <a:xfrm>
            <a:off x="411480" y="1200150"/>
            <a:ext cx="384048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TRAINING</a:t>
            </a:r>
            <a:endParaRPr b="0" i="0" spc="0" sz="900" u="none" cap="none" strike="noStrike">
              <a:solidFill>
                <a:schemeClr val="dk1"/>
              </a:solidFill>
              <a:latin typeface="Calibri"/>
              <a:ea typeface="Calibri"/>
              <a:cs typeface="Calibri"/>
              <a:sym typeface="Calibri"/>
            </a:endParaRPr>
          </a:p>
        </p:txBody>
      </p:sp>
      <p:sp>
        <p:nvSpPr>
          <p:cNvPr id="179" name="Google Shape;179;p25"/>
          <p:cNvSpPr txBox="1"/>
          <p:nvPr/>
        </p:nvSpPr>
        <p:spPr>
          <a:xfrm>
            <a:off x="411480" y="1474470"/>
            <a:ext cx="3840480" cy="219456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Retrieval</a:t>
            </a:r>
            <a:r>
              <a:rPr b="0" i="0" lang="en-GB" spc="0" sz="1400" u="none" cap="none" strike="noStrike">
                <a:solidFill>
                  <a:srgbClr val="1B1F2A"/>
                </a:solidFill>
                <a:latin typeface="Calibri"/>
                <a:ea typeface="Calibri"/>
                <a:cs typeface="Calibri"/>
                <a:sym typeface="Calibri"/>
              </a:rPr>
              <a:t>: alignment, cross-page fusion, logical relevance</a:t>
            </a:r>
            <a:endParaRPr b="0" i="0" spc="0" sz="1400" u="none" cap="none" strike="noStrike">
              <a:solidFill>
                <a:schemeClr val="dk1"/>
              </a:solidFill>
              <a:latin typeface="Calibri"/>
              <a:ea typeface="Calibri"/>
              <a:cs typeface="Calibri"/>
              <a:sym typeface="Calibri"/>
            </a:endParaRPr>
          </a:p>
          <a:p>
            <a:pPr indent="-317500" lvl="0" marL="457200" marR="0" rtl="0" algn="l">
              <a:lnSpc>
                <a:spcPct val="100000"/>
              </a:lnSpc>
              <a:spcBef>
                <a:spcPts val="1000"/>
              </a:spcBef>
              <a:spcAft>
                <a:spcPts val="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Reasoning</a:t>
            </a:r>
            <a:r>
              <a:rPr b="0" i="0" lang="en-GB" spc="0" sz="1400" u="none" cap="none" strike="noStrike">
                <a:solidFill>
                  <a:srgbClr val="1B1F2A"/>
                </a:solidFill>
                <a:latin typeface="Calibri"/>
                <a:ea typeface="Calibri"/>
                <a:cs typeface="Calibri"/>
                <a:sym typeface="Calibri"/>
              </a:rPr>
              <a:t>: trace imitation, then reward-driven GRPO</a:t>
            </a:r>
            <a:endParaRPr b="0" i="0" spc="0" sz="1400" u="none" cap="none" strike="noStrike">
              <a:solidFill>
                <a:schemeClr val="dk1"/>
              </a:solidFill>
              <a:latin typeface="Calibri"/>
              <a:ea typeface="Calibri"/>
              <a:cs typeface="Calibri"/>
              <a:sym typeface="Calibri"/>
            </a:endParaRPr>
          </a:p>
          <a:p>
            <a:pPr indent="-317500" lvl="0" marL="457200" marR="0" rtl="0" algn="l">
              <a:lnSpc>
                <a:spcPct val="100000"/>
              </a:lnSpc>
              <a:spcBef>
                <a:spcPts val="1000"/>
              </a:spcBef>
              <a:spcAft>
                <a:spcPts val="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Agentic</a:t>
            </a:r>
            <a:r>
              <a:rPr b="0" i="0" lang="en-GB" spc="0" sz="1400" u="none" cap="none" strike="noStrike">
                <a:solidFill>
                  <a:srgbClr val="1B1F2A"/>
                </a:solidFill>
                <a:latin typeface="Calibri"/>
                <a:ea typeface="Calibri"/>
                <a:cs typeface="Calibri"/>
                <a:sym typeface="Calibri"/>
              </a:rPr>
              <a:t>: trajectory distillation, then RL</a:t>
            </a:r>
            <a:endParaRPr b="0" i="0" spc="0" sz="1400" u="none" cap="none" strike="noStrike">
              <a:solidFill>
                <a:schemeClr val="dk1"/>
              </a:solidFill>
              <a:latin typeface="Calibri"/>
              <a:ea typeface="Calibri"/>
              <a:cs typeface="Calibri"/>
              <a:sym typeface="Calibri"/>
            </a:endParaRPr>
          </a:p>
          <a:p>
            <a:pPr indent="-317500" lvl="0" marL="457200" marR="0" rtl="0" algn="l">
              <a:lnSpc>
                <a:spcPct val="100000"/>
              </a:lnSpc>
              <a:spcBef>
                <a:spcPts val="1000"/>
              </a:spcBef>
              <a:spcAft>
                <a:spcPts val="100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Cross-cutting</a:t>
            </a:r>
            <a:r>
              <a:rPr b="0" i="0" lang="en-GB" spc="0" sz="1400" u="none" cap="none" strike="noStrike">
                <a:solidFill>
                  <a:srgbClr val="1B1F2A"/>
                </a:solidFill>
                <a:latin typeface="Calibri"/>
                <a:ea typeface="Calibri"/>
                <a:cs typeface="Calibri"/>
                <a:sym typeface="Calibri"/>
              </a:rPr>
              <a:t>: PEFT / LoRA, single- to multi-page curricula</a:t>
            </a:r>
            <a:endParaRPr b="0" i="0" spc="0" sz="1400" u="none" cap="none" strike="noStrike">
              <a:solidFill>
                <a:schemeClr val="dk1"/>
              </a:solidFill>
              <a:latin typeface="Calibri"/>
              <a:ea typeface="Calibri"/>
              <a:cs typeface="Calibri"/>
              <a:sym typeface="Calibri"/>
            </a:endParaRPr>
          </a:p>
        </p:txBody>
      </p:sp>
      <p:sp>
        <p:nvSpPr>
          <p:cNvPr id="180" name="Google Shape;180;p25"/>
          <p:cNvSpPr txBox="1"/>
          <p:nvPr/>
        </p:nvSpPr>
        <p:spPr>
          <a:xfrm>
            <a:off x="411480" y="3806190"/>
            <a:ext cx="3840480" cy="6172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Fine-tuning data is mostly LVLM-synthesised; </a:t>
            </a:r>
            <a:r>
              <a:rPr b="1" i="0" lang="en-GB" spc="0" sz="1100" u="none" cap="none" strike="noStrike">
                <a:solidFill>
                  <a:srgbClr val="1B1F2A"/>
                </a:solidFill>
                <a:latin typeface="Calibri"/>
                <a:ea typeface="Calibri"/>
                <a:cs typeface="Calibri"/>
                <a:sym typeface="Calibri"/>
              </a:rPr>
              <a:t>16 of 19</a:t>
            </a:r>
            <a:r>
              <a:rPr b="0" i="0" lang="en-GB" spc="0" sz="1100" u="none" cap="none" strike="noStrike">
                <a:solidFill>
                  <a:srgbClr val="5A6072"/>
                </a:solidFill>
                <a:latin typeface="Calibri"/>
                <a:ea typeface="Calibri"/>
                <a:cs typeface="Calibri"/>
                <a:sym typeface="Calibri"/>
              </a:rPr>
              <a:t> papers that fine-tune on MP-DocVQA also evaluate on it.</a:t>
            </a:r>
            <a:endParaRPr b="0" i="0" spc="0" sz="1100" u="none" cap="none" strike="noStrike">
              <a:solidFill>
                <a:schemeClr val="dk1"/>
              </a:solidFill>
              <a:latin typeface="Calibri"/>
              <a:ea typeface="Calibri"/>
              <a:cs typeface="Calibri"/>
              <a:sym typeface="Calibri"/>
            </a:endParaRPr>
          </a:p>
        </p:txBody>
      </p:sp>
      <p:sp>
        <p:nvSpPr>
          <p:cNvPr id="181" name="Google Shape;181;p25"/>
          <p:cNvSpPr txBox="1"/>
          <p:nvPr/>
        </p:nvSpPr>
        <p:spPr>
          <a:xfrm>
            <a:off x="4732020" y="1200150"/>
            <a:ext cx="397764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BENCHMARKS: AVERAGE PAGES PER DOCUMENT</a:t>
            </a:r>
            <a:endParaRPr b="0" i="0" spc="0" sz="900" u="none" cap="none" strike="noStrike">
              <a:solidFill>
                <a:schemeClr val="dk1"/>
              </a:solidFill>
              <a:latin typeface="Calibri"/>
              <a:ea typeface="Calibri"/>
              <a:cs typeface="Calibri"/>
              <a:sym typeface="Calibri"/>
            </a:endParaRPr>
          </a:p>
        </p:txBody>
      </p:sp>
      <p:sp>
        <p:nvSpPr>
          <p:cNvPr id="182" name="Google Shape;182;p25"/>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pic>
        <p:nvPicPr>
          <p:cNvPr id="183" name="Google Shape;183;p25"/>
          <p:cNvPicPr preferRelativeResize="0"/>
          <p:nvPr/>
        </p:nvPicPr>
        <p:blipFill rotWithShape="1">
          <a:blip r:embed="rId3">
            <a:alphaModFix/>
          </a:blip>
          <a:srcRect b="0" l="0" r="0" t="0"/>
          <a:stretch/>
        </p:blipFill>
        <p:spPr>
          <a:xfrm>
            <a:off x="4732027" y="1474473"/>
            <a:ext cx="3411526" cy="26054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12" name="Google Shape;112;p21"/>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Locating Failure in Multi-Page </a:t>
            </a:r>
            <a:r>
              <a:rPr lang="en-GB"/>
              <a:t>Document Understanding</a:t>
            </a:r>
            <a:endParaRPr sz="2300"/>
          </a:p>
        </p:txBody>
      </p:sp>
      <p:sp>
        <p:nvSpPr>
          <p:cNvPr id="113" name="Google Shape;113;p21"/>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3 · Empirical study</a:t>
            </a:r>
            <a:r>
              <a:rPr lang="en-GB" sz="900">
                <a:solidFill>
                  <a:srgbClr val="5A6072"/>
                </a:solidFill>
                <a:latin typeface="Calibri"/>
                <a:ea typeface="Calibri"/>
                <a:cs typeface="Calibri"/>
                <a:sym typeface="Calibri"/>
              </a:rPr>
              <a:t/>
            </a:r>
            <a:endParaRPr b="0" i="0" spc="0" sz="900" u="none" cap="none" strike="noStrike">
              <a:solidFill>
                <a:schemeClr val="dk1"/>
              </a:solidFill>
              <a:latin typeface="Calibri"/>
              <a:ea typeface="Calibri"/>
              <a:cs typeface="Calibri"/>
              <a:sym typeface="Calibri"/>
            </a:endParaRPr>
          </a:p>
        </p:txBody>
      </p:sp>
      <p:pic>
        <p:nvPicPr>
          <p:cNvPr id="189" name="Picture 188" descr="empirical_page1_crop.png"/>
          <p:cNvPicPr>
            <a:picLocks noChangeAspect="1"/>
          </p:cNvPicPr>
          <p:nvPr/>
        </p:nvPicPr>
        <p:blipFill>
          <a:blip r:embed="rId4"/>
          <a:stretch>
            <a:fillRect/>
          </a:stretch>
        </p:blipFill>
        <p:spPr>
          <a:xfrm>
            <a:off x="411480" y="1161288"/>
            <a:ext cx="2816352" cy="3392468"/>
          </a:xfrm>
          <a:prstGeom prst="rect">
            <a:avLst/>
          </a:prstGeom>
        </p:spPr>
      </p:pic>
      <p:sp>
        <p:nvSpPr>
          <p:cNvPr id="115" name="Google Shape;115;p21"/>
          <p:cNvSpPr/>
          <p:nvPr/>
        </p:nvSpPr>
        <p:spPr>
          <a:xfrm>
            <a:off x="411480" y="1165860"/>
            <a:ext cx="2811780" cy="339471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0" name="TextBox 189"/>
          <p:cNvSpPr txBox="1"/>
          <p:nvPr/>
        </p:nvSpPr>
        <p:spPr>
          <a:xfrm>
            <a:off x="6784848" y="758952"/>
            <a:ext cx="1947672" cy="292608"/>
          </a:xfrm>
          <a:prstGeom prst="rect">
            <a:avLst/>
          </a:prstGeom>
          <a:noFill/>
        </p:spPr>
        <p:txBody>
          <a:bodyPr wrap="square" lIns="0" rIns="0" tIns="0" bIns="0" anchor="ctr">
            <a:spAutoFit/>
          </a:bodyPr>
          <a:lstStyle/>
          <a:p>
            <a:r>
              <a:rPr sz="1600" b="1">
                <a:solidFill>
                  <a:srgbClr val="184FA9"/>
                </a:solidFill>
                <a:latin typeface="Calibri"/>
              </a:rPr>
              <a:t>UNDER REVIEW</a:t>
            </a:r>
          </a:p>
        </p:txBody>
      </p:sp>
      <p:sp>
        <p:nvSpPr>
          <p:cNvPr id="117" name="Google Shape;117;p21"/>
          <p:cNvSpPr txBox="1"/>
          <p:nvPr/>
        </p:nvSpPr>
        <p:spPr>
          <a:xfrm>
            <a:off x="3634790" y="2020005"/>
            <a:ext cx="50976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RESEARCH GAP</a:t>
            </a:r>
            <a:endParaRPr b="0" i="0" spc="0" sz="900" u="none" cap="none" strike="noStrike">
              <a:solidFill>
                <a:schemeClr val="dk1"/>
              </a:solidFill>
              <a:latin typeface="Calibri"/>
              <a:ea typeface="Calibri"/>
              <a:cs typeface="Calibri"/>
              <a:sym typeface="Calibri"/>
            </a:endParaRPr>
          </a:p>
        </p:txBody>
      </p:sp>
      <p:sp>
        <p:nvSpPr>
          <p:cNvPr id="118" name="Google Shape;118;p21"/>
          <p:cNvSpPr txBox="1"/>
          <p:nvPr/>
        </p:nvSpPr>
        <p:spPr>
          <a:xfrm>
            <a:off x="3634790" y="2260035"/>
            <a:ext cx="50976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A final wrong answer hides </a:t>
            </a:r>
            <a:r>
              <a:rPr b="1" i="0" lang="en-GB" spc="0" sz="1400" u="none" cap="none" strike="noStrike">
                <a:solidFill>
                  <a:srgbClr val="27348B"/>
                </a:solidFill>
                <a:latin typeface="Calibri"/>
                <a:ea typeface="Calibri"/>
                <a:cs typeface="Calibri"/>
                <a:sym typeface="Calibri"/>
              </a:rPr>
              <a:t>where evidence fails</a:t>
            </a:r>
            <a:r>
              <a:rPr b="0" i="0" lang="en-GB" spc="0" sz="1400" u="none" cap="none" strike="noStrike">
                <a:solidFill>
                  <a:srgbClr val="1B1F2A"/>
                </a:solidFill>
                <a:latin typeface="Calibri"/>
                <a:ea typeface="Calibri"/>
                <a:cs typeface="Calibri"/>
                <a:sym typeface="Calibri"/>
              </a:rPr>
              <a:t>: encoding, selection, or reasoning.</a:t>
            </a:r>
            <a:endParaRPr b="0" i="0" spc="0" sz="1400" u="none" cap="none" strike="noStrike">
              <a:solidFill>
                <a:schemeClr val="dk1"/>
              </a:solidFill>
              <a:latin typeface="Calibri"/>
              <a:ea typeface="Calibri"/>
              <a:cs typeface="Calibri"/>
              <a:sym typeface="Calibri"/>
            </a:endParaRPr>
          </a:p>
        </p:txBody>
      </p:sp>
      <p:sp>
        <p:nvSpPr>
          <p:cNvPr id="119" name="Google Shape;119;p21"/>
          <p:cNvSpPr txBox="1"/>
          <p:nvPr/>
        </p:nvSpPr>
        <p:spPr>
          <a:xfrm>
            <a:off x="3634790" y="2980125"/>
            <a:ext cx="50976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CONTRIBUTIONS</a:t>
            </a:r>
            <a:endParaRPr b="0" i="0" spc="0" sz="900" u="none" cap="none" strike="noStrike">
              <a:solidFill>
                <a:schemeClr val="dk1"/>
              </a:solidFill>
              <a:latin typeface="Calibri"/>
              <a:ea typeface="Calibri"/>
              <a:cs typeface="Calibri"/>
              <a:sym typeface="Calibri"/>
            </a:endParaRPr>
          </a:p>
        </p:txBody>
      </p:sp>
      <p:sp>
        <p:nvSpPr>
          <p:cNvPr id="120" name="Google Shape;120;p21"/>
          <p:cNvSpPr txBox="1"/>
          <p:nvPr/>
        </p:nvSpPr>
        <p:spPr>
          <a:xfrm>
            <a:off x="3634790" y="3220155"/>
            <a:ext cx="5097600" cy="123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Three architecture-independent </a:t>
            </a:r>
            <a:r>
              <a:rPr b="1" i="0" lang="en-GB" spc="0" sz="1400" u="none" cap="none" strike="noStrike">
                <a:solidFill>
                  <a:srgbClr val="27348B"/>
                </a:solidFill>
                <a:latin typeface="Calibri"/>
                <a:ea typeface="Calibri"/>
                <a:cs typeface="Calibri"/>
                <a:sym typeface="Calibri"/>
              </a:rPr>
              <a:t>failure loci</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1B1F2A"/>
              </a:buClr>
              <a:buSzPts val="1400"/>
              <a:buFont typeface="Calibri"/>
              <a:buNone/>
            </a:pPr>
            <a:r>
              <a:rPr lang="en-GB">
                <a:solidFill>
                  <a:srgbClr val="1B1F2A"/>
                </a:solidFill>
                <a:latin typeface="Calibri"/>
                <a:ea typeface="Calibri"/>
                <a:cs typeface="Calibri"/>
                <a:sym typeface="Calibri"/>
              </a:rPr>
              <a:t>Controlled interventions across two benchmarks and two model families</a:t>
            </a:r>
            <a:r>
              <a:rPr b="1" i="0" lang="en-GB" spc="0" sz="1400" u="none" cap="none" strike="noStrike">
                <a:solidFill>
                  <a:srgbClr val="27348B"/>
                </a:solidFill>
                <a:latin typeface="Calibri"/>
                <a:ea typeface="Calibri"/>
                <a:cs typeface="Calibri"/>
                <a:sym typeface="Calibri"/>
              </a:rPr>
              <a:t/>
            </a:r>
            <a:r>
              <a:rPr b="0" i="0" lang="en-GB" spc="0" sz="1400" u="none" cap="none" strike="noStrike">
                <a:solidFill>
                  <a:srgbClr val="1B1F2A"/>
                </a:solidFill>
                <a:latin typeface="Calibri"/>
                <a:ea typeface="Calibri"/>
                <a:cs typeface="Calibri"/>
                <a:sym typeface="Calibri"/>
              </a:rPr>
              <a:t/>
            </a:r>
            <a:r>
              <a:rPr i="0" lang="en-GB" spc="0" sz="1400" u="none" cap="none" strike="noStrike">
                <a:solidFill>
                  <a:schemeClr val="dk1"/>
                </a:solidFill>
                <a:latin typeface="Calibri"/>
                <a:ea typeface="Calibri"/>
                <a:cs typeface="Calibri"/>
                <a:sym typeface="Calibri"/>
              </a:rPr>
              <a:t/>
            </a:r>
            <a:r>
              <a:rPr lang="en-GB">
                <a:solidFill>
                  <a:schemeClr val="dk1"/>
                </a:solidFill>
                <a:latin typeface="Calibri"/>
                <a:ea typeface="Calibri"/>
                <a:cs typeface="Calibri"/>
                <a:sym typeface="Calibri"/>
              </a:rPr>
              <a:t/>
            </a:r>
            <a:r>
              <a:rPr b="1" lang="en-GB">
                <a:solidFill>
                  <a:srgbClr val="27348B"/>
                </a:solidFill>
                <a:latin typeface="Calibri"/>
                <a:ea typeface="Calibri"/>
                <a:cs typeface="Calibri"/>
                <a:sym typeface="Calibri"/>
              </a:rPr>
              <a:t/>
            </a:r>
            <a:r>
              <a:rPr lang="en-GB">
                <a:solidFill>
                  <a:schemeClr val="dk1"/>
                </a:solidFill>
                <a:latin typeface="Calibri"/>
                <a:ea typeface="Calibri"/>
                <a:cs typeface="Calibri"/>
                <a:sym typeface="Calibri"/>
              </a:rPr>
              <a:t/>
            </a:r>
            <a:endParaRPr i="0" spc="0" sz="14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Deployment guidance from accuracy and cost</a:t>
            </a:r>
            <a:r>
              <a:rPr b="0" i="0" lang="en-GB" spc="0" sz="1400" u="none" cap="none" strike="noStrike">
                <a:solidFill>
                  <a:srgbClr val="1B1F2A"/>
                </a:solidFill>
                <a:latin typeface="Calibri"/>
                <a:ea typeface="Calibri"/>
                <a:cs typeface="Calibri"/>
                <a:sym typeface="Calibri"/>
              </a:rPr>
              <a:t/>
            </a:r>
            <a:endParaRPr b="0" i="0" spc="0" sz="1400" u="none" cap="none" strike="noStrike">
              <a:solidFill>
                <a:schemeClr val="dk1"/>
              </a:solidFill>
              <a:latin typeface="Calibri"/>
              <a:ea typeface="Calibri"/>
              <a:cs typeface="Calibri"/>
              <a:sym typeface="Calibri"/>
            </a:endParaRPr>
          </a:p>
        </p:txBody>
      </p:sp>
      <p:sp>
        <p:nvSpPr>
          <p:cNvPr id="121" name="Google Shape;121;p21"/>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122" name="Google Shape;122;p21"/>
          <p:cNvSpPr txBox="1"/>
          <p:nvPr/>
        </p:nvSpPr>
        <p:spPr>
          <a:xfrm>
            <a:off x="3565650" y="1301400"/>
            <a:ext cx="5166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rgbClr val="980000"/>
                </a:solidFill>
                <a:latin typeface="Calibri"/>
                <a:ea typeface="Calibri"/>
                <a:cs typeface="Calibri"/>
                <a:sym typeface="Calibri"/>
              </a:rPr>
              <a:t>First-authored empirical study, </a:t>
            </a:r>
            <a:r>
              <a:rPr lang="en-GB">
                <a:solidFill>
                  <a:srgbClr val="1B1F2A"/>
                </a:solidFill>
                <a:latin typeface="Calibri"/>
                <a:ea typeface="Calibri"/>
                <a:cs typeface="Calibri"/>
                <a:sym typeface="Calibri"/>
              </a:rPr>
              <a:t>under review</a:t>
            </a:r>
            <a:r>
              <a:rPr b="1" lang="en-GB">
                <a:solidFill>
                  <a:srgbClr val="980000"/>
                </a:solidFill>
                <a:latin typeface="Calibri"/>
                <a:ea typeface="Calibri"/>
                <a:cs typeface="Calibri"/>
                <a:sym typeface="Calibri"/>
              </a:rPr>
              <a:t/>
            </a:r>
            <a:r>
              <a:rPr lang="en-GB">
                <a:solidFill>
                  <a:srgbClr val="1B1F2A"/>
                </a:solidFill>
                <a:latin typeface="Calibri"/>
                <a:ea typeface="Calibri"/>
                <a:cs typeface="Calibri"/>
                <a:sym typeface="Calibri"/>
              </a:rPr>
              <a:t/>
            </a:r>
            <a:endParaRPr>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Attribution by Construction</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230" name="TextBox 229"/>
          <p:cNvSpPr txBox="1"/>
          <p:nvPr/>
        </p:nvSpPr>
        <p:spPr>
          <a:xfrm>
            <a:off x="411480" y="713232"/>
            <a:ext cx="8321040" cy="274320"/>
          </a:xfrm>
          <a:prstGeom prst="rect">
            <a:avLst/>
          </a:prstGeom>
          <a:noFill/>
        </p:spPr>
        <p:txBody>
          <a:bodyPr wrap="square" lIns="0" rIns="0" tIns="0" bIns="0" anchor="ctr">
            <a:spAutoFit/>
          </a:bodyPr>
          <a:lstStyle/>
          <a:p>
            <a:pPr algn="l"/>
            <a:r>
              <a:rPr sz="1500" b="1">
                <a:solidFill>
                  <a:srgbClr val="1A56B0"/>
                </a:solidFill>
                <a:latin typeface="Calibri"/>
              </a:rPr>
              <a:t>Change one stage while holding the other two fixed.</a:t>
            </a:r>
          </a:p>
        </p:txBody>
      </p:sp>
      <p:pic>
        <p:nvPicPr>
          <p:cNvPr id="231" name="Picture 230" descr="image.png"/>
          <p:cNvPicPr>
            <a:picLocks noChangeAspect="1"/>
          </p:cNvPicPr>
          <p:nvPr/>
        </p:nvPicPr>
        <p:blipFill>
          <a:blip r:embed="rId3"/>
          <a:stretch>
            <a:fillRect/>
          </a:stretch>
        </p:blipFill>
        <p:spPr>
          <a:xfrm>
            <a:off x="502920" y="1097280"/>
            <a:ext cx="8138160" cy="2450592"/>
          </a:xfrm>
          <a:prstGeom prst="rect">
            <a:avLst/>
          </a:prstGeom>
        </p:spPr>
      </p:pic>
      <p:sp>
        <p:nvSpPr>
          <p:cNvPr id="232" name="TextBox 231"/>
          <p:cNvSpPr txBox="1"/>
          <p:nvPr/>
        </p:nvSpPr>
        <p:spPr>
          <a:xfrm>
            <a:off x="502920" y="3703320"/>
            <a:ext cx="2606040" cy="219456"/>
          </a:xfrm>
          <a:prstGeom prst="rect">
            <a:avLst/>
          </a:prstGeom>
          <a:noFill/>
        </p:spPr>
        <p:txBody>
          <a:bodyPr wrap="square" lIns="0" rIns="0" tIns="0" bIns="0" anchor="ctr">
            <a:spAutoFit/>
          </a:bodyPr>
          <a:lstStyle/>
          <a:p>
            <a:pPr algn="l"/>
            <a:r>
              <a:rPr sz="1000" b="1">
                <a:solidFill>
                  <a:srgbClr val="1F4E79"/>
                </a:solidFill>
                <a:latin typeface="Calibri"/>
              </a:rPr>
              <a:t>REPRESENTATION</a:t>
            </a:r>
          </a:p>
        </p:txBody>
      </p:sp>
      <p:sp>
        <p:nvSpPr>
          <p:cNvPr id="233" name="TextBox 232"/>
          <p:cNvSpPr txBox="1"/>
          <p:nvPr/>
        </p:nvSpPr>
        <p:spPr>
          <a:xfrm>
            <a:off x="502920" y="3950208"/>
            <a:ext cx="2606040" cy="512064"/>
          </a:xfrm>
          <a:prstGeom prst="rect">
            <a:avLst/>
          </a:prstGeom>
          <a:noFill/>
        </p:spPr>
        <p:txBody>
          <a:bodyPr wrap="square" lIns="0" rIns="0" tIns="0" bIns="0" anchor="ctr">
            <a:spAutoFit/>
          </a:bodyPr>
          <a:lstStyle/>
          <a:p>
            <a:pPr algn="l"/>
            <a:r>
              <a:rPr sz="1200" b="0">
                <a:solidFill>
                  <a:srgbClr val="14181E"/>
                </a:solidFill>
                <a:latin typeface="Calibri"/>
              </a:rPr>
              <a:t>T · TL · TLV · V</a:t>
            </a:r>
          </a:p>
          <a:p>
            <a:pPr algn="l"/>
            <a:r>
              <a:rPr sz="1200" b="0">
                <a:solidFill>
                  <a:srgbClr val="14181E"/>
                </a:solidFill>
                <a:latin typeface="Calibri"/>
              </a:rPr>
              <a:t>Parsers and image resolution</a:t>
            </a:r>
          </a:p>
        </p:txBody>
      </p:sp>
      <p:sp>
        <p:nvSpPr>
          <p:cNvPr id="234" name="TextBox 233"/>
          <p:cNvSpPr txBox="1"/>
          <p:nvPr/>
        </p:nvSpPr>
        <p:spPr>
          <a:xfrm>
            <a:off x="3273552" y="3703320"/>
            <a:ext cx="2606040" cy="219456"/>
          </a:xfrm>
          <a:prstGeom prst="rect">
            <a:avLst/>
          </a:prstGeom>
          <a:noFill/>
        </p:spPr>
        <p:txBody>
          <a:bodyPr wrap="square" lIns="0" rIns="0" tIns="0" bIns="0" anchor="ctr">
            <a:spAutoFit/>
          </a:bodyPr>
          <a:lstStyle/>
          <a:p>
            <a:pPr algn="l"/>
            <a:r>
              <a:rPr sz="1000" b="1">
                <a:solidFill>
                  <a:srgbClr val="1F4E79"/>
                </a:solidFill>
                <a:latin typeface="Calibri"/>
              </a:rPr>
              <a:t>SELECTION</a:t>
            </a:r>
          </a:p>
        </p:txBody>
      </p:sp>
      <p:sp>
        <p:nvSpPr>
          <p:cNvPr id="235" name="TextBox 234"/>
          <p:cNvSpPr txBox="1"/>
          <p:nvPr/>
        </p:nvSpPr>
        <p:spPr>
          <a:xfrm>
            <a:off x="3273552" y="3950208"/>
            <a:ext cx="2606040" cy="512064"/>
          </a:xfrm>
          <a:prstGeom prst="rect">
            <a:avLst/>
          </a:prstGeom>
          <a:noFill/>
        </p:spPr>
        <p:txBody>
          <a:bodyPr wrap="square" lIns="0" rIns="0" tIns="0" bIns="0" anchor="ctr">
            <a:spAutoFit/>
          </a:bodyPr>
          <a:lstStyle/>
          <a:p>
            <a:pPr algn="l"/>
            <a:r>
              <a:rPr sz="1200" b="0">
                <a:solidFill>
                  <a:srgbClr val="14181E"/>
                </a:solidFill>
                <a:latin typeface="Calibri"/>
              </a:rPr>
              <a:t>Gold pages as control</a:t>
            </a:r>
          </a:p>
          <a:p>
            <a:pPr algn="l"/>
            <a:r>
              <a:rPr sz="1200" b="0">
                <a:solidFill>
                  <a:srgbClr val="14181E"/>
                </a:solidFill>
                <a:latin typeface="Calibri"/>
              </a:rPr>
              <a:t>Drop evidence or add distractors</a:t>
            </a:r>
          </a:p>
        </p:txBody>
      </p:sp>
      <p:sp>
        <p:nvSpPr>
          <p:cNvPr id="236" name="TextBox 235"/>
          <p:cNvSpPr txBox="1"/>
          <p:nvPr/>
        </p:nvSpPr>
        <p:spPr>
          <a:xfrm>
            <a:off x="6044184" y="3703320"/>
            <a:ext cx="2606040" cy="219456"/>
          </a:xfrm>
          <a:prstGeom prst="rect">
            <a:avLst/>
          </a:prstGeom>
          <a:noFill/>
        </p:spPr>
        <p:txBody>
          <a:bodyPr wrap="square" lIns="0" rIns="0" tIns="0" bIns="0" anchor="ctr">
            <a:spAutoFit/>
          </a:bodyPr>
          <a:lstStyle/>
          <a:p>
            <a:pPr algn="l"/>
            <a:r>
              <a:rPr sz="1000" b="1">
                <a:solidFill>
                  <a:srgbClr val="1F4E79"/>
                </a:solidFill>
                <a:latin typeface="Calibri"/>
              </a:rPr>
              <a:t>REASONING</a:t>
            </a:r>
          </a:p>
        </p:txBody>
      </p:sp>
      <p:sp>
        <p:nvSpPr>
          <p:cNvPr id="237" name="TextBox 236"/>
          <p:cNvSpPr txBox="1"/>
          <p:nvPr/>
        </p:nvSpPr>
        <p:spPr>
          <a:xfrm>
            <a:off x="6044184" y="3950208"/>
            <a:ext cx="2606040" cy="512064"/>
          </a:xfrm>
          <a:prstGeom prst="rect">
            <a:avLst/>
          </a:prstGeom>
          <a:noFill/>
        </p:spPr>
        <p:txBody>
          <a:bodyPr wrap="square" lIns="0" rIns="0" tIns="0" bIns="0" anchor="ctr">
            <a:spAutoFit/>
          </a:bodyPr>
          <a:lstStyle/>
          <a:p>
            <a:pPr algn="l"/>
            <a:r>
              <a:rPr sz="1200" b="0">
                <a:solidFill>
                  <a:srgbClr val="14181E"/>
                </a:solidFill>
                <a:latin typeface="Calibri"/>
              </a:rPr>
              <a:t>Qwen3-VL and Gemma-3</a:t>
            </a:r>
          </a:p>
          <a:p>
            <a:pPr algn="l"/>
            <a:r>
              <a:rPr sz="1200" b="0">
                <a:solidFill>
                  <a:srgbClr val="14181E"/>
                </a:solidFill>
                <a:latin typeface="Calibri"/>
              </a:rPr>
              <a:t>Model scale and prompt modes</a:t>
            </a:r>
          </a:p>
        </p:txBody>
      </p:sp>
      <p:sp>
        <p:nvSpPr>
          <p:cNvPr id="238" name="TextBox 237"/>
          <p:cNvSpPr txBox="1"/>
          <p:nvPr/>
        </p:nvSpPr>
        <p:spPr>
          <a:xfrm>
            <a:off x="502920" y="4572000"/>
            <a:ext cx="8138160" cy="201168"/>
          </a:xfrm>
          <a:prstGeom prst="rect">
            <a:avLst/>
          </a:prstGeom>
          <a:noFill/>
        </p:spPr>
        <p:txBody>
          <a:bodyPr wrap="square" lIns="0" rIns="0" tIns="0" bIns="0" anchor="ctr">
            <a:spAutoFit/>
          </a:bodyPr>
          <a:lstStyle/>
          <a:p>
            <a:pPr algn="l"/>
            <a:r>
              <a:rPr sz="900" b="0">
                <a:solidFill>
                  <a:srgbClr val="525B68"/>
                </a:solidFill>
                <a:latin typeface="Calibri"/>
              </a:rPr>
              <a:t>MMLongBench-Doc + LongDocURL  ·  Accuracy judge for correctness; rubric judge for refusal</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Finding 1 · Representation</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235" name="TextBox 234"/>
          <p:cNvSpPr txBox="1"/>
          <p:nvPr/>
        </p:nvSpPr>
        <p:spPr>
          <a:xfrm>
            <a:off x="411480" y="704088"/>
            <a:ext cx="8321040" cy="310896"/>
          </a:xfrm>
          <a:prstGeom prst="rect">
            <a:avLst/>
          </a:prstGeom>
          <a:noFill/>
        </p:spPr>
        <p:txBody>
          <a:bodyPr wrap="square" lIns="0" rIns="0" tIns="0" bIns="0" anchor="ctr">
            <a:spAutoFit/>
          </a:bodyPr>
          <a:lstStyle/>
          <a:p>
            <a:r>
              <a:rPr sz="1400" b="1">
                <a:solidFill>
                  <a:srgbClr val="184FA9"/>
                </a:solidFill>
                <a:latin typeface="Calibri"/>
              </a:rPr>
              <a:t>The modality ceiling depends on the evidence and document type.</a:t>
            </a:r>
          </a:p>
        </p:txBody>
      </p:sp>
      <p:pic>
        <p:nvPicPr>
          <p:cNvPr id="236" name="Picture 235" descr="abstention_rungs_full.png"/>
          <p:cNvPicPr>
            <a:picLocks noChangeAspect="1"/>
          </p:cNvPicPr>
          <p:nvPr/>
        </p:nvPicPr>
        <p:blipFill>
          <a:blip r:embed="rId10"/>
          <a:stretch>
            <a:fillRect/>
          </a:stretch>
        </p:blipFill>
        <p:spPr>
          <a:xfrm>
            <a:off x="438912" y="1097280"/>
            <a:ext cx="4242816" cy="3532565"/>
          </a:xfrm>
          <a:prstGeom prst="rect">
            <a:avLst/>
          </a:prstGeom>
        </p:spPr>
      </p:pic>
      <p:sp>
        <p:nvSpPr>
          <p:cNvPr id="237" name="TextBox 236"/>
          <p:cNvSpPr txBox="1"/>
          <p:nvPr/>
        </p:nvSpPr>
        <p:spPr>
          <a:xfrm>
            <a:off x="5001768" y="1243584"/>
            <a:ext cx="3566160" cy="228600"/>
          </a:xfrm>
          <a:prstGeom prst="rect">
            <a:avLst/>
          </a:prstGeom>
          <a:noFill/>
        </p:spPr>
        <p:txBody>
          <a:bodyPr wrap="square" lIns="0" rIns="0" tIns="0" bIns="0" anchor="ctr">
            <a:spAutoFit/>
          </a:bodyPr>
          <a:lstStyle/>
          <a:p>
            <a:r>
              <a:rPr sz="1000" b="1">
                <a:solidFill>
                  <a:srgbClr val="184FA9"/>
                </a:solidFill>
                <a:latin typeface="Calibri"/>
              </a:rPr>
              <a:t>VISUAL EVIDENCE</a:t>
            </a:r>
          </a:p>
        </p:txBody>
      </p:sp>
      <p:sp>
        <p:nvSpPr>
          <p:cNvPr id="238" name="TextBox 237"/>
          <p:cNvSpPr txBox="1"/>
          <p:nvPr/>
        </p:nvSpPr>
        <p:spPr>
          <a:xfrm>
            <a:off x="5001768" y="1536192"/>
            <a:ext cx="3611880" cy="502920"/>
          </a:xfrm>
          <a:prstGeom prst="rect">
            <a:avLst/>
          </a:prstGeom>
          <a:noFill/>
        </p:spPr>
        <p:txBody>
          <a:bodyPr wrap="square" lIns="0" rIns="0" tIns="0" bIns="0" anchor="ctr">
            <a:spAutoFit/>
          </a:bodyPr>
          <a:lstStyle/>
          <a:p>
            <a:pPr marL="200000" indent="-150000">
              <a:buChar char="•"/>
            </a:pPr>
            <a:r>
              <a:rPr sz="1200" b="0">
                <a:solidFill>
                  <a:srgbClr val="1C2431"/>
                </a:solidFill>
                <a:latin typeface="Calibri"/>
              </a:rPr>
              <a:t>Chart: 19.1% with parser text, 45.5% with text + image.</a:t>
            </a:r>
          </a:p>
        </p:txBody>
      </p:sp>
      <p:sp>
        <p:nvSpPr>
          <p:cNvPr id="239" name="TextBox 238"/>
          <p:cNvSpPr txBox="1"/>
          <p:nvPr/>
        </p:nvSpPr>
        <p:spPr>
          <a:xfrm>
            <a:off x="5001768" y="2084831"/>
            <a:ext cx="3611880" cy="502920"/>
          </a:xfrm>
          <a:prstGeom prst="rect">
            <a:avLst/>
          </a:prstGeom>
          <a:noFill/>
        </p:spPr>
        <p:txBody>
          <a:bodyPr wrap="square" lIns="0" rIns="0" tIns="0" bIns="0" anchor="ctr">
            <a:spAutoFit/>
          </a:bodyPr>
          <a:lstStyle/>
          <a:p>
            <a:pPr marL="200000" indent="-150000">
              <a:buChar char="•"/>
            </a:pPr>
            <a:r>
              <a:rPr sz="1200" b="0">
                <a:solidFill>
                  <a:srgbClr val="1C2431"/>
                </a:solidFill>
                <a:latin typeface="Calibri"/>
              </a:rPr>
              <a:t>Figure: 23.8% with parser text, 44.8% with text + image.</a:t>
            </a:r>
          </a:p>
        </p:txBody>
      </p:sp>
      <p:sp>
        <p:nvSpPr>
          <p:cNvPr id="240" name="TextBox 239"/>
          <p:cNvSpPr txBox="1"/>
          <p:nvPr/>
        </p:nvSpPr>
        <p:spPr>
          <a:xfrm>
            <a:off x="5001768" y="2724912"/>
            <a:ext cx="3566160" cy="228600"/>
          </a:xfrm>
          <a:prstGeom prst="rect">
            <a:avLst/>
          </a:prstGeom>
          <a:noFill/>
        </p:spPr>
        <p:txBody>
          <a:bodyPr wrap="square" lIns="0" rIns="0" tIns="0" bIns="0" anchor="ctr">
            <a:spAutoFit/>
          </a:bodyPr>
          <a:lstStyle/>
          <a:p>
            <a:r>
              <a:rPr sz="1000" b="1">
                <a:solidFill>
                  <a:srgbClr val="184FA9"/>
                </a:solidFill>
                <a:latin typeface="Calibri"/>
              </a:rPr>
              <a:t>BORN-DIGITAL DOCUMENTS</a:t>
            </a:r>
          </a:p>
        </p:txBody>
      </p:sp>
      <p:sp>
        <p:nvSpPr>
          <p:cNvPr id="241" name="TextBox 240"/>
          <p:cNvSpPr txBox="1"/>
          <p:nvPr/>
        </p:nvSpPr>
        <p:spPr>
          <a:xfrm>
            <a:off x="5001768" y="2999232"/>
            <a:ext cx="3611880" cy="585216"/>
          </a:xfrm>
          <a:prstGeom prst="rect">
            <a:avLst/>
          </a:prstGeom>
          <a:noFill/>
        </p:spPr>
        <p:txBody>
          <a:bodyPr wrap="square" lIns="0" rIns="0" tIns="0" bIns="0" anchor="ctr">
            <a:spAutoFit/>
          </a:bodyPr>
          <a:lstStyle/>
          <a:p>
            <a:pPr marL="200000" indent="-150000">
              <a:buChar char="•"/>
            </a:pPr>
            <a:r>
              <a:rPr sz="1200" b="0">
                <a:solidFill>
                  <a:srgbClr val="1C2431"/>
                </a:solidFill>
                <a:latin typeface="Calibri"/>
              </a:rPr>
              <a:t>LongDocURL text gains 2.8 points with images; tables lose 1.3.</a:t>
            </a:r>
          </a:p>
        </p:txBody>
      </p:sp>
      <p:sp>
        <p:nvSpPr>
          <p:cNvPr id="242" name="TextBox 241"/>
          <p:cNvSpPr txBox="1"/>
          <p:nvPr/>
        </p:nvSpPr>
        <p:spPr>
          <a:xfrm>
            <a:off x="5001768" y="3721608"/>
            <a:ext cx="3566160" cy="228600"/>
          </a:xfrm>
          <a:prstGeom prst="rect">
            <a:avLst/>
          </a:prstGeom>
          <a:noFill/>
        </p:spPr>
        <p:txBody>
          <a:bodyPr wrap="square" lIns="0" rIns="0" tIns="0" bIns="0" anchor="ctr">
            <a:spAutoFit/>
          </a:bodyPr>
          <a:lstStyle/>
          <a:p>
            <a:r>
              <a:rPr sz="1000" b="1">
                <a:solidFill>
                  <a:srgbClr val="184FA9"/>
                </a:solidFill>
                <a:latin typeface="Calibri"/>
              </a:rPr>
              <a:t>COST AND FIDELITY</a:t>
            </a:r>
          </a:p>
        </p:txBody>
      </p:sp>
      <p:sp>
        <p:nvSpPr>
          <p:cNvPr id="243" name="TextBox 242"/>
          <p:cNvSpPr txBox="1"/>
          <p:nvPr/>
        </p:nvSpPr>
        <p:spPr>
          <a:xfrm>
            <a:off x="5001768" y="3986784"/>
            <a:ext cx="3611880" cy="283464"/>
          </a:xfrm>
          <a:prstGeom prst="rect">
            <a:avLst/>
          </a:prstGeom>
          <a:noFill/>
        </p:spPr>
        <p:txBody>
          <a:bodyPr wrap="square" lIns="0" rIns="0" tIns="0" bIns="0" anchor="ctr">
            <a:spAutoFit/>
          </a:bodyPr>
          <a:lstStyle/>
          <a:p>
            <a:pPr marL="200000" indent="-150000">
              <a:buChar char="•"/>
            </a:pPr>
            <a:r>
              <a:rPr sz="1150" b="0">
                <a:solidFill>
                  <a:srgbClr val="1C2431"/>
                </a:solidFill>
                <a:latin typeface="Calibri"/>
              </a:rPr>
              <a:t>Image-only prefill is about 21× embedded text.</a:t>
            </a:r>
          </a:p>
        </p:txBody>
      </p:sp>
      <p:sp>
        <p:nvSpPr>
          <p:cNvPr id="244" name="TextBox 243"/>
          <p:cNvSpPr txBox="1"/>
          <p:nvPr/>
        </p:nvSpPr>
        <p:spPr>
          <a:xfrm>
            <a:off x="5001768" y="4306824"/>
            <a:ext cx="3611880" cy="320040"/>
          </a:xfrm>
          <a:prstGeom prst="rect">
            <a:avLst/>
          </a:prstGeom>
          <a:noFill/>
        </p:spPr>
        <p:txBody>
          <a:bodyPr wrap="square" lIns="0" rIns="0" tIns="0" bIns="0" anchor="ctr">
            <a:spAutoFit/>
          </a:bodyPr>
          <a:lstStyle/>
          <a:p>
            <a:pPr marL="200000" indent="-150000">
              <a:buChar char="•"/>
            </a:pPr>
            <a:r>
              <a:rPr sz="1150" b="0">
                <a:solidFill>
                  <a:srgbClr val="1C2431"/>
                </a:solidFill>
                <a:latin typeface="Calibri"/>
              </a:rPr>
              <a:t>Text + low-res images keeps 90% of high-res accuracy.</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Finding 2 · Selection</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249" name="TextBox 248"/>
          <p:cNvSpPr txBox="1"/>
          <p:nvPr/>
        </p:nvSpPr>
        <p:spPr>
          <a:xfrm>
            <a:off x="411480" y="704088"/>
            <a:ext cx="8321040" cy="310896"/>
          </a:xfrm>
          <a:prstGeom prst="rect">
            <a:avLst/>
          </a:prstGeom>
          <a:noFill/>
        </p:spPr>
        <p:txBody>
          <a:bodyPr wrap="square" lIns="0" rIns="0" tIns="0" bIns="0" anchor="ctr">
            <a:spAutoFit/>
          </a:bodyPr>
          <a:lstStyle/>
          <a:p>
            <a:r>
              <a:rPr sz="1400" b="1">
                <a:solidFill>
                  <a:srgbClr val="184FA9"/>
                </a:solidFill>
                <a:latin typeface="Calibri"/>
              </a:rPr>
              <a:t>Gold evidence stays in context; extra pages still change the answer.</a:t>
            </a:r>
          </a:p>
        </p:txBody>
      </p:sp>
      <p:pic>
        <p:nvPicPr>
          <p:cNvPr id="250" name="Picture 249" descr="image.png"/>
          <p:cNvPicPr>
            <a:picLocks noChangeAspect="1"/>
          </p:cNvPicPr>
          <p:nvPr/>
        </p:nvPicPr>
        <p:blipFill>
          <a:blip r:embed="rId6"/>
          <a:stretch>
            <a:fillRect/>
          </a:stretch>
        </p:blipFill>
        <p:spPr>
          <a:xfrm>
            <a:off x="521207" y="1106424"/>
            <a:ext cx="8092440" cy="2968429"/>
          </a:xfrm>
          <a:prstGeom prst="rect">
            <a:avLst/>
          </a:prstGeom>
        </p:spPr>
      </p:pic>
      <p:sp>
        <p:nvSpPr>
          <p:cNvPr id="251" name="TextBox 250"/>
          <p:cNvSpPr txBox="1"/>
          <p:nvPr/>
        </p:nvSpPr>
        <p:spPr>
          <a:xfrm>
            <a:off x="502920" y="4123944"/>
            <a:ext cx="8183879" cy="283464"/>
          </a:xfrm>
          <a:prstGeom prst="rect">
            <a:avLst/>
          </a:prstGeom>
          <a:noFill/>
        </p:spPr>
        <p:txBody>
          <a:bodyPr wrap="square" lIns="0" rIns="0" tIns="0" bIns="0" anchor="ctr">
            <a:spAutoFit/>
          </a:bodyPr>
          <a:lstStyle/>
          <a:p>
            <a:pPr marL="200000" indent="-150000">
              <a:buChar char="•"/>
            </a:pPr>
            <a:r>
              <a:rPr sz="1050" b="1">
                <a:solidFill>
                  <a:srgbClr val="184FA9"/>
                </a:solidFill>
                <a:latin typeface="Calibri"/>
              </a:rPr>
              <a:t>+3 distractors: multi-hop accuracy drops 43.9 → 35.1% for Qwen3 and 35.4 → 28.7% for Gemma-3.</a:t>
            </a:r>
          </a:p>
        </p:txBody>
      </p:sp>
      <p:sp>
        <p:nvSpPr>
          <p:cNvPr id="252" name="TextBox 251"/>
          <p:cNvSpPr txBox="1"/>
          <p:nvPr/>
        </p:nvSpPr>
        <p:spPr>
          <a:xfrm>
            <a:off x="502920" y="4425696"/>
            <a:ext cx="8183879" cy="283464"/>
          </a:xfrm>
          <a:prstGeom prst="rect">
            <a:avLst/>
          </a:prstGeom>
          <a:noFill/>
        </p:spPr>
        <p:txBody>
          <a:bodyPr wrap="square" lIns="0" rIns="0" tIns="0" bIns="0" anchor="ctr">
            <a:spAutoFit/>
          </a:bodyPr>
          <a:lstStyle/>
          <a:p>
            <a:pPr marL="200000" indent="-150000">
              <a:buChar char="•"/>
            </a:pPr>
            <a:r>
              <a:rPr sz="1040" b="0">
                <a:solidFill>
                  <a:srgbClr val="1C2431"/>
                </a:solidFill>
                <a:latin typeface="Calibri"/>
              </a:rPr>
              <a:t>For Qwen3, 13.3% of answers break and 7.0% repair at +3; flips continue as more pages arrive.</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Finding 3 · Reasoning</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265" name="TextBox 264"/>
          <p:cNvSpPr txBox="1"/>
          <p:nvPr/>
        </p:nvSpPr>
        <p:spPr>
          <a:xfrm>
            <a:off x="411480" y="704088"/>
            <a:ext cx="8321040" cy="310896"/>
          </a:xfrm>
          <a:prstGeom prst="rect">
            <a:avLst/>
          </a:prstGeom>
          <a:noFill/>
        </p:spPr>
        <p:txBody>
          <a:bodyPr wrap="square" lIns="0" rIns="0" tIns="0" bIns="0" anchor="ctr">
            <a:spAutoFit/>
          </a:bodyPr>
          <a:lstStyle/>
          <a:p>
            <a:r>
              <a:rPr sz="1370" b="1">
                <a:solidFill>
                  <a:srgbClr val="184FA9"/>
                </a:solidFill>
                <a:latin typeface="Calibri"/>
              </a:rPr>
              <a:t>Prompting and inference strategies have different accuracy and refusal trade-offs.</a:t>
            </a:r>
          </a:p>
        </p:txBody>
      </p:sp>
      <p:pic>
        <p:nvPicPr>
          <p:cNvPr id="266" name="Picture 265" descr="reasoning_calibration_six_modes.png"/>
          <p:cNvPicPr>
            <a:picLocks noChangeAspect="1"/>
          </p:cNvPicPr>
          <p:nvPr/>
        </p:nvPicPr>
        <p:blipFill>
          <a:blip r:embed="rId7"/>
          <a:stretch>
            <a:fillRect/>
          </a:stretch>
        </p:blipFill>
        <p:spPr>
          <a:xfrm>
            <a:off x="411480" y="1051560"/>
            <a:ext cx="8321040" cy="3131405"/>
          </a:xfrm>
          <a:prstGeom prst="rect">
            <a:avLst/>
          </a:prstGeom>
        </p:spPr>
      </p:pic>
      <p:sp>
        <p:nvSpPr>
          <p:cNvPr id="267" name="TextBox 266"/>
          <p:cNvSpPr txBox="1"/>
          <p:nvPr/>
        </p:nvSpPr>
        <p:spPr>
          <a:xfrm>
            <a:off x="457200" y="4242816"/>
            <a:ext cx="8229600" cy="246888"/>
          </a:xfrm>
          <a:prstGeom prst="rect">
            <a:avLst/>
          </a:prstGeom>
          <a:noFill/>
        </p:spPr>
        <p:txBody>
          <a:bodyPr wrap="square" lIns="0" rIns="0" tIns="0" bIns="0" anchor="ctr">
            <a:spAutoFit/>
          </a:bodyPr>
          <a:lstStyle/>
          <a:p>
            <a:pPr marL="200000" indent="-150000">
              <a:buChar char="•"/>
            </a:pPr>
            <a:r>
              <a:rPr sz="1040" b="1">
                <a:solidFill>
                  <a:srgbClr val="184FA9"/>
                </a:solidFill>
                <a:latin typeface="Calibri"/>
              </a:rPr>
              <a:t>Abstain prompt: unanswerable correct 47.5 → 74.6%, but answerable correct 52.5 → 41.4%.</a:t>
            </a:r>
          </a:p>
        </p:txBody>
      </p:sp>
      <p:sp>
        <p:nvSpPr>
          <p:cNvPr id="268" name="TextBox 267"/>
          <p:cNvSpPr txBox="1"/>
          <p:nvPr/>
        </p:nvSpPr>
        <p:spPr>
          <a:xfrm>
            <a:off x="457200" y="4526280"/>
            <a:ext cx="8229600" cy="219456"/>
          </a:xfrm>
          <a:prstGeom prst="rect">
            <a:avLst/>
          </a:prstGeom>
          <a:noFill/>
        </p:spPr>
        <p:txBody>
          <a:bodyPr wrap="square" lIns="0" rIns="0" tIns="0" bIns="0" anchor="ctr">
            <a:spAutoFit/>
          </a:bodyPr>
          <a:lstStyle/>
          <a:p>
            <a:pPr marL="200000" indent="-150000">
              <a:buChar char="•"/>
            </a:pPr>
            <a:r>
              <a:rPr sz="1010" b="0">
                <a:solidFill>
                  <a:srgbClr val="1C2431"/>
                </a:solidFill>
                <a:latin typeface="Calibri"/>
              </a:rPr>
              <a:t>Self-consistency adds 8.0 points answerable; Reflexion adds 13.9 points unanswerable vs plain.</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2"/>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Qualitative</a:t>
            </a:r>
            <a:r>
              <a:rPr lang="en-GB"/>
              <a:t> Analysis</a:t>
            </a:r>
            <a:endParaRPr sz="2300"/>
          </a:p>
        </p:txBody>
      </p:sp>
      <p:sp>
        <p:nvSpPr>
          <p:cNvPr id="279" name="Google Shape;279;p32"/>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80" name="Google Shape;280;p32"/>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Six mechanisms</a:t>
            </a:r>
            <a:r>
              <a:rPr lang="en-GB">
                <a:solidFill>
                  <a:srgbClr val="1B1F2A"/>
                </a:solidFill>
                <a:latin typeface="Calibri"/>
                <a:ea typeface="Calibri"/>
                <a:cs typeface="Calibri"/>
                <a:sym typeface="Calibri"/>
              </a:rPr>
              <a:t> on qualitative examples</a:t>
            </a:r>
            <a:r>
              <a:rPr b="0" i="0" lang="en-GB" spc="0" sz="1400" u="none" cap="none" strike="noStrike">
                <a:solidFill>
                  <a:srgbClr val="1B1F2A"/>
                </a:solidFill>
                <a:latin typeface="Calibri"/>
                <a:ea typeface="Calibri"/>
                <a:cs typeface="Calibri"/>
                <a:sym typeface="Calibri"/>
              </a:rPr>
              <a:t>, each with a </a:t>
            </a:r>
            <a:r>
              <a:rPr b="1" i="0" lang="en-GB" spc="0" sz="1400" u="none" cap="none" strike="noStrike">
                <a:solidFill>
                  <a:srgbClr val="27348B"/>
                </a:solidFill>
                <a:latin typeface="Calibri"/>
                <a:ea typeface="Calibri"/>
                <a:cs typeface="Calibri"/>
                <a:sym typeface="Calibri"/>
              </a:rPr>
              <a:t>design implication</a:t>
            </a:r>
            <a:r>
              <a:rPr b="0" i="0" lang="en-GB" spc="0" sz="1400" u="none" cap="none" strike="noStrike">
                <a:solidFill>
                  <a:srgbClr val="1B1F2A"/>
                </a:solidFill>
                <a:latin typeface="Calibri"/>
                <a:ea typeface="Calibri"/>
                <a:cs typeface="Calibri"/>
                <a:sym typeface="Calibri"/>
              </a:rPr>
              <a:t>.</a:t>
            </a:r>
            <a:endParaRPr b="0" i="0" spc="0" sz="1400" u="none" cap="none" strike="noStrike">
              <a:solidFill>
                <a:schemeClr val="dk1"/>
              </a:solidFill>
              <a:latin typeface="Calibri"/>
              <a:ea typeface="Calibri"/>
              <a:cs typeface="Calibri"/>
              <a:sym typeface="Calibri"/>
            </a:endParaRPr>
          </a:p>
        </p:txBody>
      </p:sp>
      <p:pic>
        <p:nvPicPr>
          <p:cNvPr descr="Qualitative examples for the six mechanisms" id="281" name="Google Shape;281;p32"/>
          <p:cNvPicPr preferRelativeResize="0"/>
          <p:nvPr/>
        </p:nvPicPr>
        <p:blipFill rotWithShape="1">
          <a:blip r:embed="rId3">
            <a:alphaModFix/>
          </a:blip>
          <a:srcRect b="0" l="0" r="0" t="0"/>
          <a:stretch/>
        </p:blipFill>
        <p:spPr>
          <a:xfrm>
            <a:off x="411480" y="1097280"/>
            <a:ext cx="5838894" cy="3566160"/>
          </a:xfrm>
          <a:prstGeom prst="rect">
            <a:avLst/>
          </a:prstGeom>
          <a:noFill/>
          <a:ln>
            <a:noFill/>
          </a:ln>
        </p:spPr>
      </p:pic>
      <p:sp>
        <p:nvSpPr>
          <p:cNvPr id="282" name="Google Shape;282;p32"/>
          <p:cNvSpPr txBox="1"/>
          <p:nvPr/>
        </p:nvSpPr>
        <p:spPr>
          <a:xfrm>
            <a:off x="6583680" y="1200150"/>
            <a:ext cx="2148611"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DESIGN</a:t>
            </a:r>
            <a:endParaRPr b="0" i="0" spc="0" sz="900" u="none" cap="none" strike="noStrike">
              <a:solidFill>
                <a:schemeClr val="dk1"/>
              </a:solidFill>
              <a:latin typeface="Calibri"/>
              <a:ea typeface="Calibri"/>
              <a:cs typeface="Calibri"/>
              <a:sym typeface="Calibri"/>
            </a:endParaRPr>
          </a:p>
        </p:txBody>
      </p:sp>
      <p:sp>
        <p:nvSpPr>
          <p:cNvPr id="283" name="Google Shape;283;p32"/>
          <p:cNvSpPr txBox="1"/>
          <p:nvPr/>
        </p:nvSpPr>
        <p:spPr>
          <a:xfrm>
            <a:off x="6583680" y="1474470"/>
            <a:ext cx="2148611"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200"/>
              <a:buFont typeface="Calibri"/>
              <a:buNone/>
            </a:pPr>
            <a:r>
              <a:rPr b="1" i="0" lang="en-GB" spc="0" sz="1200" u="none" cap="none" strike="noStrike">
                <a:solidFill>
                  <a:srgbClr val="27348B"/>
                </a:solidFill>
                <a:latin typeface="Calibri"/>
                <a:ea typeface="Calibri"/>
                <a:cs typeface="Calibri"/>
                <a:sym typeface="Calibri"/>
              </a:rPr>
              <a:t>Representation</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200"/>
              <a:buFont typeface="Calibri"/>
              <a:buNone/>
            </a:pPr>
            <a:r>
              <a:rPr b="0" i="0" lang="en-GB" spc="0" sz="1200" u="none" cap="none" strike="noStrike">
                <a:solidFill>
                  <a:srgbClr val="1B1F2A"/>
                </a:solidFill>
                <a:latin typeface="Calibri"/>
                <a:ea typeface="Calibri"/>
                <a:cs typeface="Calibri"/>
                <a:sym typeface="Calibri"/>
              </a:rPr>
              <a:t>Add the page image when appearance matters or the text is unreliable</a:t>
            </a:r>
            <a:endParaRPr b="0" i="0" spc="0" sz="1200" u="none" cap="none" strike="noStrike">
              <a:solidFill>
                <a:schemeClr val="dk1"/>
              </a:solidFill>
              <a:latin typeface="Calibri"/>
              <a:ea typeface="Calibri"/>
              <a:cs typeface="Calibri"/>
              <a:sym typeface="Calibri"/>
            </a:endParaRPr>
          </a:p>
        </p:txBody>
      </p:sp>
      <p:sp>
        <p:nvSpPr>
          <p:cNvPr id="284" name="Google Shape;284;p32"/>
          <p:cNvSpPr txBox="1"/>
          <p:nvPr/>
        </p:nvSpPr>
        <p:spPr>
          <a:xfrm>
            <a:off x="6583680" y="2468880"/>
            <a:ext cx="2148611"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200"/>
              <a:buFont typeface="Calibri"/>
              <a:buNone/>
            </a:pPr>
            <a:r>
              <a:rPr b="1" i="0" lang="en-GB" spc="0" sz="1200" u="none" cap="none" strike="noStrike">
                <a:solidFill>
                  <a:srgbClr val="27348B"/>
                </a:solidFill>
                <a:latin typeface="Calibri"/>
                <a:ea typeface="Calibri"/>
                <a:cs typeface="Calibri"/>
                <a:sym typeface="Calibri"/>
              </a:rPr>
              <a:t>Selection</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200"/>
              <a:buFont typeface="Calibri"/>
              <a:buNone/>
            </a:pPr>
            <a:r>
              <a:rPr b="0" i="0" lang="en-GB" spc="0" sz="1200" u="none" cap="none" strike="noStrike">
                <a:solidFill>
                  <a:srgbClr val="1B1F2A"/>
                </a:solidFill>
                <a:latin typeface="Calibri"/>
                <a:ea typeface="Calibri"/>
                <a:cs typeface="Calibri"/>
                <a:sym typeface="Calibri"/>
              </a:rPr>
              <a:t>Retrieve broadly, then filter as a set</a:t>
            </a:r>
            <a:endParaRPr b="0" i="0" spc="0" sz="1200" u="none" cap="none" strike="noStrike">
              <a:solidFill>
                <a:schemeClr val="dk1"/>
              </a:solidFill>
              <a:latin typeface="Calibri"/>
              <a:ea typeface="Calibri"/>
              <a:cs typeface="Calibri"/>
              <a:sym typeface="Calibri"/>
            </a:endParaRPr>
          </a:p>
        </p:txBody>
      </p:sp>
      <p:sp>
        <p:nvSpPr>
          <p:cNvPr id="285" name="Google Shape;285;p32"/>
          <p:cNvSpPr txBox="1"/>
          <p:nvPr/>
        </p:nvSpPr>
        <p:spPr>
          <a:xfrm>
            <a:off x="6583680" y="3463290"/>
            <a:ext cx="2148611"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200"/>
              <a:buFont typeface="Calibri"/>
              <a:buNone/>
            </a:pPr>
            <a:r>
              <a:rPr b="1" i="0" lang="en-GB" spc="0" sz="1200" u="none" cap="none" strike="noStrike">
                <a:solidFill>
                  <a:srgbClr val="27348B"/>
                </a:solidFill>
                <a:latin typeface="Calibri"/>
                <a:ea typeface="Calibri"/>
                <a:cs typeface="Calibri"/>
                <a:sym typeface="Calibri"/>
              </a:rPr>
              <a:t>Reasoning</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200"/>
              <a:buFont typeface="Calibri"/>
              <a:buNone/>
            </a:pPr>
            <a:r>
              <a:rPr b="0" i="0" lang="en-GB" spc="0" sz="1200" u="none" cap="none" strike="noStrike">
                <a:solidFill>
                  <a:srgbClr val="1B1F2A"/>
                </a:solidFill>
                <a:latin typeface="Calibri"/>
                <a:ea typeface="Calibri"/>
                <a:cs typeface="Calibri"/>
                <a:sym typeface="Calibri"/>
              </a:rPr>
              <a:t>Reason before refusing; match model size to the task</a:t>
            </a:r>
            <a:endParaRPr b="0" i="0" spc="0" sz="1200" u="none" cap="none" strike="noStrike">
              <a:solidFill>
                <a:schemeClr val="dk1"/>
              </a:solidFill>
              <a:latin typeface="Calibri"/>
              <a:ea typeface="Calibri"/>
              <a:cs typeface="Calibri"/>
              <a:sym typeface="Calibri"/>
            </a:endParaRPr>
          </a:p>
        </p:txBody>
      </p:sp>
      <p:sp>
        <p:nvSpPr>
          <p:cNvPr id="286" name="Google Shape;286;p32"/>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3"/>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From Findings to a Simple Method</a:t>
            </a:r>
            <a:endParaRPr sz="2300"/>
          </a:p>
        </p:txBody>
      </p:sp>
      <p:sp>
        <p:nvSpPr>
          <p:cNvPr id="293" name="Google Shape;293;p33"/>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4 · Method &amp; conclusion</a:t>
            </a:r>
            <a:endParaRPr b="0" i="0" spc="0" sz="900" u="none" cap="none" strike="noStrike">
              <a:solidFill>
                <a:schemeClr val="dk1"/>
              </a:solidFill>
              <a:latin typeface="Calibri"/>
              <a:ea typeface="Calibri"/>
              <a:cs typeface="Calibri"/>
              <a:sym typeface="Calibri"/>
            </a:endParaRPr>
          </a:p>
        </p:txBody>
      </p:sp>
      <p:sp>
        <p:nvSpPr>
          <p:cNvPr id="294" name="Google Shape;294;p33"/>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One model, three roles, each grounded in a finding.</a:t>
            </a:r>
            <a:endParaRPr b="0" i="0" spc="0" sz="1400" u="none" cap="none" strike="noStrike">
              <a:solidFill>
                <a:schemeClr val="dk1"/>
              </a:solidFill>
              <a:latin typeface="Calibri"/>
              <a:ea typeface="Calibri"/>
              <a:cs typeface="Calibri"/>
              <a:sym typeface="Calibri"/>
            </a:endParaRPr>
          </a:p>
        </p:txBody>
      </p:sp>
      <p:pic>
        <p:nvPicPr>
          <p:cNvPr descr="Reader, synthesizer and arbiter" id="295" name="Google Shape;295;p33"/>
          <p:cNvPicPr preferRelativeResize="0"/>
          <p:nvPr/>
        </p:nvPicPr>
        <p:blipFill rotWithShape="1">
          <a:blip r:embed="rId3">
            <a:alphaModFix/>
          </a:blip>
          <a:srcRect b="0" l="0" r="0" t="0"/>
          <a:stretch/>
        </p:blipFill>
        <p:spPr>
          <a:xfrm>
            <a:off x="822960" y="1131570"/>
            <a:ext cx="7497851" cy="2276921"/>
          </a:xfrm>
          <a:prstGeom prst="rect">
            <a:avLst/>
          </a:prstGeom>
          <a:noFill/>
          <a:ln>
            <a:noFill/>
          </a:ln>
        </p:spPr>
      </p:pic>
      <p:sp>
        <p:nvSpPr>
          <p:cNvPr id="296" name="Google Shape;296;p33"/>
          <p:cNvSpPr txBox="1"/>
          <p:nvPr/>
        </p:nvSpPr>
        <p:spPr>
          <a:xfrm>
            <a:off x="411480" y="366903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Representation</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Reader sees every page as text + image</a:t>
            </a:r>
            <a:endParaRPr b="0" i="0" spc="0" sz="1400" u="none" cap="none" strike="noStrike">
              <a:solidFill>
                <a:schemeClr val="dk1"/>
              </a:solidFill>
              <a:latin typeface="Calibri"/>
              <a:ea typeface="Calibri"/>
              <a:cs typeface="Calibri"/>
              <a:sym typeface="Calibri"/>
            </a:endParaRPr>
          </a:p>
        </p:txBody>
      </p:sp>
      <p:sp>
        <p:nvSpPr>
          <p:cNvPr id="297" name="Google Shape;297;p33"/>
          <p:cNvSpPr txBox="1"/>
          <p:nvPr/>
        </p:nvSpPr>
        <p:spPr>
          <a:xfrm>
            <a:off x="3299384" y="3669030"/>
            <a:ext cx="2545003"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Selection</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Read broadly, pass on compact records</a:t>
            </a:r>
            <a:endParaRPr b="0" i="0" spc="0" sz="1400" u="none" cap="none" strike="noStrike">
              <a:solidFill>
                <a:schemeClr val="dk1"/>
              </a:solidFill>
              <a:latin typeface="Calibri"/>
              <a:ea typeface="Calibri"/>
              <a:cs typeface="Calibri"/>
              <a:sym typeface="Calibri"/>
            </a:endParaRPr>
          </a:p>
        </p:txBody>
      </p:sp>
      <p:sp>
        <p:nvSpPr>
          <p:cNvPr id="298" name="Google Shape;298;p33"/>
          <p:cNvSpPr txBox="1"/>
          <p:nvPr/>
        </p:nvSpPr>
        <p:spPr>
          <a:xfrm>
            <a:off x="6187288" y="366903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Reasoning</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A separate arbiter judges sufficiency</a:t>
            </a:r>
            <a:endParaRPr b="0" i="0" spc="0" sz="1400" u="none" cap="none" strike="noStrike">
              <a:solidFill>
                <a:schemeClr val="dk1"/>
              </a:solidFill>
              <a:latin typeface="Calibri"/>
              <a:ea typeface="Calibri"/>
              <a:cs typeface="Calibri"/>
              <a:sym typeface="Calibri"/>
            </a:endParaRPr>
          </a:p>
        </p:txBody>
      </p:sp>
      <p:sp>
        <p:nvSpPr>
          <p:cNvPr id="299" name="Google Shape;299;p33"/>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Simple Method: Results</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4 · Method &amp; conclusion</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305" name="TextBox 304"/>
          <p:cNvSpPr txBox="1"/>
          <p:nvPr/>
        </p:nvSpPr>
        <p:spPr>
          <a:xfrm>
            <a:off x="411480" y="704088"/>
            <a:ext cx="8321040" cy="310896"/>
          </a:xfrm>
          <a:prstGeom prst="rect">
            <a:avLst/>
          </a:prstGeom>
          <a:noFill/>
        </p:spPr>
        <p:txBody>
          <a:bodyPr wrap="square" lIns="0" rIns="0" tIns="0" bIns="0" anchor="ctr">
            <a:spAutoFit/>
          </a:bodyPr>
          <a:lstStyle/>
          <a:p>
            <a:r>
              <a:rPr sz="1400" b="1">
                <a:solidFill>
                  <a:srgbClr val="184FA9"/>
                </a:solidFill>
                <a:latin typeface="Calibri"/>
              </a:rPr>
              <a:t>Qwen3-VL-8B comparisons across three document benchmarks.</a:t>
            </a:r>
          </a:p>
        </p:txBody>
      </p:sp>
      <p:pic>
        <p:nvPicPr>
          <p:cNvPr id="306" name="Picture 305" descr="method_qwen3_docbench.png"/>
          <p:cNvPicPr>
            <a:picLocks noChangeAspect="1"/>
          </p:cNvPicPr>
          <p:nvPr/>
        </p:nvPicPr>
        <p:blipFill>
          <a:blip r:embed="rId4"/>
          <a:stretch>
            <a:fillRect/>
          </a:stretch>
        </p:blipFill>
        <p:spPr>
          <a:xfrm>
            <a:off x="411480" y="1188720"/>
            <a:ext cx="8321040" cy="2675928"/>
          </a:xfrm>
          <a:prstGeom prst="rect">
            <a:avLst/>
          </a:prstGeom>
        </p:spPr>
      </p:pic>
      <p:sp>
        <p:nvSpPr>
          <p:cNvPr id="307" name="TextBox 306"/>
          <p:cNvSpPr txBox="1"/>
          <p:nvPr/>
        </p:nvSpPr>
        <p:spPr>
          <a:xfrm>
            <a:off x="411480" y="3968496"/>
            <a:ext cx="8321040" cy="283464"/>
          </a:xfrm>
          <a:prstGeom prst="rect">
            <a:avLst/>
          </a:prstGeom>
          <a:noFill/>
        </p:spPr>
        <p:txBody>
          <a:bodyPr wrap="square" lIns="0" rIns="0" tIns="0" bIns="0" anchor="ctr">
            <a:spAutoFit/>
          </a:bodyPr>
          <a:lstStyle/>
          <a:p>
            <a:r>
              <a:rPr sz="1400" b="1">
                <a:solidFill>
                  <a:srgbClr val="184FA9"/>
                </a:solidFill>
                <a:latin typeface="Calibri"/>
              </a:rPr>
              <a:t>Ours: 56.5% MMLongBench-Doc · 61.3% LongDocURL · 71.6% DocBench</a:t>
            </a:r>
          </a:p>
        </p:txBody>
      </p:sp>
      <p:sp>
        <p:nvSpPr>
          <p:cNvPr id="308" name="TextBox 307"/>
          <p:cNvSpPr txBox="1"/>
          <p:nvPr/>
        </p:nvSpPr>
        <p:spPr>
          <a:xfrm>
            <a:off x="411480" y="4306824"/>
            <a:ext cx="8321040" cy="310896"/>
          </a:xfrm>
          <a:prstGeom prst="rect">
            <a:avLst/>
          </a:prstGeom>
          <a:noFill/>
        </p:spPr>
        <p:txBody>
          <a:bodyPr wrap="square" lIns="0" rIns="0" tIns="0" bIns="0" anchor="ctr">
            <a:spAutoFit/>
          </a:bodyPr>
          <a:lstStyle/>
          <a:p>
            <a:r>
              <a:rPr sz="1050" b="0">
                <a:solidFill>
                  <a:srgbClr val="1C2431"/>
                </a:solidFill>
                <a:latin typeface="Calibri"/>
              </a:rPr>
              <a:t>DocBench is a provisional 762/1,065 result; MARDoc reports 72.3%. Multi-page: 39.2 vs DocTrace 41.1%.</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5"/>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Conclusion</a:t>
            </a:r>
            <a:endParaRPr sz="2300"/>
          </a:p>
        </p:txBody>
      </p:sp>
      <p:sp>
        <p:nvSpPr>
          <p:cNvPr id="317" name="Google Shape;317;p35"/>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4 · Method &amp; conclusion</a:t>
            </a:r>
            <a:endParaRPr b="0" i="0" spc="0" sz="900" u="none" cap="none" strike="noStrike">
              <a:solidFill>
                <a:schemeClr val="dk1"/>
              </a:solidFill>
              <a:latin typeface="Calibri"/>
              <a:ea typeface="Calibri"/>
              <a:cs typeface="Calibri"/>
              <a:sym typeface="Calibri"/>
            </a:endParaRPr>
          </a:p>
        </p:txBody>
      </p:sp>
      <p:sp>
        <p:nvSpPr>
          <p:cNvPr id="318" name="Google Shape;318;p35"/>
          <p:cNvSpPr txBox="1"/>
          <p:nvPr/>
        </p:nvSpPr>
        <p:spPr>
          <a:xfrm>
            <a:off x="411480" y="925830"/>
            <a:ext cx="6858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1" i="0" lang="en-GB" spc="0" sz="1800" u="none" cap="none" strike="noStrike">
                <a:solidFill>
                  <a:srgbClr val="E1B650"/>
                </a:solidFill>
                <a:latin typeface="Calibri"/>
                <a:ea typeface="Calibri"/>
                <a:cs typeface="Calibri"/>
                <a:sym typeface="Calibri"/>
              </a:rPr>
              <a:t>RQ1</a:t>
            </a:r>
            <a:endParaRPr b="0" i="0" spc="0" sz="1800" u="none" cap="none" strike="noStrike">
              <a:solidFill>
                <a:schemeClr val="dk1"/>
              </a:solidFill>
              <a:latin typeface="Calibri"/>
              <a:ea typeface="Calibri"/>
              <a:cs typeface="Calibri"/>
              <a:sym typeface="Calibri"/>
            </a:endParaRPr>
          </a:p>
        </p:txBody>
      </p:sp>
      <p:sp>
        <p:nvSpPr>
          <p:cNvPr id="319" name="Google Shape;319;p35"/>
          <p:cNvSpPr txBox="1"/>
          <p:nvPr/>
        </p:nvSpPr>
        <p:spPr>
          <a:xfrm>
            <a:off x="1165860" y="953262"/>
            <a:ext cx="7566431"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Multi-page understanding is </a:t>
            </a:r>
            <a:r>
              <a:rPr b="1" i="0" lang="en-GB" spc="0" sz="1500" u="none" cap="none" strike="noStrike">
                <a:solidFill>
                  <a:schemeClr val="accent2"/>
                </a:solidFill>
                <a:latin typeface="Calibri"/>
                <a:ea typeface="Calibri"/>
                <a:cs typeface="Calibri"/>
                <a:sym typeface="Calibri"/>
              </a:rPr>
              <a:t>evidence management</a:t>
            </a:r>
            <a:r>
              <a:rPr b="0" i="0" lang="en-GB" spc="0" sz="1500" u="none" cap="none" strike="noStrike">
                <a:solidFill>
                  <a:schemeClr val="accent2"/>
                </a:solidFill>
                <a:latin typeface="Calibri"/>
                <a:ea typeface="Calibri"/>
                <a:cs typeface="Calibri"/>
                <a:sym typeface="Calibri"/>
              </a:rPr>
              <a:t>,</a:t>
            </a:r>
            <a:r>
              <a:rPr b="0" i="0" lang="en-GB" spc="0" sz="1500" u="none" cap="none" strike="noStrike">
                <a:solidFill>
                  <a:srgbClr val="1B1F2A"/>
                </a:solidFill>
                <a:latin typeface="Calibri"/>
                <a:ea typeface="Calibri"/>
                <a:cs typeface="Calibri"/>
                <a:sym typeface="Calibri"/>
              </a:rPr>
              <a:t> in four families</a:t>
            </a:r>
            <a:r>
              <a:rPr b="0" i="0" lang="en-GB" spc="0" sz="1500" u="none" cap="none" strike="noStrike">
                <a:solidFill>
                  <a:srgbClr val="5A6072"/>
                </a:solidFill>
                <a:latin typeface="Calibri"/>
                <a:ea typeface="Calibri"/>
                <a:cs typeface="Calibri"/>
                <a:sym typeface="Calibri"/>
              </a:rPr>
              <a:t>   EMNLP 2026 Main</a:t>
            </a:r>
            <a:endParaRPr b="0" i="0" spc="0" sz="1500" u="none" cap="none" strike="noStrike">
              <a:solidFill>
                <a:schemeClr val="dk1"/>
              </a:solidFill>
              <a:latin typeface="Calibri"/>
              <a:ea typeface="Calibri"/>
              <a:cs typeface="Calibri"/>
              <a:sym typeface="Calibri"/>
            </a:endParaRPr>
          </a:p>
        </p:txBody>
      </p:sp>
      <p:sp>
        <p:nvSpPr>
          <p:cNvPr id="320" name="Google Shape;320;p35"/>
          <p:cNvSpPr txBox="1"/>
          <p:nvPr/>
        </p:nvSpPr>
        <p:spPr>
          <a:xfrm>
            <a:off x="411480" y="1577340"/>
            <a:ext cx="6858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1" i="0" lang="en-GB" spc="0" sz="1800" u="none" cap="none" strike="noStrike">
                <a:solidFill>
                  <a:srgbClr val="E1B650"/>
                </a:solidFill>
                <a:latin typeface="Calibri"/>
                <a:ea typeface="Calibri"/>
                <a:cs typeface="Calibri"/>
                <a:sym typeface="Calibri"/>
              </a:rPr>
              <a:t>RQ2</a:t>
            </a:r>
            <a:endParaRPr b="0" i="0" spc="0" sz="1800" u="none" cap="none" strike="noStrike">
              <a:solidFill>
                <a:schemeClr val="dk1"/>
              </a:solidFill>
              <a:latin typeface="Calibri"/>
              <a:ea typeface="Calibri"/>
              <a:cs typeface="Calibri"/>
              <a:sym typeface="Calibri"/>
            </a:endParaRPr>
          </a:p>
        </p:txBody>
      </p:sp>
      <p:sp>
        <p:nvSpPr>
          <p:cNvPr id="321" name="Google Shape;321;p35"/>
          <p:cNvSpPr txBox="1"/>
          <p:nvPr/>
        </p:nvSpPr>
        <p:spPr>
          <a:xfrm>
            <a:off x="1165860" y="1604772"/>
            <a:ext cx="7566431"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Failures sit at </a:t>
            </a:r>
            <a:r>
              <a:rPr b="1" i="0" lang="en-GB" spc="0" sz="1500" u="none" cap="none" strike="noStrike">
                <a:solidFill>
                  <a:schemeClr val="accent2"/>
                </a:solidFill>
                <a:latin typeface="Calibri"/>
                <a:ea typeface="Calibri"/>
                <a:cs typeface="Calibri"/>
                <a:sym typeface="Calibri"/>
              </a:rPr>
              <a:t>representation, selection or reasoning</a:t>
            </a:r>
            <a:r>
              <a:rPr b="0" i="0" lang="en-GB" spc="0" sz="1500" u="none" cap="none" strike="noStrike">
                <a:solidFill>
                  <a:schemeClr val="accent2"/>
                </a:solidFill>
                <a:latin typeface="Calibri"/>
                <a:ea typeface="Calibri"/>
                <a:cs typeface="Calibri"/>
                <a:sym typeface="Calibri"/>
              </a:rPr>
              <a:t>,</a:t>
            </a:r>
            <a:r>
              <a:rPr b="0" i="0" lang="en-GB" spc="0" sz="1500" u="none" cap="none" strike="noStrike">
                <a:solidFill>
                  <a:srgbClr val="1B1F2A"/>
                </a:solidFill>
                <a:latin typeface="Calibri"/>
                <a:ea typeface="Calibri"/>
                <a:cs typeface="Calibri"/>
                <a:sym typeface="Calibri"/>
              </a:rPr>
              <a:t> each with its own fix</a:t>
            </a:r>
            <a:r>
              <a:rPr b="0" i="0" lang="en-GB" spc="0" sz="1500" u="none" cap="none" strike="noStrike">
                <a:solidFill>
                  <a:srgbClr val="5A6072"/>
                </a:solidFill>
                <a:latin typeface="Calibri"/>
                <a:ea typeface="Calibri"/>
                <a:cs typeface="Calibri"/>
                <a:sym typeface="Calibri"/>
              </a:rPr>
              <a:t>   Under review</a:t>
            </a:r>
            <a:endParaRPr b="0" i="0" spc="0" sz="1500" u="none" cap="none" strike="noStrike">
              <a:solidFill>
                <a:schemeClr val="dk1"/>
              </a:solidFill>
              <a:latin typeface="Calibri"/>
              <a:ea typeface="Calibri"/>
              <a:cs typeface="Calibri"/>
              <a:sym typeface="Calibri"/>
            </a:endParaRPr>
          </a:p>
        </p:txBody>
      </p:sp>
      <p:sp>
        <p:nvSpPr>
          <p:cNvPr id="322" name="Google Shape;322;p35"/>
          <p:cNvSpPr txBox="1"/>
          <p:nvPr/>
        </p:nvSpPr>
        <p:spPr>
          <a:xfrm>
            <a:off x="411480" y="2228850"/>
            <a:ext cx="6858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1" i="0" lang="en-GB" spc="0" sz="1800" u="none" cap="none" strike="noStrike">
                <a:solidFill>
                  <a:srgbClr val="E1B650"/>
                </a:solidFill>
                <a:latin typeface="Calibri"/>
                <a:ea typeface="Calibri"/>
                <a:cs typeface="Calibri"/>
                <a:sym typeface="Calibri"/>
              </a:rPr>
              <a:t>RQ3</a:t>
            </a:r>
            <a:endParaRPr b="0" i="0" spc="0" sz="1800" u="none" cap="none" strike="noStrike">
              <a:solidFill>
                <a:schemeClr val="dk1"/>
              </a:solidFill>
              <a:latin typeface="Calibri"/>
              <a:ea typeface="Calibri"/>
              <a:cs typeface="Calibri"/>
              <a:sym typeface="Calibri"/>
            </a:endParaRPr>
          </a:p>
        </p:txBody>
      </p:sp>
      <p:sp>
        <p:nvSpPr>
          <p:cNvPr id="323" name="Google Shape;323;p35"/>
          <p:cNvSpPr txBox="1"/>
          <p:nvPr/>
        </p:nvSpPr>
        <p:spPr>
          <a:xfrm>
            <a:off x="1165860" y="2256282"/>
            <a:ext cx="7566431"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A </a:t>
            </a:r>
            <a:r>
              <a:rPr b="1" i="0" lang="en-GB" spc="0" sz="1500" u="none" cap="none" strike="noStrike">
                <a:solidFill>
                  <a:schemeClr val="accent2"/>
                </a:solidFill>
                <a:latin typeface="Calibri"/>
                <a:ea typeface="Calibri"/>
                <a:cs typeface="Calibri"/>
                <a:sym typeface="Calibri"/>
              </a:rPr>
              <a:t>training-free</a:t>
            </a:r>
            <a:r>
              <a:rPr b="0" i="0" lang="en-GB" spc="0" sz="1500" u="none" cap="none" strike="noStrike">
                <a:solidFill>
                  <a:srgbClr val="1B1F2A"/>
                </a:solidFill>
                <a:latin typeface="Calibri"/>
                <a:ea typeface="Calibri"/>
                <a:cs typeface="Calibri"/>
                <a:sym typeface="Calibri"/>
              </a:rPr>
              <a:t> system built on these findings is competitive under a fixed budget</a:t>
            </a:r>
            <a:endParaRPr b="0" i="0" spc="0" sz="1500" u="none" cap="none" strike="noStrike">
              <a:solidFill>
                <a:schemeClr val="dk1"/>
              </a:solidFill>
              <a:latin typeface="Calibri"/>
              <a:ea typeface="Calibri"/>
              <a:cs typeface="Calibri"/>
              <a:sym typeface="Calibri"/>
            </a:endParaRPr>
          </a:p>
        </p:txBody>
      </p:sp>
      <p:sp>
        <p:nvSpPr>
          <p:cNvPr id="324" name="Google Shape;324;p35"/>
          <p:cNvSpPr txBox="1"/>
          <p:nvPr/>
        </p:nvSpPr>
        <p:spPr>
          <a:xfrm>
            <a:off x="411480" y="2948940"/>
            <a:ext cx="8320811"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Future work: </a:t>
            </a:r>
            <a:r>
              <a:rPr b="0" i="0" lang="en-GB" spc="0" sz="1400" u="none" cap="none" strike="noStrike">
                <a:solidFill>
                  <a:srgbClr val="5A6072"/>
                </a:solidFill>
                <a:latin typeface="Calibri"/>
                <a:ea typeface="Calibri"/>
                <a:cs typeface="Calibri"/>
                <a:sym typeface="Calibri"/>
              </a:rPr>
              <a:t>structure-aware retrieval · calibrated abstention · cost as a first-class metric</a:t>
            </a:r>
            <a:endParaRPr b="0" i="0" spc="0" sz="1400" u="none" cap="none" strike="noStrike">
              <a:solidFill>
                <a:schemeClr val="dk1"/>
              </a:solidFill>
              <a:latin typeface="Calibri"/>
              <a:ea typeface="Calibri"/>
              <a:cs typeface="Calibri"/>
              <a:sym typeface="Calibri"/>
            </a:endParaRPr>
          </a:p>
        </p:txBody>
      </p:sp>
      <p:cxnSp>
        <p:nvCxnSpPr>
          <p:cNvPr id="325" name="Google Shape;325;p35"/>
          <p:cNvCxnSpPr/>
          <p:nvPr/>
        </p:nvCxnSpPr>
        <p:spPr>
          <a:xfrm>
            <a:off x="411480" y="3463290"/>
            <a:ext cx="8320811" cy="0"/>
          </a:xfrm>
          <a:prstGeom prst="straightConnector1">
            <a:avLst/>
          </a:prstGeom>
          <a:noFill/>
          <a:ln cap="flat" cmpd="sng" w="12700">
            <a:solidFill>
              <a:srgbClr val="C9CDD9"/>
            </a:solidFill>
            <a:prstDash val="solid"/>
            <a:round/>
            <a:headEnd len="sm" w="sm" type="none"/>
            <a:tailEnd len="sm" w="sm" type="none"/>
          </a:ln>
        </p:spPr>
      </p:cxnSp>
      <p:sp>
        <p:nvSpPr>
          <p:cNvPr id="326" name="Google Shape;326;p35"/>
          <p:cNvSpPr txBox="1"/>
          <p:nvPr/>
        </p:nvSpPr>
        <p:spPr>
          <a:xfrm>
            <a:off x="411480" y="3634740"/>
            <a:ext cx="5486400" cy="6172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3000"/>
              <a:buFont typeface="Calibri"/>
              <a:buNone/>
            </a:pPr>
            <a:r>
              <a:rPr b="1" i="0" lang="en-GB" spc="0" sz="3000" u="none" cap="none" strike="noStrike">
                <a:solidFill>
                  <a:srgbClr val="27348B"/>
                </a:solidFill>
                <a:latin typeface="Calibri"/>
                <a:ea typeface="Calibri"/>
                <a:cs typeface="Calibri"/>
                <a:sym typeface="Calibri"/>
              </a:rPr>
              <a:t>Thank you  ·  Questions?</a:t>
            </a:r>
            <a:endParaRPr b="0" i="0" spc="0" sz="3000" u="none" cap="none" strike="noStrike">
              <a:solidFill>
                <a:schemeClr val="dk1"/>
              </a:solidFill>
              <a:latin typeface="Calibri"/>
              <a:ea typeface="Calibri"/>
              <a:cs typeface="Calibri"/>
              <a:sym typeface="Calibri"/>
            </a:endParaRPr>
          </a:p>
        </p:txBody>
      </p:sp>
      <p:pic>
        <p:nvPicPr>
          <p:cNvPr descr="emnlp2026_logo.png" id="327" name="Google Shape;327;p35"/>
          <p:cNvPicPr preferRelativeResize="0"/>
          <p:nvPr/>
        </p:nvPicPr>
        <p:blipFill rotWithShape="1">
          <a:blip r:embed="rId3">
            <a:alphaModFix/>
          </a:blip>
          <a:srcRect b="0" l="0" r="0" t="0"/>
          <a:stretch/>
        </p:blipFill>
        <p:spPr>
          <a:xfrm>
            <a:off x="6949211" y="3753760"/>
            <a:ext cx="1783080" cy="310600"/>
          </a:xfrm>
          <a:prstGeom prst="rect">
            <a:avLst/>
          </a:prstGeom>
          <a:noFill/>
          <a:ln>
            <a:noFill/>
          </a:ln>
        </p:spPr>
      </p:pic>
      <p:sp>
        <p:nvSpPr>
          <p:cNvPr id="328" name="Google Shape;328;p35"/>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6"/>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Open Challenges</a:t>
            </a:r>
            <a:endParaRPr sz="2300"/>
          </a:p>
        </p:txBody>
      </p:sp>
      <p:sp>
        <p:nvSpPr>
          <p:cNvPr id="335" name="Google Shape;335;p36"/>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 · EMNLP 2026 Main</a:t>
            </a:r>
            <a:endParaRPr b="0" i="0" spc="0" sz="900" u="none" cap="none" strike="noStrike">
              <a:solidFill>
                <a:schemeClr val="dk1"/>
              </a:solidFill>
              <a:latin typeface="Calibri"/>
              <a:ea typeface="Calibri"/>
              <a:cs typeface="Calibri"/>
              <a:sym typeface="Calibri"/>
            </a:endParaRPr>
          </a:p>
        </p:txBody>
      </p:sp>
      <p:sp>
        <p:nvSpPr>
          <p:cNvPr id="336" name="Google Shape;336;p36"/>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Each design </a:t>
            </a:r>
            <a:r>
              <a:rPr b="1" i="0" lang="en-GB" spc="0" sz="1400" u="none" cap="none" strike="noStrike">
                <a:solidFill>
                  <a:schemeClr val="accent2"/>
                </a:solidFill>
                <a:latin typeface="Calibri"/>
                <a:ea typeface="Calibri"/>
                <a:cs typeface="Calibri"/>
                <a:sym typeface="Calibri"/>
              </a:rPr>
              <a:t>relocates the bottleneck</a:t>
            </a:r>
            <a:r>
              <a:rPr b="0" i="0" lang="en-GB" spc="0" sz="1400" u="none" cap="none" strike="noStrike">
                <a:solidFill>
                  <a:srgbClr val="1B1F2A"/>
                </a:solidFill>
                <a:latin typeface="Calibri"/>
                <a:ea typeface="Calibri"/>
                <a:cs typeface="Calibri"/>
                <a:sym typeface="Calibri"/>
              </a:rPr>
              <a:t> rather than removing it.</a:t>
            </a:r>
            <a:endParaRPr b="0" i="0" spc="0" sz="1400" u="none" cap="none" strike="noStrike">
              <a:solidFill>
                <a:schemeClr val="dk1"/>
              </a:solidFill>
              <a:latin typeface="Calibri"/>
              <a:ea typeface="Calibri"/>
              <a:cs typeface="Calibri"/>
              <a:sym typeface="Calibri"/>
            </a:endParaRPr>
          </a:p>
        </p:txBody>
      </p:sp>
      <p:sp>
        <p:nvSpPr>
          <p:cNvPr id="337" name="Google Shape;337;p36"/>
          <p:cNvSpPr txBox="1"/>
          <p:nvPr/>
        </p:nvSpPr>
        <p:spPr>
          <a:xfrm>
            <a:off x="411476" y="1234450"/>
            <a:ext cx="2949000" cy="3429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Evidence pipeline</a:t>
            </a:r>
            <a:endParaRPr b="0" i="0" spc="0" sz="1500" u="none" cap="none" strike="noStrike">
              <a:solidFill>
                <a:schemeClr val="dk1"/>
              </a:solidFill>
              <a:latin typeface="Calibri"/>
              <a:ea typeface="Calibri"/>
              <a:cs typeface="Calibri"/>
              <a:sym typeface="Calibri"/>
            </a:endParaRPr>
          </a:p>
        </p:txBody>
      </p:sp>
      <p:sp>
        <p:nvSpPr>
          <p:cNvPr id="338" name="Google Shape;338;p36"/>
          <p:cNvSpPr txBox="1"/>
          <p:nvPr/>
        </p:nvSpPr>
        <p:spPr>
          <a:xfrm>
            <a:off x="3429000" y="1234440"/>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High-resolution reading vs document-scale aggregation</a:t>
            </a:r>
            <a:endParaRPr b="0" i="0" spc="0" sz="1500" u="none" cap="none" strike="noStrike">
              <a:solidFill>
                <a:schemeClr val="dk1"/>
              </a:solidFill>
              <a:latin typeface="Calibri"/>
              <a:ea typeface="Calibri"/>
              <a:cs typeface="Calibri"/>
              <a:sym typeface="Calibri"/>
            </a:endParaRPr>
          </a:p>
        </p:txBody>
      </p:sp>
      <p:sp>
        <p:nvSpPr>
          <p:cNvPr id="339" name="Google Shape;339;p36"/>
          <p:cNvSpPr txBox="1"/>
          <p:nvPr/>
        </p:nvSpPr>
        <p:spPr>
          <a:xfrm>
            <a:off x="411426" y="1796800"/>
            <a:ext cx="2949000" cy="3429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Faithfulness</a:t>
            </a:r>
            <a:endParaRPr b="0" i="0" spc="0" sz="1500" u="none" cap="none" strike="noStrike">
              <a:solidFill>
                <a:schemeClr val="dk1"/>
              </a:solidFill>
              <a:latin typeface="Calibri"/>
              <a:ea typeface="Calibri"/>
              <a:cs typeface="Calibri"/>
              <a:sym typeface="Calibri"/>
            </a:endParaRPr>
          </a:p>
        </p:txBody>
      </p:sp>
      <p:sp>
        <p:nvSpPr>
          <p:cNvPr id="340" name="Google Shape;340;p36"/>
          <p:cNvSpPr txBox="1"/>
          <p:nvPr/>
        </p:nvSpPr>
        <p:spPr>
          <a:xfrm>
            <a:off x="3429000" y="1796796"/>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Few systems abstain or ground answers in evidence</a:t>
            </a:r>
            <a:endParaRPr b="0" i="0" spc="0" sz="1500" u="none" cap="none" strike="noStrike">
              <a:solidFill>
                <a:schemeClr val="dk1"/>
              </a:solidFill>
              <a:latin typeface="Calibri"/>
              <a:ea typeface="Calibri"/>
              <a:cs typeface="Calibri"/>
              <a:sym typeface="Calibri"/>
            </a:endParaRPr>
          </a:p>
        </p:txBody>
      </p:sp>
      <p:sp>
        <p:nvSpPr>
          <p:cNvPr id="341" name="Google Shape;341;p36"/>
          <p:cNvSpPr txBox="1"/>
          <p:nvPr/>
        </p:nvSpPr>
        <p:spPr>
          <a:xfrm>
            <a:off x="411426" y="2359150"/>
            <a:ext cx="2949000" cy="3087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Efficiency</a:t>
            </a:r>
            <a:endParaRPr b="0" i="0" spc="0" sz="1500" u="none" cap="none" strike="noStrike">
              <a:solidFill>
                <a:schemeClr val="dk1"/>
              </a:solidFill>
              <a:latin typeface="Calibri"/>
              <a:ea typeface="Calibri"/>
              <a:cs typeface="Calibri"/>
              <a:sym typeface="Calibri"/>
            </a:endParaRPr>
          </a:p>
        </p:txBody>
      </p:sp>
      <p:sp>
        <p:nvSpPr>
          <p:cNvPr id="342" name="Google Shape;342;p36"/>
          <p:cNvSpPr txBox="1"/>
          <p:nvPr/>
        </p:nvSpPr>
        <p:spPr>
          <a:xfrm>
            <a:off x="3429000" y="2359152"/>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Latency and token cost are rarely reported</a:t>
            </a:r>
            <a:endParaRPr b="0" i="0" spc="0" sz="1500" u="none" cap="none" strike="noStrike">
              <a:solidFill>
                <a:schemeClr val="dk1"/>
              </a:solidFill>
              <a:latin typeface="Calibri"/>
              <a:ea typeface="Calibri"/>
              <a:cs typeface="Calibri"/>
              <a:sym typeface="Calibri"/>
            </a:endParaRPr>
          </a:p>
        </p:txBody>
      </p:sp>
      <p:sp>
        <p:nvSpPr>
          <p:cNvPr id="343" name="Google Shape;343;p36"/>
          <p:cNvSpPr txBox="1"/>
          <p:nvPr/>
        </p:nvSpPr>
        <p:spPr>
          <a:xfrm>
            <a:off x="411426" y="2921500"/>
            <a:ext cx="2949000" cy="3429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Contamination</a:t>
            </a:r>
            <a:endParaRPr b="0" i="0" spc="0" sz="1500" u="none" cap="none" strike="noStrike">
              <a:solidFill>
                <a:schemeClr val="dk1"/>
              </a:solidFill>
              <a:latin typeface="Calibri"/>
              <a:ea typeface="Calibri"/>
              <a:cs typeface="Calibri"/>
              <a:sym typeface="Calibri"/>
            </a:endParaRPr>
          </a:p>
        </p:txBody>
      </p:sp>
      <p:sp>
        <p:nvSpPr>
          <p:cNvPr id="344" name="Google Shape;344;p36"/>
          <p:cNvSpPr txBox="1"/>
          <p:nvPr/>
        </p:nvSpPr>
        <p:spPr>
          <a:xfrm>
            <a:off x="3429000" y="2921508"/>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Training and test sets share source PDFs</a:t>
            </a:r>
            <a:endParaRPr b="0" i="0" spc="0" sz="1500" u="none" cap="none" strike="noStrike">
              <a:solidFill>
                <a:schemeClr val="dk1"/>
              </a:solidFill>
              <a:latin typeface="Calibri"/>
              <a:ea typeface="Calibri"/>
              <a:cs typeface="Calibri"/>
              <a:sym typeface="Calibri"/>
            </a:endParaRPr>
          </a:p>
        </p:txBody>
      </p:sp>
      <p:sp>
        <p:nvSpPr>
          <p:cNvPr id="345" name="Google Shape;345;p36"/>
          <p:cNvSpPr txBox="1"/>
          <p:nvPr/>
        </p:nvSpPr>
        <p:spPr>
          <a:xfrm>
            <a:off x="411426" y="3483873"/>
            <a:ext cx="2949000" cy="3087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Evaluation</a:t>
            </a:r>
            <a:endParaRPr b="0" i="0" spc="0" sz="1500" u="none" cap="none" strike="noStrike">
              <a:solidFill>
                <a:schemeClr val="dk1"/>
              </a:solidFill>
              <a:latin typeface="Calibri"/>
              <a:ea typeface="Calibri"/>
              <a:cs typeface="Calibri"/>
              <a:sym typeface="Calibri"/>
            </a:endParaRPr>
          </a:p>
        </p:txBody>
      </p:sp>
      <p:sp>
        <p:nvSpPr>
          <p:cNvPr id="346" name="Google Shape;346;p36"/>
          <p:cNvSpPr txBox="1"/>
          <p:nvPr/>
        </p:nvSpPr>
        <p:spPr>
          <a:xfrm>
            <a:off x="3429000" y="3483864"/>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Answer-only scores, mostly English VQA</a:t>
            </a:r>
            <a:endParaRPr b="0" i="0" spc="0" sz="1500" u="none" cap="none" strike="noStrike">
              <a:solidFill>
                <a:schemeClr val="dk1"/>
              </a:solidFill>
              <a:latin typeface="Calibri"/>
              <a:ea typeface="Calibri"/>
              <a:cs typeface="Calibri"/>
              <a:sym typeface="Calibri"/>
            </a:endParaRPr>
          </a:p>
        </p:txBody>
      </p:sp>
      <p:sp>
        <p:nvSpPr>
          <p:cNvPr id="347" name="Google Shape;347;p36"/>
          <p:cNvSpPr txBox="1"/>
          <p:nvPr/>
        </p:nvSpPr>
        <p:spPr>
          <a:xfrm>
            <a:off x="411480" y="4149090"/>
            <a:ext cx="8320811"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Missing: an end-to-end account of </a:t>
            </a:r>
            <a:r>
              <a:rPr b="1" i="0" lang="en-GB" spc="0" sz="1500" u="none" cap="none" strike="noStrike">
                <a:solidFill>
                  <a:schemeClr val="accent2"/>
                </a:solidFill>
                <a:latin typeface="Calibri"/>
                <a:ea typeface="Calibri"/>
                <a:cs typeface="Calibri"/>
                <a:sym typeface="Calibri"/>
              </a:rPr>
              <a:t>where systems fail</a:t>
            </a:r>
            <a:r>
              <a:rPr b="0" i="0" lang="en-GB" spc="0" sz="1500" u="none" cap="none" strike="noStrike">
                <a:solidFill>
                  <a:srgbClr val="1B1F2A"/>
                </a:solidFill>
                <a:latin typeface="Calibri"/>
                <a:ea typeface="Calibri"/>
                <a:cs typeface="Calibri"/>
                <a:sym typeface="Calibri"/>
              </a:rPr>
              <a:t>  →  Chapter 3</a:t>
            </a:r>
            <a:endParaRPr b="0" i="0" spc="0" sz="1500" u="none" cap="none" strike="noStrike">
              <a:solidFill>
                <a:schemeClr val="dk1"/>
              </a:solidFill>
              <a:latin typeface="Calibri"/>
              <a:ea typeface="Calibri"/>
              <a:cs typeface="Calibri"/>
              <a:sym typeface="Calibri"/>
            </a:endParaRPr>
          </a:p>
        </p:txBody>
      </p:sp>
      <p:sp>
        <p:nvSpPr>
          <p:cNvPr id="348" name="Google Shape;348;p36"/>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7"/>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Backup · Deployment: Accuracy and Cost</a:t>
            </a:r>
            <a:endParaRPr sz="2300"/>
          </a:p>
        </p:txBody>
      </p:sp>
      <p:sp>
        <p:nvSpPr>
          <p:cNvPr id="355" name="Google Shape;355;p37"/>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Backup</a:t>
            </a:r>
            <a:endParaRPr b="0" i="0" spc="0" sz="900" u="none" cap="none" strike="noStrike">
              <a:solidFill>
                <a:schemeClr val="dk1"/>
              </a:solidFill>
              <a:latin typeface="Calibri"/>
              <a:ea typeface="Calibri"/>
              <a:cs typeface="Calibri"/>
              <a:sym typeface="Calibri"/>
            </a:endParaRPr>
          </a:p>
        </p:txBody>
      </p:sp>
      <p:sp>
        <p:nvSpPr>
          <p:cNvPr id="356" name="Google Shape;356;p37"/>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Every representation, retriever and reasoner choice has a cost side.</a:t>
            </a:r>
            <a:endParaRPr b="0" i="0" spc="0" sz="1400" u="none" cap="none" strike="noStrike">
              <a:solidFill>
                <a:schemeClr val="dk1"/>
              </a:solidFill>
              <a:latin typeface="Calibri"/>
              <a:ea typeface="Calibri"/>
              <a:cs typeface="Calibri"/>
              <a:sym typeface="Calibri"/>
            </a:endParaRPr>
          </a:p>
        </p:txBody>
      </p:sp>
      <p:pic>
        <p:nvPicPr>
          <p:cNvPr descr="tbl_deployment.png" id="357" name="Google Shape;357;p37"/>
          <p:cNvPicPr preferRelativeResize="0"/>
          <p:nvPr/>
        </p:nvPicPr>
        <p:blipFill rotWithShape="1">
          <a:blip r:embed="rId3">
            <a:alphaModFix/>
          </a:blip>
          <a:srcRect b="0" l="0" r="0" t="0"/>
          <a:stretch/>
        </p:blipFill>
        <p:spPr>
          <a:xfrm>
            <a:off x="523105" y="1097280"/>
            <a:ext cx="3430214" cy="3531868"/>
          </a:xfrm>
          <a:prstGeom prst="rect">
            <a:avLst/>
          </a:prstGeom>
          <a:noFill/>
          <a:ln>
            <a:noFill/>
          </a:ln>
        </p:spPr>
      </p:pic>
      <p:sp>
        <p:nvSpPr>
          <p:cNvPr id="358" name="Google Shape;358;p37"/>
          <p:cNvSpPr txBox="1"/>
          <p:nvPr/>
        </p:nvSpPr>
        <p:spPr>
          <a:xfrm>
            <a:off x="4572000" y="1819775"/>
            <a:ext cx="3871800" cy="17580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1B1F2A"/>
              </a:buClr>
              <a:buSzPts val="1500"/>
              <a:buFont typeface="Calibri"/>
              <a:buChar char="●"/>
            </a:pPr>
            <a:r>
              <a:rPr b="1" i="0" lang="en-GB" spc="0" sz="1500" u="none" cap="none" strike="noStrike">
                <a:solidFill>
                  <a:srgbClr val="1B1F2A"/>
                </a:solidFill>
                <a:latin typeface="Calibri"/>
                <a:ea typeface="Calibri"/>
                <a:cs typeface="Calibri"/>
                <a:sym typeface="Calibri"/>
              </a:rPr>
              <a:t>Representation</a:t>
            </a:r>
            <a:r>
              <a:rPr b="0" i="0" lang="en-GB" spc="0" sz="1500" u="none" cap="none" strike="noStrike">
                <a:solidFill>
                  <a:srgbClr val="1B1F2A"/>
                </a:solidFill>
                <a:latin typeface="Calibri"/>
                <a:ea typeface="Calibri"/>
                <a:cs typeface="Calibri"/>
                <a:sym typeface="Calibri"/>
              </a:rPr>
              <a:t>: text + image matches parser text + image with fewer tokens; images cost 26.3 s vs 1.8 s prefill</a:t>
            </a:r>
            <a:endParaRPr b="0" i="0" spc="0" sz="1500" u="none" cap="none" strike="noStrike">
              <a:solidFill>
                <a:schemeClr val="dk1"/>
              </a:solidFill>
              <a:latin typeface="Calibri"/>
              <a:ea typeface="Calibri"/>
              <a:cs typeface="Calibri"/>
              <a:sym typeface="Calibri"/>
            </a:endParaRPr>
          </a:p>
          <a:p>
            <a:pPr indent="-323850" lvl="0" marL="457200" marR="0" rtl="0" algn="l">
              <a:lnSpc>
                <a:spcPct val="100000"/>
              </a:lnSpc>
              <a:spcBef>
                <a:spcPts val="1000"/>
              </a:spcBef>
              <a:spcAft>
                <a:spcPts val="0"/>
              </a:spcAft>
              <a:buClr>
                <a:srgbClr val="1B1F2A"/>
              </a:buClr>
              <a:buSzPts val="1500"/>
              <a:buFont typeface="Calibri"/>
              <a:buChar char="●"/>
            </a:pPr>
            <a:r>
              <a:rPr b="1" i="0" lang="en-GB" spc="0" sz="1500" u="none" cap="none" strike="noStrike">
                <a:solidFill>
                  <a:srgbClr val="1B1F2A"/>
                </a:solidFill>
                <a:latin typeface="Calibri"/>
                <a:ea typeface="Calibri"/>
                <a:cs typeface="Calibri"/>
                <a:sym typeface="Calibri"/>
              </a:rPr>
              <a:t>Retriever</a:t>
            </a:r>
            <a:r>
              <a:rPr b="0" i="0" lang="en-GB" spc="0" sz="1500" u="none" cap="none" strike="noStrike">
                <a:solidFill>
                  <a:srgbClr val="1B1F2A"/>
                </a:solidFill>
                <a:latin typeface="Calibri"/>
                <a:ea typeface="Calibri"/>
                <a:cs typeface="Calibri"/>
                <a:sym typeface="Calibri"/>
              </a:rPr>
              <a:t>: ColQwen3 R@5 81.0% vs BM25 58.1%, but needs a GPU</a:t>
            </a:r>
            <a:endParaRPr b="0" i="0" spc="0" sz="1500" u="none" cap="none" strike="noStrike">
              <a:solidFill>
                <a:schemeClr val="dk1"/>
              </a:solidFill>
              <a:latin typeface="Calibri"/>
              <a:ea typeface="Calibri"/>
              <a:cs typeface="Calibri"/>
              <a:sym typeface="Calibri"/>
            </a:endParaRPr>
          </a:p>
          <a:p>
            <a:pPr indent="-323850" lvl="0" marL="457200" marR="0" rtl="0" algn="l">
              <a:lnSpc>
                <a:spcPct val="100000"/>
              </a:lnSpc>
              <a:spcBef>
                <a:spcPts val="1100"/>
              </a:spcBef>
              <a:spcAft>
                <a:spcPts val="1000"/>
              </a:spcAft>
              <a:buClr>
                <a:srgbClr val="1B1F2A"/>
              </a:buClr>
              <a:buSzPts val="1500"/>
              <a:buFont typeface="Calibri"/>
              <a:buChar char="●"/>
            </a:pPr>
            <a:r>
              <a:rPr b="1" i="0" lang="en-GB" spc="0" sz="1500" u="none" cap="none" strike="noStrike">
                <a:solidFill>
                  <a:srgbClr val="1B1F2A"/>
                </a:solidFill>
                <a:latin typeface="Calibri"/>
                <a:ea typeface="Calibri"/>
                <a:cs typeface="Calibri"/>
                <a:sym typeface="Calibri"/>
              </a:rPr>
              <a:t>Reasoner</a:t>
            </a:r>
            <a:r>
              <a:rPr b="0" i="0" lang="en-GB" spc="0" sz="1500" u="none" cap="none" strike="noStrike">
                <a:solidFill>
                  <a:srgbClr val="1B1F2A"/>
                </a:solidFill>
                <a:latin typeface="Calibri"/>
                <a:ea typeface="Calibri"/>
                <a:cs typeface="Calibri"/>
                <a:sym typeface="Calibri"/>
              </a:rPr>
              <a:t>: 4-bit saves memory, not time</a:t>
            </a:r>
            <a:endParaRPr b="0" i="0" spc="0" sz="1500" u="none" cap="none" strike="noStrike">
              <a:solidFill>
                <a:schemeClr val="dk1"/>
              </a:solidFill>
              <a:latin typeface="Calibri"/>
              <a:ea typeface="Calibri"/>
              <a:cs typeface="Calibri"/>
              <a:sym typeface="Calibri"/>
            </a:endParaRPr>
          </a:p>
        </p:txBody>
      </p:sp>
      <p:sp>
        <p:nvSpPr>
          <p:cNvPr id="359" name="Google Shape;359;p37"/>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Backup · Representative Frameworks</a:t>
            </a:r>
            <a:endParaRPr sz="2300"/>
          </a:p>
        </p:txBody>
      </p:sp>
      <p:sp>
        <p:nvSpPr>
          <p:cNvPr id="366" name="Google Shape;366;p3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Backup</a:t>
            </a:r>
            <a:endParaRPr b="0" i="0" spc="0" sz="900" u="none" cap="none" strike="noStrike">
              <a:solidFill>
                <a:schemeClr val="dk1"/>
              </a:solidFill>
              <a:latin typeface="Calibri"/>
              <a:ea typeface="Calibri"/>
              <a:cs typeface="Calibri"/>
              <a:sym typeface="Calibri"/>
            </a:endParaRPr>
          </a:p>
        </p:txBody>
      </p:sp>
      <p:sp>
        <p:nvSpPr>
          <p:cNvPr id="367" name="Google Shape;367;p38"/>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One representative system per architectural family.</a:t>
            </a:r>
            <a:endParaRPr b="0" i="0" spc="0" sz="1400" u="none" cap="none" strike="noStrike">
              <a:solidFill>
                <a:schemeClr val="dk1"/>
              </a:solidFill>
              <a:latin typeface="Calibri"/>
              <a:ea typeface="Calibri"/>
              <a:cs typeface="Calibri"/>
              <a:sym typeface="Calibri"/>
            </a:endParaRPr>
          </a:p>
        </p:txBody>
      </p:sp>
      <p:pic>
        <p:nvPicPr>
          <p:cNvPr descr="hivt5.png" id="368" name="Google Shape;368;p38"/>
          <p:cNvPicPr preferRelativeResize="0"/>
          <p:nvPr/>
        </p:nvPicPr>
        <p:blipFill rotWithShape="1">
          <a:blip r:embed="rId3">
            <a:alphaModFix/>
          </a:blip>
          <a:srcRect b="0" l="0" r="0" t="0"/>
          <a:stretch/>
        </p:blipFill>
        <p:spPr>
          <a:xfrm>
            <a:off x="805064" y="1097280"/>
            <a:ext cx="3201789" cy="1405890"/>
          </a:xfrm>
          <a:prstGeom prst="rect">
            <a:avLst/>
          </a:prstGeom>
          <a:noFill/>
          <a:ln>
            <a:noFill/>
          </a:ln>
        </p:spPr>
      </p:pic>
      <p:sp>
        <p:nvSpPr>
          <p:cNvPr id="369" name="Google Shape;369;p38"/>
          <p:cNvSpPr txBox="1"/>
          <p:nvPr/>
        </p:nvSpPr>
        <p:spPr>
          <a:xfrm>
            <a:off x="411480" y="253746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Hi-VT5</a:t>
            </a:r>
            <a:r>
              <a:rPr b="0" i="0" lang="en-GB" spc="0" sz="1000" u="none" cap="none" strike="noStrike">
                <a:solidFill>
                  <a:srgbClr val="5A6072"/>
                </a:solidFill>
                <a:latin typeface="Calibri"/>
                <a:ea typeface="Calibri"/>
                <a:cs typeface="Calibri"/>
                <a:sym typeface="Calibri"/>
              </a:rPr>
              <a:t>  Tito et al., Pattern Recognition 2023</a:t>
            </a:r>
            <a:endParaRPr b="0" i="0" spc="0" sz="1000" u="none" cap="none" strike="noStrike">
              <a:solidFill>
                <a:schemeClr val="dk1"/>
              </a:solidFill>
              <a:latin typeface="Calibri"/>
              <a:ea typeface="Calibri"/>
              <a:cs typeface="Calibri"/>
              <a:sym typeface="Calibri"/>
            </a:endParaRPr>
          </a:p>
        </p:txBody>
      </p:sp>
      <p:pic>
        <p:nvPicPr>
          <p:cNvPr descr="docslm.png" id="370" name="Google Shape;370;p38"/>
          <p:cNvPicPr preferRelativeResize="0"/>
          <p:nvPr/>
        </p:nvPicPr>
        <p:blipFill rotWithShape="1">
          <a:blip r:embed="rId4">
            <a:alphaModFix/>
          </a:blip>
          <a:srcRect b="0" l="0" r="0" t="0"/>
          <a:stretch/>
        </p:blipFill>
        <p:spPr>
          <a:xfrm>
            <a:off x="4743336" y="1097280"/>
            <a:ext cx="3988956" cy="1259444"/>
          </a:xfrm>
          <a:prstGeom prst="rect">
            <a:avLst/>
          </a:prstGeom>
          <a:noFill/>
          <a:ln>
            <a:noFill/>
          </a:ln>
        </p:spPr>
      </p:pic>
      <p:sp>
        <p:nvSpPr>
          <p:cNvPr id="371" name="Google Shape;371;p38"/>
          <p:cNvSpPr txBox="1"/>
          <p:nvPr/>
        </p:nvSpPr>
        <p:spPr>
          <a:xfrm>
            <a:off x="4743336" y="253746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DocSLM</a:t>
            </a:r>
            <a:r>
              <a:rPr b="0" i="0" lang="en-GB" spc="0" sz="1000" u="none" cap="none" strike="noStrike">
                <a:solidFill>
                  <a:srgbClr val="5A6072"/>
                </a:solidFill>
                <a:latin typeface="Calibri"/>
                <a:ea typeface="Calibri"/>
                <a:cs typeface="Calibri"/>
                <a:sym typeface="Calibri"/>
              </a:rPr>
              <a:t>  Hannan et al., CVPR 2026 Findings</a:t>
            </a:r>
            <a:endParaRPr b="0" i="0" spc="0" sz="1000" u="none" cap="none" strike="noStrike">
              <a:solidFill>
                <a:schemeClr val="dk1"/>
              </a:solidFill>
              <a:latin typeface="Calibri"/>
              <a:ea typeface="Calibri"/>
              <a:cs typeface="Calibri"/>
              <a:sym typeface="Calibri"/>
            </a:endParaRPr>
          </a:p>
        </p:txBody>
      </p:sp>
      <p:pic>
        <p:nvPicPr>
          <p:cNvPr descr="molorag.png" id="372" name="Google Shape;372;p38"/>
          <p:cNvPicPr preferRelativeResize="0"/>
          <p:nvPr/>
        </p:nvPicPr>
        <p:blipFill rotWithShape="1">
          <a:blip r:embed="rId5">
            <a:alphaModFix/>
          </a:blip>
          <a:srcRect b="0" l="0" r="0" t="0"/>
          <a:stretch/>
        </p:blipFill>
        <p:spPr>
          <a:xfrm>
            <a:off x="750784" y="2880360"/>
            <a:ext cx="3310349" cy="1405890"/>
          </a:xfrm>
          <a:prstGeom prst="rect">
            <a:avLst/>
          </a:prstGeom>
          <a:noFill/>
          <a:ln>
            <a:noFill/>
          </a:ln>
        </p:spPr>
      </p:pic>
      <p:sp>
        <p:nvSpPr>
          <p:cNvPr id="373" name="Google Shape;373;p38"/>
          <p:cNvSpPr txBox="1"/>
          <p:nvPr/>
        </p:nvSpPr>
        <p:spPr>
          <a:xfrm>
            <a:off x="411480" y="432054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MoLoRAG</a:t>
            </a:r>
            <a:r>
              <a:rPr b="0" i="0" lang="en-GB" spc="0" sz="1000" u="none" cap="none" strike="noStrike">
                <a:solidFill>
                  <a:srgbClr val="5A6072"/>
                </a:solidFill>
                <a:latin typeface="Calibri"/>
                <a:ea typeface="Calibri"/>
                <a:cs typeface="Calibri"/>
                <a:sym typeface="Calibri"/>
              </a:rPr>
              <a:t>  Wu et al., EMNLP 2025</a:t>
            </a:r>
            <a:endParaRPr b="0" i="0" spc="0" sz="1000" u="none" cap="none" strike="noStrike">
              <a:solidFill>
                <a:schemeClr val="dk1"/>
              </a:solidFill>
              <a:latin typeface="Calibri"/>
              <a:ea typeface="Calibri"/>
              <a:cs typeface="Calibri"/>
              <a:sym typeface="Calibri"/>
            </a:endParaRPr>
          </a:p>
        </p:txBody>
      </p:sp>
      <p:pic>
        <p:nvPicPr>
          <p:cNvPr descr="simpledoc.png" id="374" name="Google Shape;374;p38"/>
          <p:cNvPicPr preferRelativeResize="0"/>
          <p:nvPr/>
        </p:nvPicPr>
        <p:blipFill rotWithShape="1">
          <a:blip r:embed="rId6">
            <a:alphaModFix/>
          </a:blip>
          <a:srcRect b="0" l="0" r="0" t="0"/>
          <a:stretch/>
        </p:blipFill>
        <p:spPr>
          <a:xfrm>
            <a:off x="5378138" y="2880360"/>
            <a:ext cx="2719352" cy="1405890"/>
          </a:xfrm>
          <a:prstGeom prst="rect">
            <a:avLst/>
          </a:prstGeom>
          <a:noFill/>
          <a:ln>
            <a:noFill/>
          </a:ln>
        </p:spPr>
      </p:pic>
      <p:sp>
        <p:nvSpPr>
          <p:cNvPr id="375" name="Google Shape;375;p38"/>
          <p:cNvSpPr txBox="1"/>
          <p:nvPr/>
        </p:nvSpPr>
        <p:spPr>
          <a:xfrm>
            <a:off x="4743336" y="432054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SimpleDoc</a:t>
            </a:r>
            <a:r>
              <a:rPr b="0" i="0" lang="en-GB" spc="0" sz="1000" u="none" cap="none" strike="noStrike">
                <a:solidFill>
                  <a:srgbClr val="5A6072"/>
                </a:solidFill>
                <a:latin typeface="Calibri"/>
                <a:ea typeface="Calibri"/>
                <a:cs typeface="Calibri"/>
                <a:sym typeface="Calibri"/>
              </a:rPr>
              <a:t>  Jain et al., EMNLP 2025</a:t>
            </a:r>
            <a:endParaRPr b="0" i="0" spc="0" sz="1000" u="none" cap="none" strike="noStrike">
              <a:solidFill>
                <a:schemeClr val="dk1"/>
              </a:solidFill>
              <a:latin typeface="Calibri"/>
              <a:ea typeface="Calibri"/>
              <a:cs typeface="Calibri"/>
              <a:sym typeface="Calibri"/>
            </a:endParaRPr>
          </a:p>
        </p:txBody>
      </p:sp>
      <p:sp>
        <p:nvSpPr>
          <p:cNvPr id="376" name="Google Shape;376;p3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