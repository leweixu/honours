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2" r:id="rId5"/>
    <p:sldMasterId id="214748366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22638CC-EB42-4478-9DB3-19327D192BC3}">
  <a:tblStyle styleId="{922638CC-EB42-4478-9DB3-19327D192BC3}"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h39bf41852e5d6338_2_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h39bf41852e5d6338_2_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Hello everyone, my name is Lewei, and I’ve been working on multi-page visually rich document understanding, </a:t>
            </a:r>
            <a:r>
              <a:rPr lang="en-GB"/>
              <a:t>or just long document understanding,</a:t>
            </a:r>
            <a:r>
              <a:rPr lang="en-GB" sz="1100"/>
              <a:t> for my honours project this year.</a:t>
            </a:r>
            <a:endParaRPr/>
          </a:p>
        </p:txBody>
      </p:sp>
      <p:sp>
        <p:nvSpPr>
          <p:cNvPr id="62" name="Google Shape;62;h39bf41852e5d6338_2_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h39bf41852e5d6338_2_2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h39bf41852e5d6338_2_2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First, I’ll go through some background</a:t>
            </a:r>
            <a:r>
              <a:rPr lang="en-GB"/>
              <a:t>.</a:t>
            </a:r>
            <a:endParaRPr/>
          </a:p>
          <a:p>
            <a:pPr indent="-298450" lvl="0" marL="457200" rtl="0" algn="l">
              <a:lnSpc>
                <a:spcPct val="100000"/>
              </a:lnSpc>
              <a:spcBef>
                <a:spcPts val="0"/>
              </a:spcBef>
              <a:spcAft>
                <a:spcPts val="0"/>
              </a:spcAft>
              <a:buSzPts val="1100"/>
              <a:buChar char="●"/>
            </a:pPr>
            <a:r>
              <a:rPr lang="en-GB"/>
              <a:t>Then I’ll go cover the 2 papers completed this year.</a:t>
            </a:r>
            <a:endParaRPr/>
          </a:p>
          <a:p>
            <a:pPr indent="-298450" lvl="0" marL="457200" rtl="0" algn="l">
              <a:lnSpc>
                <a:spcPct val="100000"/>
              </a:lnSpc>
              <a:spcBef>
                <a:spcPts val="0"/>
              </a:spcBef>
              <a:spcAft>
                <a:spcPts val="0"/>
              </a:spcAft>
              <a:buSzPts val="1100"/>
              <a:buChar char="●"/>
            </a:pPr>
            <a:r>
              <a:rPr lang="en-GB"/>
              <a:t>The first is </a:t>
            </a:r>
            <a:r>
              <a:rPr lang="en-GB" sz="1100"/>
              <a:t>survey of </a:t>
            </a:r>
            <a:r>
              <a:rPr lang="en-GB"/>
              <a:t>the long document understanding field.</a:t>
            </a:r>
            <a:endParaRPr/>
          </a:p>
          <a:p>
            <a:pPr indent="-298450" lvl="0" marL="457200" rtl="0" algn="l">
              <a:lnSpc>
                <a:spcPct val="100000"/>
              </a:lnSpc>
              <a:spcBef>
                <a:spcPts val="0"/>
              </a:spcBef>
              <a:spcAft>
                <a:spcPts val="0"/>
              </a:spcAft>
              <a:buSzPts val="1100"/>
              <a:buChar char="●"/>
            </a:pPr>
            <a:r>
              <a:rPr lang="en-GB"/>
              <a:t>The second paper is an empirical study on designing and deploying long document understanding systems.</a:t>
            </a:r>
            <a:endParaRPr/>
          </a:p>
          <a:p>
            <a:pPr indent="-298450" lvl="0" marL="457200" rtl="0" algn="l">
              <a:lnSpc>
                <a:spcPct val="100000"/>
              </a:lnSpc>
              <a:spcBef>
                <a:spcPts val="0"/>
              </a:spcBef>
              <a:spcAft>
                <a:spcPts val="0"/>
              </a:spcAft>
              <a:buSzPts val="1100"/>
              <a:buChar char="●"/>
            </a:pPr>
            <a:r>
              <a:rPr lang="en-GB" sz="1100"/>
              <a:t>If we have time,</a:t>
            </a:r>
            <a:r>
              <a:rPr lang="en-GB"/>
              <a:t> I’ll go over this proof of concept method for long document understanding that uses the findings of empirical study.</a:t>
            </a:r>
            <a:endParaRPr/>
          </a:p>
        </p:txBody>
      </p:sp>
      <p:sp>
        <p:nvSpPr>
          <p:cNvPr id="73" name="Google Shape;73;h39bf41852e5d6338_2_2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h39bf41852e5d6338_2_2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h39bf41852e5d6338_2_2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a:t>So, </a:t>
            </a:r>
            <a:r>
              <a:rPr lang="en-GB" sz="1100"/>
              <a:t>what do we mean by a visually rich document?</a:t>
            </a:r>
            <a:endParaRPr/>
          </a:p>
          <a:p>
            <a:pPr indent="-298450" lvl="0" marL="457200" rtl="0" algn="l">
              <a:lnSpc>
                <a:spcPct val="100000"/>
              </a:lnSpc>
              <a:spcBef>
                <a:spcPts val="0"/>
              </a:spcBef>
              <a:spcAft>
                <a:spcPts val="0"/>
              </a:spcAft>
              <a:buSzPts val="1100"/>
              <a:buChar char="●"/>
            </a:pPr>
            <a:r>
              <a:rPr lang="en-GB" sz="1100"/>
              <a:t>Documents carry meaning through text, visual elements like charts and figures, and how the</a:t>
            </a:r>
            <a:r>
              <a:rPr lang="en-GB"/>
              <a:t>se</a:t>
            </a:r>
            <a:r>
              <a:rPr lang="en-GB" sz="1100"/>
              <a:t> are laid out on a page.</a:t>
            </a:r>
            <a:endParaRPr/>
          </a:p>
          <a:p>
            <a:pPr indent="-298450" lvl="0" marL="457200" rtl="0" algn="l">
              <a:lnSpc>
                <a:spcPct val="100000"/>
              </a:lnSpc>
              <a:spcBef>
                <a:spcPts val="0"/>
              </a:spcBef>
              <a:spcAft>
                <a:spcPts val="0"/>
              </a:spcAft>
              <a:buSzPts val="1100"/>
              <a:buChar char="●"/>
            </a:pPr>
            <a:r>
              <a:rPr lang="en-GB" sz="1100"/>
              <a:t>A multi-page document simply has two or more pages, but its meaning can be spread across those pages and connected between t</a:t>
            </a:r>
            <a:r>
              <a:rPr lang="en-GB"/>
              <a:t>hem.</a:t>
            </a:r>
            <a:endParaRPr/>
          </a:p>
          <a:p>
            <a:pPr indent="-298450" lvl="0" marL="457200" rtl="0" algn="l">
              <a:lnSpc>
                <a:spcPct val="100000"/>
              </a:lnSpc>
              <a:spcBef>
                <a:spcPts val="0"/>
              </a:spcBef>
              <a:spcAft>
                <a:spcPts val="0"/>
              </a:spcAft>
              <a:buSzPts val="1100"/>
              <a:buChar char="●"/>
            </a:pPr>
            <a:r>
              <a:rPr lang="en-GB"/>
              <a:t>Although when we say multi-page, we generally mean longer documents from 50 or hundreds of pages.</a:t>
            </a:r>
            <a:endParaRPr/>
          </a:p>
          <a:p>
            <a:pPr indent="-298450" lvl="0" marL="457200" rtl="0" algn="l">
              <a:lnSpc>
                <a:spcPct val="100000"/>
              </a:lnSpc>
              <a:spcBef>
                <a:spcPts val="0"/>
              </a:spcBef>
              <a:spcAft>
                <a:spcPts val="0"/>
              </a:spcAft>
              <a:buSzPts val="1100"/>
              <a:buChar char="●"/>
            </a:pPr>
            <a:r>
              <a:rPr lang="en-GB"/>
              <a:t>For the purposes of this seminar, the definition of document understanding is just answering an arbitrarily specific natural language question over a long visually rich document.</a:t>
            </a:r>
            <a:endParaRPr/>
          </a:p>
          <a:p>
            <a:pPr indent="-298450" lvl="0" marL="457200" rtl="0" algn="l">
              <a:lnSpc>
                <a:spcPct val="100000"/>
              </a:lnSpc>
              <a:spcBef>
                <a:spcPts val="0"/>
              </a:spcBef>
              <a:spcAft>
                <a:spcPts val="0"/>
              </a:spcAft>
              <a:buSzPts val="1100"/>
              <a:buChar char="●"/>
            </a:pPr>
            <a:r>
              <a:rPr lang="en-GB"/>
              <a:t>Here is an example of relatively easy question now, but was very difficult even just a year ago.</a:t>
            </a:r>
            <a:endParaRPr/>
          </a:p>
          <a:p>
            <a:pPr indent="-298450" lvl="0" marL="457200" rtl="0" algn="l">
              <a:lnSpc>
                <a:spcPct val="100000"/>
              </a:lnSpc>
              <a:spcBef>
                <a:spcPts val="0"/>
              </a:spcBef>
              <a:spcAft>
                <a:spcPts val="0"/>
              </a:spcAft>
              <a:buSzPts val="1100"/>
              <a:buChar char="●"/>
            </a:pPr>
            <a:r>
              <a:rPr lang="en-GB"/>
              <a:t>Long document understanding is difficult due to two main reasons</a:t>
            </a:r>
            <a:endParaRPr/>
          </a:p>
          <a:p>
            <a:pPr indent="-298450" lvl="0" marL="457200" rtl="0" algn="l">
              <a:lnSpc>
                <a:spcPct val="100000"/>
              </a:lnSpc>
              <a:spcBef>
                <a:spcPts val="0"/>
              </a:spcBef>
              <a:spcAft>
                <a:spcPts val="0"/>
              </a:spcAft>
              <a:buSzPts val="1100"/>
              <a:buChar char="●"/>
            </a:pPr>
            <a:r>
              <a:rPr lang="en-GB"/>
              <a:t>First is the sheer volume of information, both textual, visual and structural, is often too much for even long context vision language models to read in full, and even if you can, reasoning over so much information is very difficult.</a:t>
            </a:r>
            <a:endParaRPr/>
          </a:p>
          <a:p>
            <a:pPr indent="-298450" lvl="0" marL="457200" rtl="0" algn="l">
              <a:lnSpc>
                <a:spcPct val="100000"/>
              </a:lnSpc>
              <a:spcBef>
                <a:spcPts val="0"/>
              </a:spcBef>
              <a:spcAft>
                <a:spcPts val="0"/>
              </a:spcAft>
              <a:buSzPts val="1100"/>
              <a:buChar char="●"/>
            </a:pPr>
            <a:r>
              <a:rPr lang="en-GB"/>
              <a:t>Second is that answer relevant evidence can be scattered across the document, and you need to combine and reason over this evidence to successfully answer a question.</a:t>
            </a:r>
            <a:endParaRPr/>
          </a:p>
        </p:txBody>
      </p:sp>
      <p:sp>
        <p:nvSpPr>
          <p:cNvPr id="83" name="Google Shape;83;h39bf41852e5d6338_2_2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h39bf41852e5d6338_2_4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h39bf41852e5d6338_2_4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We can already see document understanding research being applied in the language model assistants we use.</a:t>
            </a:r>
            <a:endParaRPr/>
          </a:p>
          <a:p>
            <a:pPr indent="-298450" lvl="0" marL="457200" rtl="0" algn="l">
              <a:lnSpc>
                <a:spcPct val="100000"/>
              </a:lnSpc>
              <a:spcBef>
                <a:spcPts val="0"/>
              </a:spcBef>
              <a:spcAft>
                <a:spcPts val="0"/>
              </a:spcAft>
              <a:buSzPts val="1100"/>
              <a:buChar char="●"/>
            </a:pPr>
            <a:r>
              <a:rPr lang="en-GB"/>
              <a:t>Here’s an example of me uploading my thesis which is close to 100 pages, and claude is able to answer questions very accurately.</a:t>
            </a:r>
            <a:endParaRPr/>
          </a:p>
          <a:p>
            <a:pPr indent="-298450" lvl="0" marL="457200" rtl="0" algn="l">
              <a:lnSpc>
                <a:spcPct val="100000"/>
              </a:lnSpc>
              <a:spcBef>
                <a:spcPts val="0"/>
              </a:spcBef>
              <a:spcAft>
                <a:spcPts val="0"/>
              </a:spcAft>
              <a:buSzPts val="1100"/>
              <a:buChar char="●"/>
            </a:pPr>
            <a:r>
              <a:rPr lang="en-GB" sz="1100"/>
              <a:t>But these assistants are just one application of doc</a:t>
            </a:r>
            <a:r>
              <a:rPr lang="en-GB"/>
              <a:t>ument understanding</a:t>
            </a:r>
            <a:r>
              <a:rPr lang="en-GB" sz="1100"/>
              <a:t>. </a:t>
            </a:r>
            <a:endParaRPr sz="1100"/>
          </a:p>
          <a:p>
            <a:pPr indent="-298450" lvl="0" marL="457200" rtl="0" algn="l">
              <a:lnSpc>
                <a:spcPct val="100000"/>
              </a:lnSpc>
              <a:spcBef>
                <a:spcPts val="0"/>
              </a:spcBef>
              <a:spcAft>
                <a:spcPts val="0"/>
              </a:spcAft>
              <a:buSzPts val="1100"/>
              <a:buChar char="●"/>
            </a:pPr>
            <a:r>
              <a:rPr lang="en-GB" sz="1100"/>
              <a:t>In industry, you might have one or a few specific tasks to perform over thousands or millions of documents.</a:t>
            </a:r>
            <a:endParaRPr/>
          </a:p>
          <a:p>
            <a:pPr indent="-298450" lvl="0" marL="457200" rtl="0" algn="l">
              <a:lnSpc>
                <a:spcPct val="100000"/>
              </a:lnSpc>
              <a:spcBef>
                <a:spcPts val="0"/>
              </a:spcBef>
              <a:spcAft>
                <a:spcPts val="0"/>
              </a:spcAft>
              <a:buSzPts val="1100"/>
              <a:buChar char="●"/>
            </a:pPr>
            <a:r>
              <a:rPr lang="en-GB" sz="1100"/>
              <a:t>One major concern is privacy. </a:t>
            </a:r>
            <a:r>
              <a:rPr lang="en-GB"/>
              <a:t>For example, </a:t>
            </a:r>
            <a:r>
              <a:rPr lang="en-GB"/>
              <a:t>medical and legal documents</a:t>
            </a:r>
            <a:r>
              <a:rPr lang="en-GB" sz="1100"/>
              <a:t> cannot be sent to a third-party service</a:t>
            </a:r>
            <a:r>
              <a:rPr lang="en-GB"/>
              <a:t> due to data-residency requirements.</a:t>
            </a:r>
            <a:endParaRPr/>
          </a:p>
          <a:p>
            <a:pPr indent="-298450" lvl="0" marL="457200" rtl="0" algn="l">
              <a:lnSpc>
                <a:spcPct val="100000"/>
              </a:lnSpc>
              <a:spcBef>
                <a:spcPts val="0"/>
              </a:spcBef>
              <a:spcAft>
                <a:spcPts val="0"/>
              </a:spcAft>
              <a:buSzPts val="1100"/>
              <a:buChar char="●"/>
            </a:pPr>
            <a:r>
              <a:rPr lang="en-GB" sz="1100"/>
              <a:t>Another is cost. Even without privacy concerns, processing that volume through a commercial API can be very expensive.</a:t>
            </a:r>
            <a:endParaRPr/>
          </a:p>
          <a:p>
            <a:pPr indent="-298450" lvl="0" marL="457200" rtl="0" algn="l">
              <a:lnSpc>
                <a:spcPct val="100000"/>
              </a:lnSpc>
              <a:spcBef>
                <a:spcPts val="0"/>
              </a:spcBef>
              <a:spcAft>
                <a:spcPts val="0"/>
              </a:spcAft>
              <a:buSzPts val="1100"/>
              <a:buChar char="●"/>
            </a:pPr>
            <a:r>
              <a:rPr lang="en-GB" sz="1100"/>
              <a:t>A</a:t>
            </a:r>
            <a:r>
              <a:rPr lang="en-GB"/>
              <a:t>nother case is</a:t>
            </a:r>
            <a:r>
              <a:rPr lang="en-GB" sz="1100"/>
              <a:t> specialist document types may </a:t>
            </a:r>
            <a:r>
              <a:rPr lang="en-GB"/>
              <a:t>need specialized pipelines to process them, or maybe even additional training on the language model.</a:t>
            </a:r>
            <a:endParaRPr/>
          </a:p>
          <a:p>
            <a:pPr indent="-298450" lvl="0" marL="457200" rtl="0" algn="l">
              <a:spcBef>
                <a:spcPts val="0"/>
              </a:spcBef>
              <a:spcAft>
                <a:spcPts val="0"/>
              </a:spcAft>
              <a:buClr>
                <a:schemeClr val="dk1"/>
              </a:buClr>
              <a:buSzPts val="1100"/>
              <a:buChar char="●"/>
            </a:pPr>
            <a:r>
              <a:rPr lang="en-GB">
                <a:solidFill>
                  <a:schemeClr val="dk1"/>
                </a:solidFill>
              </a:rPr>
              <a:t>Nor is uploading documents one by one to a LLM assistant feasible, and you might need structured output for automatic downstream processing</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As a result, real deployments need to implement their own document understanding pipeline either using API calls to closed source models, or by running local vision language models.</a:t>
            </a:r>
            <a:endParaRPr/>
          </a:p>
        </p:txBody>
      </p:sp>
      <p:sp>
        <p:nvSpPr>
          <p:cNvPr id="97" name="Google Shape;97;h39bf41852e5d6338_2_4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h39bf41852e5d6338_2_5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h39bf41852e5d6338_2_5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a:t>That brings us to the survey paper completed earlier this year.</a:t>
            </a:r>
            <a:endParaRPr/>
          </a:p>
          <a:p>
            <a:pPr indent="-298450" lvl="0" marL="457200" rtl="0" algn="l">
              <a:lnSpc>
                <a:spcPct val="100000"/>
              </a:lnSpc>
              <a:spcBef>
                <a:spcPts val="0"/>
              </a:spcBef>
              <a:spcAft>
                <a:spcPts val="0"/>
              </a:spcAft>
              <a:buSzPts val="1100"/>
              <a:buChar char="●"/>
            </a:pPr>
            <a:r>
              <a:rPr lang="en-GB"/>
              <a:t>This is the first survey to treat the multi-page setting as a distinct problem.</a:t>
            </a:r>
            <a:endParaRPr/>
          </a:p>
          <a:p>
            <a:pPr indent="-298450" lvl="0" marL="457200" rtl="0" algn="l">
              <a:lnSpc>
                <a:spcPct val="100000"/>
              </a:lnSpc>
              <a:spcBef>
                <a:spcPts val="0"/>
              </a:spcBef>
              <a:spcAft>
                <a:spcPts val="0"/>
              </a:spcAft>
              <a:buSzPts val="1100"/>
              <a:buChar char="●"/>
            </a:pPr>
            <a:r>
              <a:rPr lang="en-GB"/>
              <a:t>And has been accepted into a top tier conference for natural language processing.</a:t>
            </a:r>
            <a:endParaRPr/>
          </a:p>
          <a:p>
            <a:pPr indent="-298450" lvl="0" marL="457200" rtl="0" algn="l">
              <a:lnSpc>
                <a:spcPct val="100000"/>
              </a:lnSpc>
              <a:spcBef>
                <a:spcPts val="0"/>
              </a:spcBef>
              <a:spcAft>
                <a:spcPts val="0"/>
              </a:spcAft>
              <a:buSzPts val="1100"/>
              <a:buChar char="●"/>
            </a:pPr>
            <a:r>
              <a:rPr lang="en-GB"/>
              <a:t>I’m a bit conscious of time so i’ll mainly talk about the 4 architectural families, and mostly skip </a:t>
            </a:r>
            <a:r>
              <a:rPr lang="en-GB"/>
              <a:t>everything else</a:t>
            </a:r>
            <a:endParaRPr/>
          </a:p>
        </p:txBody>
      </p:sp>
      <p:sp>
        <p:nvSpPr>
          <p:cNvPr id="110" name="Google Shape;110;h39bf41852e5d6338_2_5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h39bf41852e5d6338_2_7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h39bf41852e5d6338_2_7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a:t>These architectural families can also be considered different approaches to long document understanding.</a:t>
            </a:r>
            <a:endParaRPr/>
          </a:p>
          <a:p>
            <a:pPr indent="-298450" lvl="0" marL="457200" rtl="0" algn="l">
              <a:lnSpc>
                <a:spcPct val="100000"/>
              </a:lnSpc>
              <a:spcBef>
                <a:spcPts val="0"/>
              </a:spcBef>
              <a:spcAft>
                <a:spcPts val="0"/>
              </a:spcAft>
              <a:buSzPts val="1100"/>
              <a:buChar char="●"/>
            </a:pPr>
            <a:r>
              <a:rPr lang="en-GB" sz="1100"/>
              <a:t>The first family is page-to-document encoding models, an early approach that extends single-page architectures to the multi-page setting.</a:t>
            </a:r>
            <a:endParaRPr/>
          </a:p>
          <a:p>
            <a:pPr indent="-298450" lvl="0" marL="457200" rtl="0" algn="l">
              <a:lnSpc>
                <a:spcPct val="100000"/>
              </a:lnSpc>
              <a:spcBef>
                <a:spcPts val="0"/>
              </a:spcBef>
              <a:spcAft>
                <a:spcPts val="0"/>
              </a:spcAft>
              <a:buSzPts val="1100"/>
              <a:buChar char="●"/>
            </a:pPr>
            <a:r>
              <a:rPr lang="en-GB" sz="1100"/>
              <a:t>Each page is encoded separately into a compact representation. Those representations are connected through a cross-page mechanism, such as attention, and passed to a decoder to generate the final answer.</a:t>
            </a:r>
            <a:endParaRPr/>
          </a:p>
          <a:p>
            <a:pPr indent="-298450" lvl="0" marL="457200" rtl="0" algn="l">
              <a:lnSpc>
                <a:spcPct val="100000"/>
              </a:lnSpc>
              <a:spcBef>
                <a:spcPts val="0"/>
              </a:spcBef>
              <a:spcAft>
                <a:spcPts val="0"/>
              </a:spcAft>
              <a:buSzPts val="1100"/>
              <a:buChar char="●"/>
            </a:pPr>
            <a:r>
              <a:rPr lang="en-GB" sz="1100"/>
              <a:t>The limitation is that pages contain different amounts of information. Giving each page a fixed representation budget can lose fine-grained detail during encoding.</a:t>
            </a:r>
            <a:endParaRPr/>
          </a:p>
          <a:p>
            <a:pPr indent="-298450" lvl="0" marL="457200" rtl="0" algn="l">
              <a:lnSpc>
                <a:spcPct val="100000"/>
              </a:lnSpc>
              <a:spcBef>
                <a:spcPts val="0"/>
              </a:spcBef>
              <a:spcAft>
                <a:spcPts val="0"/>
              </a:spcAft>
              <a:buSzPts val="1100"/>
              <a:buChar char="●"/>
            </a:pPr>
            <a:r>
              <a:rPr lang="en-GB" sz="1100"/>
              <a:t>The second family addresses this by </a:t>
            </a:r>
            <a:r>
              <a:rPr lang="en-GB"/>
              <a:t>removing the per page encoding step, and instead </a:t>
            </a:r>
            <a:r>
              <a:rPr lang="en-GB" sz="1100"/>
              <a:t>adapts a pretrained multimodal large language model to process the document natively within its context window.</a:t>
            </a:r>
            <a:endParaRPr/>
          </a:p>
          <a:p>
            <a:pPr indent="-298450" lvl="0" marL="457200" rtl="0" algn="l">
              <a:lnSpc>
                <a:spcPct val="100000"/>
              </a:lnSpc>
              <a:spcBef>
                <a:spcPts val="0"/>
              </a:spcBef>
              <a:spcAft>
                <a:spcPts val="0"/>
              </a:spcAft>
              <a:buSzPts val="1100"/>
              <a:buChar char="●"/>
            </a:pPr>
            <a:r>
              <a:rPr lang="en-GB" sz="1100"/>
              <a:t>Adaptation can involve continued pretraining on document tasks or fine-tuning. Some systems also compress the representations to fit longer documents.</a:t>
            </a:r>
            <a:endParaRPr/>
          </a:p>
          <a:p>
            <a:pPr indent="-298450" lvl="0" marL="457200" rtl="0" algn="l">
              <a:lnSpc>
                <a:spcPct val="100000"/>
              </a:lnSpc>
              <a:spcBef>
                <a:spcPts val="0"/>
              </a:spcBef>
              <a:spcAft>
                <a:spcPts val="0"/>
              </a:spcAft>
              <a:buSzPts val="1100"/>
              <a:buChar char="●"/>
            </a:pPr>
            <a:r>
              <a:rPr lang="en-GB" sz="1100"/>
              <a:t>But performance can still degrade as documents get longer, and some documents cannot fit at all.</a:t>
            </a:r>
            <a:endParaRPr/>
          </a:p>
          <a:p>
            <a:pPr indent="-298450" lvl="0" marL="457200" rtl="0" algn="l">
              <a:lnSpc>
                <a:spcPct val="100000"/>
              </a:lnSpc>
              <a:spcBef>
                <a:spcPts val="0"/>
              </a:spcBef>
              <a:spcAft>
                <a:spcPts val="0"/>
              </a:spcAft>
              <a:buSzPts val="1100"/>
              <a:buChar char="●"/>
            </a:pPr>
            <a:r>
              <a:rPr lang="en-GB" sz="1100"/>
              <a:t>This motivates retrieval-augmented pipelines. Instead of fitting the whole document into the model, we retrieve relevant evidence and pass a smaller evidence set to a vision-language model.</a:t>
            </a:r>
            <a:endParaRPr/>
          </a:p>
          <a:p>
            <a:pPr indent="-298450" lvl="0" marL="457200" rtl="0" algn="l">
              <a:lnSpc>
                <a:spcPct val="100000"/>
              </a:lnSpc>
              <a:spcBef>
                <a:spcPts val="0"/>
              </a:spcBef>
              <a:spcAft>
                <a:spcPts val="0"/>
              </a:spcAft>
              <a:buSzPts val="1100"/>
              <a:buChar char="●"/>
            </a:pPr>
            <a:r>
              <a:rPr lang="en-GB" sz="1100"/>
              <a:t>Retrieval can be sophisticated, but the workflow is fixed in advance. Evidence missed during retrieval cannot be recovered by the answering stage.</a:t>
            </a:r>
            <a:endParaRPr/>
          </a:p>
          <a:p>
            <a:pPr indent="-298450" lvl="0" marL="457200" rtl="0" algn="l">
              <a:lnSpc>
                <a:spcPct val="100000"/>
              </a:lnSpc>
              <a:spcBef>
                <a:spcPts val="0"/>
              </a:spcBef>
              <a:spcAft>
                <a:spcPts val="0"/>
              </a:spcAft>
              <a:buSzPts val="1100"/>
              <a:buChar char="●"/>
            </a:pPr>
            <a:r>
              <a:rPr lang="en-GB" sz="1100"/>
              <a:t>Finally, adaptive-trajectory pipelines follow an agentic approach. The language model decides what evidence to collect, how to collect it, and when it has enough to answer.</a:t>
            </a:r>
            <a:endParaRPr/>
          </a:p>
          <a:p>
            <a:pPr indent="-298450" lvl="0" marL="457200" rtl="0" algn="l">
              <a:lnSpc>
                <a:spcPct val="100000"/>
              </a:lnSpc>
              <a:spcBef>
                <a:spcPts val="0"/>
              </a:spcBef>
              <a:spcAft>
                <a:spcPts val="0"/>
              </a:spcAft>
              <a:buSzPts val="1100"/>
              <a:buChar char="●"/>
            </a:pPr>
            <a:r>
              <a:rPr lang="en-GB" sz="1100"/>
              <a:t>But those repeated calls can become expensive, and make the total time and compute cost harder to bound.</a:t>
            </a:r>
            <a:endParaRPr/>
          </a:p>
          <a:p>
            <a:pPr indent="-298450" lvl="0" marL="457200" rtl="0" algn="l">
              <a:lnSpc>
                <a:spcPct val="100000"/>
              </a:lnSpc>
              <a:spcBef>
                <a:spcPts val="0"/>
              </a:spcBef>
              <a:spcAft>
                <a:spcPts val="0"/>
              </a:spcAft>
              <a:buSzPts val="1100"/>
              <a:buChar char="●"/>
            </a:pPr>
            <a:r>
              <a:rPr lang="en-GB" sz="1100"/>
              <a:t>The dates show roughly when each family is active in the papers we surveyed. Each one fixes the bottleneck of the one before, and moves it somewhere else.</a:t>
            </a:r>
            <a:endParaRPr/>
          </a:p>
          <a:p>
            <a:pPr indent="-298450" lvl="0" marL="457200" rtl="0" algn="l">
              <a:lnSpc>
                <a:spcPct val="100000"/>
              </a:lnSpc>
              <a:spcBef>
                <a:spcPts val="0"/>
              </a:spcBef>
              <a:spcAft>
                <a:spcPts val="0"/>
              </a:spcAft>
              <a:buSzPts val="1100"/>
              <a:buChar char="●"/>
            </a:pPr>
            <a:r>
              <a:rPr lang="en-GB" sz="1100"/>
              <a:t>We call the first two families models, because they are trained end to end. We call the last two pipelines, because their components are interchangeable.</a:t>
            </a:r>
            <a:endParaRPr/>
          </a:p>
        </p:txBody>
      </p:sp>
      <p:sp>
        <p:nvSpPr>
          <p:cNvPr id="126" name="Google Shape;126;h39bf41852e5d6338_2_7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h39bf41852e5d6338_2_8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h39bf41852e5d6338_2_8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This is the main table of the survey, with the systems and papers we surveyed grouped by architectural family.</a:t>
            </a:r>
            <a:endParaRPr/>
          </a:p>
          <a:p>
            <a:pPr indent="-298450" lvl="0" marL="457200" rtl="0" algn="l">
              <a:lnSpc>
                <a:spcPct val="100000"/>
              </a:lnSpc>
              <a:spcBef>
                <a:spcPts val="0"/>
              </a:spcBef>
              <a:spcAft>
                <a:spcPts val="0"/>
              </a:spcAft>
              <a:buSzPts val="1100"/>
              <a:buChar char="●"/>
            </a:pPr>
            <a:r>
              <a:rPr lang="en-GB" sz="1100"/>
              <a:t>There are three things I want to point ou</a:t>
            </a:r>
            <a:r>
              <a:rPr lang="en-GB"/>
              <a:t>t</a:t>
            </a:r>
            <a:endParaRPr/>
          </a:p>
          <a:p>
            <a:pPr indent="-298450" lvl="0" marL="457200" rtl="0" algn="l">
              <a:lnSpc>
                <a:spcPct val="100000"/>
              </a:lnSpc>
              <a:spcBef>
                <a:spcPts val="0"/>
              </a:spcBef>
              <a:spcAft>
                <a:spcPts val="0"/>
              </a:spcAft>
              <a:buSzPts val="1100"/>
              <a:buChar char="●"/>
            </a:pPr>
            <a:r>
              <a:rPr lang="en-GB"/>
              <a:t>First, with the first 2 architectural families, we call them “models” because they’re generally trained end to end with purpose build components</a:t>
            </a:r>
            <a:endParaRPr/>
          </a:p>
          <a:p>
            <a:pPr indent="-298450" lvl="0" marL="457200" rtl="0" algn="l">
              <a:lnSpc>
                <a:spcPct val="100000"/>
              </a:lnSpc>
              <a:spcBef>
                <a:spcPts val="0"/>
              </a:spcBef>
              <a:spcAft>
                <a:spcPts val="0"/>
              </a:spcAft>
              <a:buSzPts val="1100"/>
              <a:buChar char="●"/>
            </a:pPr>
            <a:r>
              <a:rPr lang="en-GB"/>
              <a:t>The last 2 families we call them “pipelines” because they generally use a frozen vision language backbone sometimes with some fine tuning.</a:t>
            </a:r>
            <a:endParaRPr/>
          </a:p>
          <a:p>
            <a:pPr indent="-298450" lvl="0" marL="457200" rtl="0" algn="l">
              <a:lnSpc>
                <a:spcPct val="100000"/>
              </a:lnSpc>
              <a:spcBef>
                <a:spcPts val="0"/>
              </a:spcBef>
              <a:spcAft>
                <a:spcPts val="0"/>
              </a:spcAft>
              <a:buSzPts val="1100"/>
              <a:buChar char="●"/>
            </a:pPr>
            <a:r>
              <a:rPr lang="en-GB"/>
              <a:t>Their components are usually interchangeable, especially the vision language backbone, so as these language models get stronger, the pipelines also benefit from these improvements</a:t>
            </a:r>
            <a:endParaRPr/>
          </a:p>
          <a:p>
            <a:pPr indent="-298450" lvl="0" marL="457200" rtl="0" algn="l">
              <a:lnSpc>
                <a:spcPct val="100000"/>
              </a:lnSpc>
              <a:spcBef>
                <a:spcPts val="0"/>
              </a:spcBef>
              <a:spcAft>
                <a:spcPts val="0"/>
              </a:spcAft>
              <a:buSzPts val="1100"/>
              <a:buChar char="●"/>
            </a:pPr>
            <a:r>
              <a:rPr lang="en-GB" sz="1100"/>
              <a:t>Second, the modalities. Some systems use vision only, </a:t>
            </a:r>
            <a:r>
              <a:rPr lang="en-GB"/>
              <a:t>treating document understanding as a pure computer vision problem.</a:t>
            </a:r>
            <a:endParaRPr/>
          </a:p>
          <a:p>
            <a:pPr indent="-298450" lvl="0" marL="457200" rtl="0" algn="l">
              <a:lnSpc>
                <a:spcPct val="100000"/>
              </a:lnSpc>
              <a:spcBef>
                <a:spcPts val="0"/>
              </a:spcBef>
              <a:spcAft>
                <a:spcPts val="0"/>
              </a:spcAft>
              <a:buSzPts val="1100"/>
              <a:buChar char="●"/>
            </a:pPr>
            <a:r>
              <a:rPr lang="en-GB" sz="1100"/>
              <a:t>Others combine vision with text and layout information. The text may be embedded in the document or extracted by a parser.</a:t>
            </a:r>
            <a:endParaRPr/>
          </a:p>
          <a:p>
            <a:pPr indent="-298450" lvl="0" marL="457200" rtl="0" algn="l">
              <a:lnSpc>
                <a:spcPct val="100000"/>
              </a:lnSpc>
              <a:spcBef>
                <a:spcPts val="0"/>
              </a:spcBef>
              <a:spcAft>
                <a:spcPts val="0"/>
              </a:spcAft>
              <a:buSzPts val="1100"/>
              <a:buChar char="●"/>
            </a:pPr>
            <a:r>
              <a:rPr lang="en-GB" sz="1100"/>
              <a:t>This distinction will be important in the next part of the seminar.</a:t>
            </a:r>
            <a:endParaRPr/>
          </a:p>
          <a:p>
            <a:pPr indent="-298450" lvl="0" marL="457200" rtl="0" algn="l">
              <a:lnSpc>
                <a:spcPct val="100000"/>
              </a:lnSpc>
              <a:spcBef>
                <a:spcPts val="0"/>
              </a:spcBef>
              <a:spcAft>
                <a:spcPts val="0"/>
              </a:spcAft>
              <a:buSzPts val="1100"/>
              <a:buChar char="●"/>
            </a:pPr>
            <a:r>
              <a:rPr lang="en-GB" sz="1100"/>
              <a:t>Third, search. It only appears once retrieval is separated from answering, in the two pipeline families.</a:t>
            </a:r>
            <a:endParaRPr/>
          </a:p>
        </p:txBody>
      </p:sp>
      <p:sp>
        <p:nvSpPr>
          <p:cNvPr id="144" name="Google Shape;144;h39bf41852e5d6338_2_8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h39bf41852e5d6338_2_10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h39bf41852e5d6338_2_10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a:t>Various training free strategies can be used to improve document understanding performance</a:t>
            </a:r>
            <a:endParaRPr/>
          </a:p>
          <a:p>
            <a:pPr indent="-298450" lvl="0" marL="457200" rtl="0" algn="l">
              <a:lnSpc>
                <a:spcPct val="100000"/>
              </a:lnSpc>
              <a:spcBef>
                <a:spcPts val="0"/>
              </a:spcBef>
              <a:spcAft>
                <a:spcPts val="0"/>
              </a:spcAft>
              <a:buSzPts val="1100"/>
              <a:buChar char="●"/>
            </a:pPr>
            <a:r>
              <a:rPr lang="en-GB"/>
              <a:t>Retrieval and navigation techniques such as similarity based and relation aware retrieval</a:t>
            </a:r>
            <a:endParaRPr/>
          </a:p>
          <a:p>
            <a:pPr indent="-298450" lvl="0" marL="457200" rtl="0" algn="l">
              <a:lnSpc>
                <a:spcPct val="100000"/>
              </a:lnSpc>
              <a:spcBef>
                <a:spcPts val="0"/>
              </a:spcBef>
              <a:spcAft>
                <a:spcPts val="0"/>
              </a:spcAft>
              <a:buSzPts val="1100"/>
              <a:buChar char="●"/>
            </a:pPr>
            <a:r>
              <a:rPr lang="en-GB"/>
              <a:t>And agentic methods such as reason + act with tool calls and multi-agent orchestration</a:t>
            </a:r>
            <a:endParaRPr/>
          </a:p>
          <a:p>
            <a:pPr indent="-298450" lvl="0" marL="457200" rtl="0" algn="l">
              <a:lnSpc>
                <a:spcPct val="100000"/>
              </a:lnSpc>
              <a:spcBef>
                <a:spcPts val="0"/>
              </a:spcBef>
              <a:spcAft>
                <a:spcPts val="0"/>
              </a:spcAft>
              <a:buSzPts val="1100"/>
              <a:buChar char="●"/>
            </a:pPr>
            <a:r>
              <a:rPr lang="en-GB"/>
              <a:t>These are used only in retrieval augmented and adaptive trajectory pipelines</a:t>
            </a:r>
            <a:endParaRPr/>
          </a:p>
          <a:p>
            <a:pPr indent="-298450" lvl="0" marL="457200" rtl="0" algn="l">
              <a:lnSpc>
                <a:spcPct val="100000"/>
              </a:lnSpc>
              <a:spcBef>
                <a:spcPts val="0"/>
              </a:spcBef>
              <a:spcAft>
                <a:spcPts val="0"/>
              </a:spcAft>
              <a:buSzPts val="1100"/>
              <a:buChar char="●"/>
            </a:pPr>
            <a:r>
              <a:rPr lang="en-GB"/>
              <a:t>Reasoning strategies such as cot, </a:t>
            </a:r>
            <a:r>
              <a:rPr lang="en-GB"/>
              <a:t>reflexion</a:t>
            </a:r>
            <a:r>
              <a:rPr lang="en-GB"/>
              <a:t>, sc, tot can be applied to all reasoning backbones.</a:t>
            </a:r>
            <a:endParaRPr/>
          </a:p>
        </p:txBody>
      </p:sp>
      <p:sp>
        <p:nvSpPr>
          <p:cNvPr id="160" name="Google Shape;160;h39bf41852e5d6338_2_10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h39bf41852e5d6338_2_11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h39bf41852e5d6338_2_11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Pretraining is rare</a:t>
            </a:r>
            <a:r>
              <a:rPr lang="en-GB"/>
              <a:t> for long document understanding due to scarcity of data</a:t>
            </a:r>
            <a:endParaRPr/>
          </a:p>
          <a:p>
            <a:pPr indent="-298450" lvl="0" marL="457200" rtl="0" algn="l">
              <a:lnSpc>
                <a:spcPct val="100000"/>
              </a:lnSpc>
              <a:spcBef>
                <a:spcPts val="0"/>
              </a:spcBef>
              <a:spcAft>
                <a:spcPts val="0"/>
              </a:spcAft>
              <a:buSzPts val="1100"/>
              <a:buChar char="●"/>
            </a:pPr>
            <a:r>
              <a:rPr lang="en-GB"/>
              <a:t>We see a lot of fine tuning techniques </a:t>
            </a:r>
            <a:r>
              <a:rPr lang="en-GB"/>
              <a:t>applied</a:t>
            </a:r>
            <a:r>
              <a:rPr lang="en-GB"/>
              <a:t> across retrieval, reasoning and agentic behaviour</a:t>
            </a:r>
            <a:endParaRPr/>
          </a:p>
          <a:p>
            <a:pPr indent="-298450" lvl="0" marL="457200" rtl="0" algn="l">
              <a:lnSpc>
                <a:spcPct val="100000"/>
              </a:lnSpc>
              <a:spcBef>
                <a:spcPts val="0"/>
              </a:spcBef>
              <a:spcAft>
                <a:spcPts val="0"/>
              </a:spcAft>
              <a:buSzPts val="1100"/>
              <a:buChar char="●"/>
            </a:pPr>
            <a:r>
              <a:rPr lang="en-GB"/>
              <a:t>Document length in benchmarks are also getting increasingly longer as document understanding systems get better</a:t>
            </a:r>
            <a:endParaRPr/>
          </a:p>
        </p:txBody>
      </p:sp>
      <p:sp>
        <p:nvSpPr>
          <p:cNvPr id="173" name="Google Shape;173;h39bf41852e5d6338_2_11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h39bf41852e5d6338_2_14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h39bf41852e5d6338_2_14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spcBef>
                <a:spcPts val="0"/>
              </a:spcBef>
              <a:spcAft>
                <a:spcPts val="0"/>
              </a:spcAft>
              <a:buClr>
                <a:schemeClr val="dk1"/>
              </a:buClr>
              <a:buSzPts val="1100"/>
              <a:buChar char="●"/>
            </a:pPr>
            <a:r>
              <a:rPr lang="en-GB">
                <a:solidFill>
                  <a:schemeClr val="dk1"/>
                </a:solidFill>
              </a:rPr>
              <a:t>That brings us to the empirical study for long document understanding</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The goal of </a:t>
            </a:r>
            <a:endParaRPr>
              <a:solidFill>
                <a:schemeClr val="dk1"/>
              </a:solidFill>
            </a:endParaRPr>
          </a:p>
        </p:txBody>
      </p:sp>
      <p:sp>
        <p:nvSpPr>
          <p:cNvPr id="187" name="Google Shape;187;h39bf41852e5d6338_2_14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h3ecb2ab4a044285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h3ecb2ab4a044285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h39bf41852e5d6338_2_16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h39bf41852e5d6338_2_16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We use a simple encode, retrieve and answer pipeline, and each experiment changes one stage while holding the other two fixed.</a:t>
            </a:r>
            <a:endParaRPr/>
          </a:p>
          <a:p>
            <a:pPr indent="-298450" lvl="0" marL="457200" rtl="0" algn="l">
              <a:lnSpc>
                <a:spcPct val="100000"/>
              </a:lnSpc>
              <a:spcBef>
                <a:spcPts val="0"/>
              </a:spcBef>
              <a:spcAft>
                <a:spcPts val="0"/>
              </a:spcAft>
              <a:buSzPts val="1100"/>
              <a:buChar char="●"/>
            </a:pPr>
            <a:r>
              <a:rPr lang="en-GB" sz="1100"/>
              <a:t>For representation, we vary the modality, the parser and the image resolution.</a:t>
            </a:r>
            <a:endParaRPr/>
          </a:p>
          <a:p>
            <a:pPr indent="-298450" lvl="0" marL="457200" rtl="0" algn="l">
              <a:lnSpc>
                <a:spcPct val="100000"/>
              </a:lnSpc>
              <a:spcBef>
                <a:spcPts val="0"/>
              </a:spcBef>
              <a:spcAft>
                <a:spcPts val="0"/>
              </a:spcAft>
              <a:buSzPts val="1100"/>
              <a:buChar char="●"/>
            </a:pPr>
            <a:r>
              <a:rPr lang="en-GB" sz="1100"/>
              <a:t>For selection, we give the model the annotated gold pages, which bypasses retrieval, and then remove a page or add distractor pages.</a:t>
            </a:r>
            <a:endParaRPr/>
          </a:p>
          <a:p>
            <a:pPr indent="-298450" lvl="0" marL="457200" rtl="0" algn="l">
              <a:lnSpc>
                <a:spcPct val="100000"/>
              </a:lnSpc>
              <a:spcBef>
                <a:spcPts val="0"/>
              </a:spcBef>
              <a:spcAft>
                <a:spcPts val="0"/>
              </a:spcAft>
              <a:buSzPts val="1100"/>
              <a:buChar char="●"/>
            </a:pPr>
            <a:r>
              <a:rPr lang="en-GB" sz="1100"/>
              <a:t>For reasoning, we vary the model size and the prompt, and we also try two strategies that spend more computation: self-consistency and Reflexion.</a:t>
            </a:r>
            <a:endParaRPr/>
          </a:p>
          <a:p>
            <a:pPr indent="-298450" lvl="0" marL="457200" rtl="0" algn="l">
              <a:lnSpc>
                <a:spcPct val="100000"/>
              </a:lnSpc>
              <a:spcBef>
                <a:spcPts val="0"/>
              </a:spcBef>
              <a:spcAft>
                <a:spcPts val="0"/>
              </a:spcAft>
              <a:buSzPts val="1100"/>
              <a:buChar char="●"/>
            </a:pPr>
            <a:r>
              <a:rPr lang="en-GB" sz="1100"/>
              <a:t>The main benchmark is MMLongBench-Doc, with 135 documents and annotations for evidence pages, evidence type and answerability.</a:t>
            </a:r>
            <a:endParaRPr/>
          </a:p>
          <a:p>
            <a:pPr indent="-298450" lvl="0" marL="457200" rtl="0" algn="l">
              <a:lnSpc>
                <a:spcPct val="100000"/>
              </a:lnSpc>
              <a:spcBef>
                <a:spcPts val="0"/>
              </a:spcBef>
              <a:spcAft>
                <a:spcPts val="0"/>
              </a:spcAft>
              <a:buSzPts val="1100"/>
              <a:buChar char="●"/>
            </a:pPr>
            <a:r>
              <a:rPr lang="en-GB" sz="1100"/>
              <a:t>Two model families and a second document collection provide checks on transfer.</a:t>
            </a:r>
            <a:endParaRPr/>
          </a:p>
        </p:txBody>
      </p:sp>
      <p:sp>
        <p:nvSpPr>
          <p:cNvPr id="206" name="Google Shape;206;h39bf41852e5d6338_2_16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h39bf41852e5d6338_2_18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h39bf41852e5d6338_2_18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The first finding is about representation: text and vision are complementary, and neither alone is enough.</a:t>
            </a:r>
            <a:endParaRPr/>
          </a:p>
          <a:p>
            <a:pPr indent="-298450" lvl="0" marL="457200" rtl="0" algn="l">
              <a:lnSpc>
                <a:spcPct val="100000"/>
              </a:lnSpc>
              <a:spcBef>
                <a:spcPts val="0"/>
              </a:spcBef>
              <a:spcAft>
                <a:spcPts val="0"/>
              </a:spcAft>
              <a:buSzPts val="1100"/>
              <a:buChar char="●"/>
            </a:pPr>
            <a:r>
              <a:rPr lang="en-GB" sz="1100"/>
              <a:t>The table shows how often the model declines to answer, and how often it is right, for each type of evidence and each representation.</a:t>
            </a:r>
            <a:endParaRPr/>
          </a:p>
          <a:p>
            <a:pPr indent="-298450" lvl="0" marL="457200" rtl="0" algn="l">
              <a:lnSpc>
                <a:spcPct val="100000"/>
              </a:lnSpc>
              <a:spcBef>
                <a:spcPts val="0"/>
              </a:spcBef>
              <a:spcAft>
                <a:spcPts val="0"/>
              </a:spcAft>
              <a:buSzPts val="1100"/>
              <a:buChar char="●"/>
            </a:pPr>
            <a:r>
              <a:rPr lang="en-GB" sz="1100"/>
              <a:t>On scanned documents, the text embedded in the file is nearly useless. The model declines about 70 percent of questions. A parser recovers much of that, and adding the page image does best on every evidence type.</a:t>
            </a:r>
            <a:endParaRPr/>
          </a:p>
          <a:p>
            <a:pPr indent="-298450" lvl="0" marL="457200" rtl="0" algn="l">
              <a:lnSpc>
                <a:spcPct val="100000"/>
              </a:lnSpc>
              <a:spcBef>
                <a:spcPts val="0"/>
              </a:spcBef>
              <a:spcAft>
                <a:spcPts val="0"/>
              </a:spcAft>
              <a:buSzPts val="1100"/>
              <a:buChar char="●"/>
            </a:pPr>
            <a:r>
              <a:rPr lang="en-GB" sz="1100"/>
              <a:t>On born-digital documents, in the lower half, text alone is already close, and the image adds only a few points.</a:t>
            </a:r>
            <a:endParaRPr/>
          </a:p>
          <a:p>
            <a:pPr indent="-298450" lvl="0" marL="457200" rtl="0" algn="l">
              <a:lnSpc>
                <a:spcPct val="100000"/>
              </a:lnSpc>
              <a:spcBef>
                <a:spcPts val="0"/>
              </a:spcBef>
              <a:spcAft>
                <a:spcPts val="0"/>
              </a:spcAft>
              <a:buSzPts val="1100"/>
              <a:buChar char="●"/>
            </a:pPr>
            <a:r>
              <a:rPr lang="en-GB" sz="1100"/>
              <a:t>So how much of each you need depends heavily on the document type and the task. There is no one size fits all.</a:t>
            </a:r>
            <a:endParaRPr/>
          </a:p>
          <a:p>
            <a:pPr indent="-298450" lvl="0" marL="457200" rtl="0" algn="l">
              <a:lnSpc>
                <a:spcPct val="100000"/>
              </a:lnSpc>
              <a:spcBef>
                <a:spcPts val="0"/>
              </a:spcBef>
              <a:spcAft>
                <a:spcPts val="0"/>
              </a:spcAft>
              <a:buSzPts val="1100"/>
              <a:buChar char="●"/>
            </a:pPr>
            <a:r>
              <a:rPr lang="en-GB" sz="1100"/>
              <a:t>The figure on the right shows why combining them works. Parser text alone answers 38 percent, a low-resolution image alone 38 percent, and together 49 percent. Text covers for low resolution.</a:t>
            </a:r>
            <a:endParaRPr/>
          </a:p>
          <a:p>
            <a:pPr indent="-298450" lvl="0" marL="457200" rtl="0" algn="l">
              <a:lnSpc>
                <a:spcPct val="100000"/>
              </a:lnSpc>
              <a:spcBef>
                <a:spcPts val="0"/>
              </a:spcBef>
              <a:spcAft>
                <a:spcPts val="0"/>
              </a:spcAft>
              <a:buSzPts val="1100"/>
              <a:buChar char="●"/>
            </a:pPr>
            <a:r>
              <a:rPr lang="en-GB" sz="1100"/>
              <a:t>And the image covers for parser noise. Text only, the four text sources are 14 points apart. With the image added, they are 5 points apart.</a:t>
            </a:r>
            <a:endParaRPr/>
          </a:p>
        </p:txBody>
      </p:sp>
      <p:sp>
        <p:nvSpPr>
          <p:cNvPr id="233" name="Google Shape;233;h39bf41852e5d6338_2_18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h39bf41852e5d6338_2_20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h39bf41852e5d6338_2_20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The second finding is about selection: evidence has to be selected as a set, not page by page.</a:t>
            </a:r>
            <a:endParaRPr/>
          </a:p>
          <a:p>
            <a:pPr indent="-298450" lvl="0" marL="457200" rtl="0" algn="l">
              <a:lnSpc>
                <a:spcPct val="100000"/>
              </a:lnSpc>
              <a:spcBef>
                <a:spcPts val="0"/>
              </a:spcBef>
              <a:spcAft>
                <a:spcPts val="0"/>
              </a:spcAft>
              <a:buSzPts val="1100"/>
              <a:buChar char="●"/>
            </a:pPr>
            <a:r>
              <a:rPr lang="en-GB" sz="1100"/>
              <a:t>If we retrieve too little, required evidence is simply missing. Removing one gold page halves accuracy, from 38.6 to 18.4 percent, and the retrieval rank does not tell us which page is safe to lose.</a:t>
            </a:r>
            <a:endParaRPr/>
          </a:p>
          <a:p>
            <a:pPr indent="-298450" lvl="0" marL="457200" rtl="0" algn="l">
              <a:lnSpc>
                <a:spcPct val="100000"/>
              </a:lnSpc>
              <a:spcBef>
                <a:spcPts val="0"/>
              </a:spcBef>
              <a:spcAft>
                <a:spcPts val="0"/>
              </a:spcAft>
              <a:buSzPts val="1100"/>
              <a:buChar char="●"/>
            </a:pPr>
            <a:r>
              <a:rPr lang="en-GB" sz="1100"/>
              <a:t>If we retrieve too much, the reasoner struggles to find and combine the evidence. On the right, every gold page is present, and accuracy still falls as we add more pages, most sharply for multi-hop questions.</a:t>
            </a:r>
            <a:endParaRPr/>
          </a:p>
          <a:p>
            <a:pPr indent="-298450" lvl="0" marL="457200" rtl="0" algn="l">
              <a:lnSpc>
                <a:spcPct val="100000"/>
              </a:lnSpc>
              <a:spcBef>
                <a:spcPts val="0"/>
              </a:spcBef>
              <a:spcAft>
                <a:spcPts val="0"/>
              </a:spcAft>
              <a:buSzPts val="1100"/>
              <a:buChar char="●"/>
            </a:pPr>
            <a:r>
              <a:rPr lang="en-GB" sz="1100"/>
              <a:t>But the extra pages do not only hurt. With three added pages, 7 percent of questions flip from wrong to correct, while 13 percent break.</a:t>
            </a:r>
            <a:endParaRPr/>
          </a:p>
          <a:p>
            <a:pPr indent="-298450" lvl="0" marL="457200" rtl="0" algn="l">
              <a:lnSpc>
                <a:spcPct val="100000"/>
              </a:lnSpc>
              <a:spcBef>
                <a:spcPts val="0"/>
              </a:spcBef>
              <a:spcAft>
                <a:spcPts val="0"/>
              </a:spcAft>
              <a:buSzPts val="1100"/>
              <a:buChar char="●"/>
            </a:pPr>
            <a:r>
              <a:rPr lang="en-GB" sz="1100"/>
              <a:t>After that first step, about 5 percent of answers flip in each direction every time we add more pages.</a:t>
            </a:r>
            <a:endParaRPr/>
          </a:p>
          <a:p>
            <a:pPr indent="-298450" lvl="0" marL="457200" rtl="0" algn="l">
              <a:lnSpc>
                <a:spcPct val="100000"/>
              </a:lnSpc>
              <a:spcBef>
                <a:spcPts val="0"/>
              </a:spcBef>
              <a:spcAft>
                <a:spcPts val="0"/>
              </a:spcAft>
              <a:buSzPts val="1100"/>
              <a:buChar char="●"/>
            </a:pPr>
            <a:r>
              <a:rPr lang="en-GB" sz="1100"/>
              <a:t>So extra context repairs some answers while burying others, and there is no clear signal for when to stop.</a:t>
            </a:r>
            <a:endParaRPr/>
          </a:p>
          <a:p>
            <a:pPr indent="-298450" lvl="0" marL="457200" rtl="0" algn="l">
              <a:lnSpc>
                <a:spcPct val="100000"/>
              </a:lnSpc>
              <a:spcBef>
                <a:spcPts val="0"/>
              </a:spcBef>
              <a:spcAft>
                <a:spcPts val="0"/>
              </a:spcAft>
              <a:buSzPts val="1100"/>
              <a:buChar char="●"/>
            </a:pPr>
            <a:r>
              <a:rPr lang="en-GB" sz="1100"/>
              <a:t>We need enough evidence to establish the answer, not just enough to generate one.</a:t>
            </a:r>
            <a:endParaRPr/>
          </a:p>
        </p:txBody>
      </p:sp>
      <p:sp>
        <p:nvSpPr>
          <p:cNvPr id="247" name="Google Shape;247;h39bf41852e5d6338_2_20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h39bf41852e5d6338_2_21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h39bf41852e5d6338_2_21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The third finding is about reasoning.</a:t>
            </a:r>
            <a:endParaRPr/>
          </a:p>
          <a:p>
            <a:pPr indent="-298450" lvl="0" marL="457200" rtl="0" algn="l">
              <a:lnSpc>
                <a:spcPct val="100000"/>
              </a:lnSpc>
              <a:spcBef>
                <a:spcPts val="0"/>
              </a:spcBef>
              <a:spcAft>
                <a:spcPts val="0"/>
              </a:spcAft>
              <a:buSzPts val="1100"/>
              <a:buChar char="●"/>
            </a:pPr>
            <a:r>
              <a:rPr lang="en-GB" sz="1100"/>
              <a:t>A question can contain a premise the document does not support. With no instruction, the model refuses only 45 percent of unanswerable questions and answers the rest fluently.</a:t>
            </a:r>
            <a:endParaRPr/>
          </a:p>
          <a:p>
            <a:pPr indent="-298450" lvl="0" marL="457200" rtl="0" algn="l">
              <a:lnSpc>
                <a:spcPct val="100000"/>
              </a:lnSpc>
              <a:spcBef>
                <a:spcPts val="0"/>
              </a:spcBef>
              <a:spcAft>
                <a:spcPts val="0"/>
              </a:spcAft>
              <a:buSzPts val="1100"/>
              <a:buChar char="●"/>
            </a:pPr>
            <a:r>
              <a:rPr lang="en-GB" sz="1100"/>
              <a:t>Prompts change this behaviour. If we explicitly allow the model to say not answerable, it correctly refuses far more unanswerable questions, from 45.5 percent to 74.6 percent.</a:t>
            </a:r>
            <a:endParaRPr/>
          </a:p>
          <a:p>
            <a:pPr indent="-298450" lvl="0" marL="457200" rtl="0" algn="l">
              <a:lnSpc>
                <a:spcPct val="100000"/>
              </a:lnSpc>
              <a:spcBef>
                <a:spcPts val="0"/>
              </a:spcBef>
              <a:spcAft>
                <a:spcPts val="0"/>
              </a:spcAft>
              <a:buSzPts val="1100"/>
              <a:buChar char="●"/>
            </a:pPr>
            <a:r>
              <a:rPr lang="en-GB" sz="1100"/>
              <a:t>But it also refuses more answerable ones, from 6.2 percent to 27.7 percent. Asking it to reason first wins most of that accuracy back.</a:t>
            </a:r>
            <a:endParaRPr/>
          </a:p>
          <a:p>
            <a:pPr indent="-298450" lvl="0" marL="457200" rtl="0" algn="l">
              <a:lnSpc>
                <a:spcPct val="100000"/>
              </a:lnSpc>
              <a:spcBef>
                <a:spcPts val="0"/>
              </a:spcBef>
              <a:spcAft>
                <a:spcPts val="0"/>
              </a:spcAft>
              <a:buSzPts val="1100"/>
              <a:buChar char="●"/>
            </a:pPr>
            <a:r>
              <a:rPr lang="en-GB" sz="1100"/>
              <a:t>The second model family, Gemma-3 in the lower row, moves the same way.</a:t>
            </a:r>
            <a:endParaRPr/>
          </a:p>
          <a:p>
            <a:pPr indent="-298450" lvl="0" marL="457200" rtl="0" algn="l">
              <a:lnSpc>
                <a:spcPct val="100000"/>
              </a:lnSpc>
              <a:spcBef>
                <a:spcPts val="0"/>
              </a:spcBef>
              <a:spcAft>
                <a:spcPts val="0"/>
              </a:spcAft>
              <a:buSzPts val="1100"/>
              <a:buChar char="●"/>
            </a:pPr>
            <a:r>
              <a:rPr lang="en-GB" sz="1100"/>
              <a:t>We can also spend more computation on reasoning. Self-consistency samples many reasoning paths and takes a vote. It adds about 8 points on answerable questions, at about 640 seconds a question.</a:t>
            </a:r>
            <a:endParaRPr/>
          </a:p>
          <a:p>
            <a:pPr indent="-298450" lvl="0" marL="457200" rtl="0" algn="l">
              <a:lnSpc>
                <a:spcPct val="100000"/>
              </a:lnSpc>
              <a:spcBef>
                <a:spcPts val="0"/>
              </a:spcBef>
              <a:spcAft>
                <a:spcPts val="0"/>
              </a:spcAft>
              <a:buSzPts val="1100"/>
              <a:buChar char="●"/>
            </a:pPr>
            <a:r>
              <a:rPr lang="en-GB" sz="1100"/>
              <a:t>Reflexion lets the model retry after checking its own answer. It adds about 14 points on unanswerable questions, at about 47 seconds.</a:t>
            </a:r>
            <a:endParaRPr/>
          </a:p>
          <a:p>
            <a:pPr indent="-298450" lvl="0" marL="457200" rtl="0" algn="l">
              <a:lnSpc>
                <a:spcPct val="100000"/>
              </a:lnSpc>
              <a:spcBef>
                <a:spcPts val="0"/>
              </a:spcBef>
              <a:spcAft>
                <a:spcPts val="0"/>
              </a:spcAft>
              <a:buSzPts val="1100"/>
              <a:buChar char="●"/>
            </a:pPr>
            <a:r>
              <a:rPr lang="en-GB" sz="1100"/>
              <a:t>These last numbers are preliminary, so I read them as a direction: more computation helps, at a price.</a:t>
            </a:r>
            <a:endParaRPr/>
          </a:p>
        </p:txBody>
      </p:sp>
      <p:sp>
        <p:nvSpPr>
          <p:cNvPr id="263" name="Google Shape;263;h39bf41852e5d6338_2_21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h39bf41852e5d6338_2_22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h39bf41852e5d6338_2_22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Six mechanisms on real questions, two per failure point, each with the design choice it suggests.</a:t>
            </a:r>
            <a:endParaRPr/>
          </a:p>
        </p:txBody>
      </p:sp>
      <p:sp>
        <p:nvSpPr>
          <p:cNvPr id="276" name="Google Shape;276;h39bf41852e5d6338_2_22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h39bf41852e5d6338_2_24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h39bf41852e5d6338_2_24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To check the findings, we put them into one small system. It is one model playing three roles.</a:t>
            </a:r>
            <a:endParaRPr/>
          </a:p>
          <a:p>
            <a:pPr indent="-298450" lvl="0" marL="457200" rtl="0" algn="l">
              <a:lnSpc>
                <a:spcPct val="100000"/>
              </a:lnSpc>
              <a:spcBef>
                <a:spcPts val="0"/>
              </a:spcBef>
              <a:spcAft>
                <a:spcPts val="0"/>
              </a:spcAft>
              <a:buSzPts val="1100"/>
              <a:buChar char="●"/>
            </a:pPr>
            <a:r>
              <a:rPr lang="en-GB" sz="1100"/>
              <a:t>The reader goes through the pages in ranked order. For each page it sees both the text and the image, writes down any evidence it finds, and flags pages that may hold the answer.</a:t>
            </a:r>
            <a:endParaRPr/>
          </a:p>
          <a:p>
            <a:pPr indent="-298450" lvl="0" marL="457200" rtl="0" algn="l">
              <a:lnSpc>
                <a:spcPct val="100000"/>
              </a:lnSpc>
              <a:spcBef>
                <a:spcPts val="0"/>
              </a:spcBef>
              <a:spcAft>
                <a:spcPts val="0"/>
              </a:spcAft>
              <a:buSzPts val="1100"/>
              <a:buChar char="●"/>
            </a:pPr>
            <a:r>
              <a:rPr lang="en-GB" sz="1100"/>
              <a:t>The synthesizer answers from the flagged pages in full and the short records of everything else.</a:t>
            </a:r>
            <a:endParaRPr/>
          </a:p>
          <a:p>
            <a:pPr indent="-298450" lvl="0" marL="457200" rtl="0" algn="l">
              <a:lnSpc>
                <a:spcPct val="100000"/>
              </a:lnSpc>
              <a:spcBef>
                <a:spcPts val="0"/>
              </a:spcBef>
              <a:spcAft>
                <a:spcPts val="0"/>
              </a:spcAft>
              <a:buSzPts val="1100"/>
              <a:buChar char="●"/>
            </a:pPr>
            <a:r>
              <a:rPr lang="en-GB" sz="1100"/>
              <a:t>The arbiter cannot write an answer. It either accepts, or names a missing fact and sends the reader back for more pages.</a:t>
            </a:r>
            <a:endParaRPr/>
          </a:p>
          <a:p>
            <a:pPr indent="-298450" lvl="0" marL="457200" rtl="0" algn="l">
              <a:lnSpc>
                <a:spcPct val="100000"/>
              </a:lnSpc>
              <a:spcBef>
                <a:spcPts val="0"/>
              </a:spcBef>
              <a:spcAft>
                <a:spcPts val="0"/>
              </a:spcAft>
              <a:buSzPts val="1100"/>
              <a:buChar char="●"/>
            </a:pPr>
            <a:r>
              <a:rPr lang="en-GB" sz="1100"/>
              <a:t>Each choice follows from a finding. Text and image together, for representation. Read broadly but pass on short records, for selection. And a separate step that judges whether the evidence is enough, for reasoning.</a:t>
            </a:r>
            <a:endParaRPr/>
          </a:p>
        </p:txBody>
      </p:sp>
      <p:sp>
        <p:nvSpPr>
          <p:cNvPr id="290" name="Google Shape;290;h39bf41852e5d6338_2_24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h39bf41852e5d6338_2_25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h39bf41852e5d6338_2_25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All systems in this table use the same model with eight billion parameters.</a:t>
            </a:r>
            <a:endParaRPr/>
          </a:p>
          <a:p>
            <a:pPr indent="-298450" lvl="0" marL="457200" rtl="0" algn="l">
              <a:lnSpc>
                <a:spcPct val="100000"/>
              </a:lnSpc>
              <a:spcBef>
                <a:spcPts val="0"/>
              </a:spcBef>
              <a:spcAft>
                <a:spcPts val="0"/>
              </a:spcAft>
              <a:buSzPts val="1100"/>
              <a:buChar char="●"/>
            </a:pPr>
            <a:r>
              <a:rPr lang="en-GB" sz="1100"/>
              <a:t>Ours reaches 56.5 percent on MMLongBench-Doc and 61.3 percent on LongDocURL, the highest in the table, without any training and with the model stored at four-bit precision.</a:t>
            </a:r>
            <a:endParaRPr/>
          </a:p>
          <a:p>
            <a:pPr indent="-298450" lvl="0" marL="457200" rtl="0" algn="l">
              <a:lnSpc>
                <a:spcPct val="100000"/>
              </a:lnSpc>
              <a:spcBef>
                <a:spcPts val="0"/>
              </a:spcBef>
              <a:spcAft>
                <a:spcPts val="0"/>
              </a:spcAft>
              <a:buSzPts val="1100"/>
              <a:buChar char="●"/>
            </a:pPr>
            <a:r>
              <a:rPr lang="en-GB" sz="1100"/>
              <a:t>It is still behind the trained system DocTrace on questions that need several pages, 39.2 against 41.1.</a:t>
            </a:r>
            <a:endParaRPr/>
          </a:p>
          <a:p>
            <a:pPr indent="-298450" lvl="0" marL="457200" rtl="0" algn="l">
              <a:lnSpc>
                <a:spcPct val="100000"/>
              </a:lnSpc>
              <a:spcBef>
                <a:spcPts val="0"/>
              </a:spcBef>
              <a:spcAft>
                <a:spcPts val="0"/>
              </a:spcAft>
              <a:buSzPts val="1100"/>
              <a:buChar char="●"/>
            </a:pPr>
            <a:r>
              <a:rPr lang="en-GB" sz="1100"/>
              <a:t>The cost is time: about eleven minutes per question on average.</a:t>
            </a:r>
            <a:endParaRPr/>
          </a:p>
        </p:txBody>
      </p:sp>
      <p:sp>
        <p:nvSpPr>
          <p:cNvPr id="303" name="Google Shape;303;h39bf41852e5d6338_2_25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h39bf41852e5d6338_2_26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h39bf41852e5d6338_2_26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To conclude, back to the three research questions.</a:t>
            </a:r>
            <a:endParaRPr/>
          </a:p>
          <a:p>
            <a:pPr indent="-298450" lvl="0" marL="457200" rtl="0" algn="l">
              <a:lnSpc>
                <a:spcPct val="100000"/>
              </a:lnSpc>
              <a:spcBef>
                <a:spcPts val="0"/>
              </a:spcBef>
              <a:spcAft>
                <a:spcPts val="0"/>
              </a:spcAft>
              <a:buSzPts val="1100"/>
              <a:buChar char="●"/>
            </a:pPr>
            <a:r>
              <a:rPr lang="en-GB" sz="1100"/>
              <a:t>The survey organises the field. Understanding multi-page documents is a problem of evidence management, and four families of architecture handle it in different ways.</a:t>
            </a:r>
            <a:endParaRPr/>
          </a:p>
          <a:p>
            <a:pPr indent="-298450" lvl="0" marL="457200" rtl="0" algn="l">
              <a:lnSpc>
                <a:spcPct val="100000"/>
              </a:lnSpc>
              <a:spcBef>
                <a:spcPts val="0"/>
              </a:spcBef>
              <a:spcAft>
                <a:spcPts val="0"/>
              </a:spcAft>
              <a:buSzPts val="1100"/>
              <a:buChar char="●"/>
            </a:pPr>
            <a:r>
              <a:rPr lang="en-GB" sz="1100"/>
              <a:t>The empirical study locates the failures. They sit at representation, at selection, or at reasoning, and each one needs a different fix.</a:t>
            </a:r>
            <a:endParaRPr/>
          </a:p>
          <a:p>
            <a:pPr indent="-298450" lvl="0" marL="457200" rtl="0" algn="l">
              <a:lnSpc>
                <a:spcPct val="100000"/>
              </a:lnSpc>
              <a:spcBef>
                <a:spcPts val="0"/>
              </a:spcBef>
              <a:spcAft>
                <a:spcPts val="0"/>
              </a:spcAft>
              <a:buSzPts val="1100"/>
              <a:buChar char="●"/>
            </a:pPr>
            <a:r>
              <a:rPr lang="en-GB" sz="1100"/>
              <a:t>And a training-free system built on those findings is competitive under a fixed compute budget.</a:t>
            </a:r>
            <a:endParaRPr/>
          </a:p>
          <a:p>
            <a:pPr indent="-298450" lvl="0" marL="457200" rtl="0" algn="l">
              <a:lnSpc>
                <a:spcPct val="100000"/>
              </a:lnSpc>
              <a:spcBef>
                <a:spcPts val="0"/>
              </a:spcBef>
              <a:spcAft>
                <a:spcPts val="0"/>
              </a:spcAft>
              <a:buSzPts val="1100"/>
              <a:buChar char="●"/>
            </a:pPr>
            <a:r>
              <a:rPr lang="en-GB" sz="1100"/>
              <a:t>Thank you. I am happy to take questions.</a:t>
            </a:r>
            <a:endParaRPr/>
          </a:p>
        </p:txBody>
      </p:sp>
      <p:sp>
        <p:nvSpPr>
          <p:cNvPr id="314" name="Google Shape;314;h39bf41852e5d6338_2_26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h39bf41852e5d6338_2_13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h39bf41852e5d6338_2_13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The survey ends with five open challenges, and the one missing piece that motivates our second paper: an end-to-end account of where systems fail.</a:t>
            </a:r>
            <a:endParaRPr/>
          </a:p>
        </p:txBody>
      </p:sp>
      <p:sp>
        <p:nvSpPr>
          <p:cNvPr id="332" name="Google Shape;332;h39bf41852e5d6338_2_13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h39bf41852e5d6338_2_28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h39bf41852e5d6338_2_28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For questions: the accuracy and cost of each representation, retriever and reasoner choice.</a:t>
            </a:r>
            <a:endParaRPr/>
          </a:p>
        </p:txBody>
      </p:sp>
      <p:sp>
        <p:nvSpPr>
          <p:cNvPr id="352" name="Google Shape;352;h39bf41852e5d6338_2_28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h39bf41852e5d6338_2_29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h39bf41852e5d6338_2_29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For questions: one example system from each of the four families.</a:t>
            </a:r>
            <a:endParaRPr/>
          </a:p>
        </p:txBody>
      </p:sp>
      <p:sp>
        <p:nvSpPr>
          <p:cNvPr id="363" name="Google Shape;363;h39bf41852e5d6338_2_29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27348B"/>
        </a:solidFill>
      </p:bgPr>
    </p:bg>
    <p:spTree>
      <p:nvGrpSpPr>
        <p:cNvPr id="52" name="Shape 52"/>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53" name="Shape 53"/>
        <p:cNvGrpSpPr/>
        <p:nvPr/>
      </p:nvGrpSpPr>
      <p:grpSpPr>
        <a:xfrm>
          <a:off x="0" y="0"/>
          <a:ext cx="0" cy="0"/>
          <a:chOff x="0" y="0"/>
          <a:chExt cx="0" cy="0"/>
        </a:xfrm>
      </p:grpSpPr>
      <p:pic>
        <p:nvPicPr>
          <p:cNvPr descr="C:\Users\dyh93\Downloads\lewei_thesis\deck2\figures\uwa_logo.jpg" id="54" name="Google Shape;54;p15"/>
          <p:cNvPicPr preferRelativeResize="0"/>
          <p:nvPr/>
        </p:nvPicPr>
        <p:blipFill rotWithShape="1">
          <a:blip r:embed="rId2">
            <a:alphaModFix/>
          </a:blip>
          <a:srcRect b="0" l="0" r="0" t="0"/>
          <a:stretch/>
        </p:blipFill>
        <p:spPr>
          <a:xfrm>
            <a:off x="7540348" y="4651473"/>
            <a:ext cx="941625" cy="376650"/>
          </a:xfrm>
          <a:prstGeom prst="rect">
            <a:avLst/>
          </a:prstGeom>
          <a:noFill/>
          <a:ln>
            <a:noFill/>
          </a:ln>
        </p:spPr>
      </p:pic>
      <p:sp>
        <p:nvSpPr>
          <p:cNvPr id="55" name="Google Shape;55;p15"/>
          <p:cNvSpPr/>
          <p:nvPr/>
        </p:nvSpPr>
        <p:spPr>
          <a:xfrm>
            <a:off x="411475" y="4736909"/>
            <a:ext cx="34290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072"/>
              </a:buClr>
              <a:buSzPts val="800"/>
              <a:buFont typeface="Calibri"/>
              <a:buNone/>
            </a:pPr>
            <a:r>
              <a:rPr b="0" i="0" lang="en-GB" spc="0" sz="800" u="none" cap="none" strike="noStrike">
                <a:solidFill>
                  <a:srgbClr val="5A6072"/>
                </a:solidFill>
                <a:latin typeface="Calibri"/>
                <a:ea typeface="Calibri"/>
                <a:cs typeface="Calibri"/>
                <a:sym typeface="Calibri"/>
              </a:rPr>
              <a:t>Lewei Xu  ·  Honours Project</a:t>
            </a:r>
            <a:endParaRPr b="0" i="0" spc="0" sz="800" u="none" cap="none" strike="noStrike">
              <a:solidFill>
                <a:schemeClr val="dk1"/>
              </a:solidFill>
              <a:latin typeface="Calibri"/>
              <a:ea typeface="Calibri"/>
              <a:cs typeface="Calibri"/>
              <a:sym typeface="Calibri"/>
            </a:endParaRPr>
          </a:p>
        </p:txBody>
      </p:sp>
      <p:sp>
        <p:nvSpPr>
          <p:cNvPr id="56" name="Google Shape;56;p15"/>
          <p:cNvSpPr txBox="1"/>
          <p:nvPr>
            <p:ph type="title"/>
          </p:nvPr>
        </p:nvSpPr>
        <p:spPr>
          <a:xfrm>
            <a:off x="411480" y="260604"/>
            <a:ext cx="6583680" cy="425196"/>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rgbClr val="27348B"/>
              </a:buClr>
              <a:buSzPts val="2300"/>
              <a:buFont typeface="Calibri"/>
              <a:buNone/>
              <a:defRPr b="1" i="0" spc="0" sz="2300" u="none" cap="none" strike="noStrike">
                <a:solidFill>
                  <a:srgbClr val="27348B"/>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9pPr>
          </a:lstStyle>
          <a:p/>
        </p:txBody>
      </p:sp>
      <p:sp>
        <p:nvSpPr>
          <p:cNvPr id="57" name="Google Shape;57;p15"/>
          <p:cNvSpPr txBox="1"/>
          <p:nvPr>
            <p:ph idx="12"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8" name="Shape 5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3"/>
          <p:cNvSpPr txBox="1"/>
          <p:nvPr>
            <p:ph idx="12"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lvl1pPr indent="0" lvl="0"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12.png"/><Relationship Id="rId4" Type="http://schemas.openxmlformats.org/officeDocument/2006/relationships/image" Target="../media/image23.png"/><Relationship Id="rId5" Type="http://schemas.openxmlformats.org/officeDocument/2006/relationships/image" Target="../media/image19.png"/><Relationship Id="rId6"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descr="The University of Western Australia" id="64" name="Google Shape;64;p17"/>
          <p:cNvPicPr preferRelativeResize="0"/>
          <p:nvPr/>
        </p:nvPicPr>
        <p:blipFill rotWithShape="1">
          <a:blip r:embed="rId3">
            <a:alphaModFix/>
          </a:blip>
          <a:srcRect b="0" l="0" r="0" t="0"/>
          <a:stretch/>
        </p:blipFill>
        <p:spPr>
          <a:xfrm>
            <a:off x="445770" y="377190"/>
            <a:ext cx="1851660" cy="614602"/>
          </a:xfrm>
          <a:prstGeom prst="rect">
            <a:avLst/>
          </a:prstGeom>
          <a:noFill/>
          <a:ln>
            <a:noFill/>
          </a:ln>
        </p:spPr>
      </p:pic>
      <p:sp>
        <p:nvSpPr>
          <p:cNvPr id="65" name="Google Shape;65;p17"/>
          <p:cNvSpPr txBox="1"/>
          <p:nvPr/>
        </p:nvSpPr>
        <p:spPr>
          <a:xfrm>
            <a:off x="445770" y="1508760"/>
            <a:ext cx="5486400" cy="24003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1B650"/>
              </a:buClr>
              <a:buSzPts val="1100"/>
              <a:buFont typeface="Calibri"/>
              <a:buNone/>
            </a:pPr>
            <a:r>
              <a:rPr b="1" i="0" lang="en-GB" spc="200" sz="1100" u="none" cap="none" strike="noStrike">
                <a:solidFill>
                  <a:srgbClr val="E1B650"/>
                </a:solidFill>
                <a:latin typeface="Calibri"/>
                <a:ea typeface="Calibri"/>
                <a:cs typeface="Calibri"/>
                <a:sym typeface="Calibri"/>
              </a:rPr>
              <a:t>HONOURS THESIS PRESENTATION</a:t>
            </a:r>
            <a:endParaRPr b="0" i="0" spc="0" sz="1100" u="none" cap="none" strike="noStrike">
              <a:solidFill>
                <a:schemeClr val="dk1"/>
              </a:solidFill>
              <a:latin typeface="Calibri"/>
              <a:ea typeface="Calibri"/>
              <a:cs typeface="Calibri"/>
              <a:sym typeface="Calibri"/>
            </a:endParaRPr>
          </a:p>
        </p:txBody>
      </p:sp>
      <p:sp>
        <p:nvSpPr>
          <p:cNvPr id="66" name="Google Shape;66;p17"/>
          <p:cNvSpPr txBox="1"/>
          <p:nvPr/>
        </p:nvSpPr>
        <p:spPr>
          <a:xfrm>
            <a:off x="445770" y="1783080"/>
            <a:ext cx="8229600" cy="5143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000"/>
              <a:buFont typeface="Calibri"/>
              <a:buNone/>
            </a:pPr>
            <a:r>
              <a:rPr b="1" i="0" lang="en-GB" spc="0" sz="3000" u="none" cap="none" strike="noStrike">
                <a:solidFill>
                  <a:srgbClr val="FFFFFF"/>
                </a:solidFill>
                <a:latin typeface="Calibri"/>
                <a:ea typeface="Calibri"/>
                <a:cs typeface="Calibri"/>
                <a:sym typeface="Calibri"/>
              </a:rPr>
              <a:t>Multi-Page Visually Rich Document Understanding</a:t>
            </a:r>
            <a:endParaRPr b="0" i="0" spc="0" sz="3000" u="none" cap="none" strike="noStrike">
              <a:solidFill>
                <a:schemeClr val="dk1"/>
              </a:solidFill>
              <a:latin typeface="Calibri"/>
              <a:ea typeface="Calibri"/>
              <a:cs typeface="Calibri"/>
              <a:sym typeface="Calibri"/>
            </a:endParaRPr>
          </a:p>
        </p:txBody>
      </p:sp>
      <p:sp>
        <p:nvSpPr>
          <p:cNvPr id="67" name="Google Shape;67;p17"/>
          <p:cNvSpPr txBox="1"/>
          <p:nvPr/>
        </p:nvSpPr>
        <p:spPr>
          <a:xfrm>
            <a:off x="445770" y="2366010"/>
            <a:ext cx="822960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1B650"/>
              </a:buClr>
              <a:buSzPts val="1800"/>
              <a:buFont typeface="Calibri"/>
              <a:buNone/>
            </a:pPr>
            <a:r>
              <a:rPr b="0" i="0" lang="en-GB" spc="0" sz="1800" u="none" cap="none" strike="noStrike">
                <a:solidFill>
                  <a:srgbClr val="E1B650"/>
                </a:solidFill>
                <a:latin typeface="Calibri"/>
                <a:ea typeface="Calibri"/>
                <a:cs typeface="Calibri"/>
                <a:sym typeface="Calibri"/>
              </a:rPr>
              <a:t>A Survey of System Design and an Empirical Attribution of Failure</a:t>
            </a:r>
            <a:endParaRPr b="0" i="0" spc="0" sz="1800" u="none" cap="none" strike="noStrike">
              <a:solidFill>
                <a:schemeClr val="dk1"/>
              </a:solidFill>
              <a:latin typeface="Calibri"/>
              <a:ea typeface="Calibri"/>
              <a:cs typeface="Calibri"/>
              <a:sym typeface="Calibri"/>
            </a:endParaRPr>
          </a:p>
        </p:txBody>
      </p:sp>
      <p:sp>
        <p:nvSpPr>
          <p:cNvPr id="68" name="Google Shape;68;p17"/>
          <p:cNvSpPr txBox="1"/>
          <p:nvPr/>
        </p:nvSpPr>
        <p:spPr>
          <a:xfrm>
            <a:off x="445770" y="3120390"/>
            <a:ext cx="5486400"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1" i="0" lang="en-GB" spc="0" sz="1800" u="none" cap="none" strike="noStrike">
                <a:solidFill>
                  <a:srgbClr val="FFFFFF"/>
                </a:solidFill>
                <a:latin typeface="Calibri"/>
                <a:ea typeface="Calibri"/>
                <a:cs typeface="Calibri"/>
                <a:sym typeface="Calibri"/>
              </a:rPr>
              <a:t>Lewei Xu</a:t>
            </a:r>
            <a:endParaRPr b="0" i="0" spc="0" sz="1800" u="none" cap="none" strike="noStrike">
              <a:solidFill>
                <a:schemeClr val="dk1"/>
              </a:solidFill>
              <a:latin typeface="Calibri"/>
              <a:ea typeface="Calibri"/>
              <a:cs typeface="Calibri"/>
              <a:sym typeface="Calibri"/>
            </a:endParaRPr>
          </a:p>
        </p:txBody>
      </p:sp>
      <p:sp>
        <p:nvSpPr>
          <p:cNvPr id="69" name="Google Shape;69;p17"/>
          <p:cNvSpPr txBox="1"/>
          <p:nvPr/>
        </p:nvSpPr>
        <p:spPr>
          <a:xfrm>
            <a:off x="445770" y="3497580"/>
            <a:ext cx="685800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ADDF0"/>
              </a:buClr>
              <a:buSzPts val="1200"/>
              <a:buFont typeface="Calibri"/>
              <a:buNone/>
            </a:pPr>
            <a:r>
              <a:rPr b="0" i="0" lang="en-GB" spc="0" sz="1200" u="none" cap="none" strike="noStrike">
                <a:solidFill>
                  <a:srgbClr val="DADDF0"/>
                </a:solidFill>
                <a:latin typeface="Calibri"/>
                <a:ea typeface="Calibri"/>
                <a:cs typeface="Calibri"/>
                <a:sym typeface="Calibri"/>
              </a:rPr>
              <a:t>Supervisors: Dr Yihao Ding · Dr Daochang Liu</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DADDF0"/>
              </a:buClr>
              <a:buSzPts val="1200"/>
              <a:buFont typeface="Calibri"/>
              <a:buNone/>
            </a:pPr>
            <a:r>
              <a:rPr b="0" i="0" lang="en-GB" spc="0" sz="1200" u="none" cap="none" strike="noStrike">
                <a:solidFill>
                  <a:srgbClr val="DADDF0"/>
                </a:solidFill>
                <a:latin typeface="Calibri"/>
                <a:ea typeface="Calibri"/>
                <a:cs typeface="Calibri"/>
                <a:sym typeface="Calibri"/>
              </a:rPr>
              <a:t>Department of Computer Science and Software Engineering</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DADDF0"/>
              </a:buClr>
              <a:buSzPts val="1200"/>
              <a:buFont typeface="Calibri"/>
              <a:buNone/>
            </a:pPr>
            <a:r>
              <a:rPr b="0" i="0" lang="en-GB" spc="0" sz="1200" u="none" cap="none" strike="noStrike">
                <a:solidFill>
                  <a:srgbClr val="DADDF0"/>
                </a:solidFill>
                <a:latin typeface="Calibri"/>
                <a:ea typeface="Calibri"/>
                <a:cs typeface="Calibri"/>
                <a:sym typeface="Calibri"/>
              </a:rPr>
              <a:t>School of Physics, Mathematics and Computing · October 2026</a:t>
            </a:r>
            <a:endParaRPr b="0" i="0" spc="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lang="en-GB"/>
              <a:t>Seminar/Thesis </a:t>
            </a:r>
            <a:r>
              <a:rPr b="1" lang="en-GB" sz="2300">
                <a:solidFill>
                  <a:srgbClr val="27348B"/>
                </a:solidFill>
                <a:latin typeface="Calibri"/>
                <a:ea typeface="Calibri"/>
                <a:cs typeface="Calibri"/>
                <a:sym typeface="Calibri"/>
              </a:rPr>
              <a:t>Overview</a:t>
            </a:r>
            <a:endParaRPr sz="2300"/>
          </a:p>
        </p:txBody>
      </p:sp>
      <p:sp>
        <p:nvSpPr>
          <p:cNvPr id="76" name="Google Shape;76;p1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1 · Introduction</a:t>
            </a:r>
            <a:endParaRPr b="0" i="0" spc="0" sz="900" u="none" cap="none" strike="noStrike">
              <a:solidFill>
                <a:schemeClr val="dk1"/>
              </a:solidFill>
              <a:latin typeface="Calibri"/>
              <a:ea typeface="Calibri"/>
              <a:cs typeface="Calibri"/>
              <a:sym typeface="Calibri"/>
            </a:endParaRPr>
          </a:p>
        </p:txBody>
      </p:sp>
      <p:sp>
        <p:nvSpPr>
          <p:cNvPr id="77" name="Google Shape;77;p18"/>
          <p:cNvSpPr txBox="1"/>
          <p:nvPr/>
        </p:nvSpPr>
        <p:spPr>
          <a:xfrm>
            <a:off x="411480" y="699516"/>
            <a:ext cx="8320800" cy="30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Four chapters, three research questions, two papers.</a:t>
            </a:r>
            <a:endParaRPr b="0" i="0" spc="0" sz="1400" u="none" cap="none" strike="noStrike">
              <a:solidFill>
                <a:schemeClr val="dk1"/>
              </a:solidFill>
              <a:latin typeface="Calibri"/>
              <a:ea typeface="Calibri"/>
              <a:cs typeface="Calibri"/>
              <a:sym typeface="Calibri"/>
            </a:endParaRPr>
          </a:p>
        </p:txBody>
      </p:sp>
      <p:graphicFrame>
        <p:nvGraphicFramePr>
          <p:cNvPr id="78" name="Google Shape;78;p18"/>
          <p:cNvGraphicFramePr/>
          <p:nvPr/>
        </p:nvGraphicFramePr>
        <p:xfrm>
          <a:off x="422805" y="1345625"/>
          <a:ext cx="3000000" cy="3000000"/>
        </p:xfrm>
        <a:graphic>
          <a:graphicData uri="http://schemas.openxmlformats.org/drawingml/2006/table">
            <a:tbl>
              <a:tblPr>
                <a:noFill/>
                <a:tableStyleId>{922638CC-EB42-4478-9DB3-19327D192BC3}</a:tableStyleId>
              </a:tblPr>
              <a:tblGrid>
                <a:gridCol w="2057400"/>
                <a:gridCol w="3154675"/>
                <a:gridCol w="3086100"/>
              </a:tblGrid>
              <a:tr h="308600">
                <a:tc>
                  <a:txBody>
                    <a:bodyPr/>
                    <a:lstStyle/>
                    <a:p>
                      <a:pPr indent="0" lvl="0" marL="0" marR="0" rtl="0" algn="l">
                        <a:lnSpc>
                          <a:spcPct val="100000"/>
                        </a:lnSpc>
                        <a:spcBef>
                          <a:spcPts val="0"/>
                        </a:spcBef>
                        <a:spcAft>
                          <a:spcPts val="0"/>
                        </a:spcAft>
                        <a:buClr>
                          <a:srgbClr val="5A6072"/>
                        </a:buClr>
                        <a:buSzPts val="1000"/>
                        <a:buFont typeface="Calibri"/>
                        <a:buNone/>
                      </a:pPr>
                      <a:r>
                        <a:rPr b="1" lang="en-GB" spc="0" sz="1000" u="none" cap="none" strike="noStrike">
                          <a:solidFill>
                            <a:schemeClr val="dk1"/>
                          </a:solidFill>
                          <a:latin typeface="Calibri"/>
                          <a:ea typeface="Calibri"/>
                          <a:cs typeface="Calibri"/>
                          <a:sym typeface="Calibri"/>
                        </a:rPr>
                        <a:t>CHAPTER</a:t>
                      </a:r>
                      <a:endParaRPr b="1" spc="0" sz="1000" u="none" cap="none" strike="noStrike">
                        <a:solidFill>
                          <a:schemeClr val="dk1"/>
                        </a:solidFill>
                        <a:latin typeface="Calibri"/>
                        <a:ea typeface="Calibri"/>
                        <a:cs typeface="Calibri"/>
                        <a:sym typeface="Calibri"/>
                      </a:endParaRPr>
                    </a:p>
                  </a:txBody>
                  <a:tcPr marT="41150" marB="41150" marR="68600" marL="68600" anchor="b">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5A6072"/>
                        </a:buClr>
                        <a:buSzPts val="1000"/>
                        <a:buFont typeface="Calibri"/>
                        <a:buNone/>
                      </a:pPr>
                      <a:r>
                        <a:rPr b="1" lang="en-GB" spc="0" sz="1000" u="none" cap="none" strike="noStrike">
                          <a:solidFill>
                            <a:schemeClr val="dk1"/>
                          </a:solidFill>
                          <a:latin typeface="Calibri"/>
                          <a:ea typeface="Calibri"/>
                          <a:cs typeface="Calibri"/>
                          <a:sym typeface="Calibri"/>
                        </a:rPr>
                        <a:t>QUESTION</a:t>
                      </a:r>
                      <a:endParaRPr b="1" spc="0" sz="1000" u="none" cap="none" strike="noStrike">
                        <a:solidFill>
                          <a:schemeClr val="dk1"/>
                        </a:solidFill>
                        <a:latin typeface="Calibri"/>
                        <a:ea typeface="Calibri"/>
                        <a:cs typeface="Calibri"/>
                        <a:sym typeface="Calibri"/>
                      </a:endParaRPr>
                    </a:p>
                  </a:txBody>
                  <a:tcPr marT="41150" marB="41150" marR="68600" marL="68600" anchor="b">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5A6072"/>
                        </a:buClr>
                        <a:buSzPts val="1000"/>
                        <a:buFont typeface="Calibri"/>
                        <a:buNone/>
                      </a:pPr>
                      <a:r>
                        <a:rPr b="1" lang="en-GB" spc="0" sz="1000" u="none" cap="none" strike="noStrike">
                          <a:solidFill>
                            <a:schemeClr val="dk1"/>
                          </a:solidFill>
                          <a:latin typeface="Calibri"/>
                          <a:ea typeface="Calibri"/>
                          <a:cs typeface="Calibri"/>
                          <a:sym typeface="Calibri"/>
                        </a:rPr>
                        <a:t>PUBLICATION</a:t>
                      </a:r>
                      <a:endParaRPr b="1" spc="0" sz="1000" u="none" cap="none" strike="noStrike">
                        <a:solidFill>
                          <a:schemeClr val="dk1"/>
                        </a:solidFill>
                        <a:latin typeface="Calibri"/>
                        <a:ea typeface="Calibri"/>
                        <a:cs typeface="Calibri"/>
                        <a:sym typeface="Calibri"/>
                      </a:endParaRPr>
                    </a:p>
                  </a:txBody>
                  <a:tcPr marT="41150" marB="41150" marR="68600" marL="68600" anchor="b">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582925">
                <a:tc>
                  <a:txBody>
                    <a:bodyPr/>
                    <a:lstStyle/>
                    <a:p>
                      <a:pPr indent="0" lvl="0" marL="0" marR="0" rtl="0" algn="l">
                        <a:lnSpc>
                          <a:spcPct val="100000"/>
                        </a:lnSpc>
                        <a:spcBef>
                          <a:spcPts val="0"/>
                        </a:spcBef>
                        <a:spcAft>
                          <a:spcPts val="0"/>
                        </a:spcAft>
                        <a:buClr>
                          <a:srgbClr val="27348B"/>
                        </a:buClr>
                        <a:buSzPts val="1200"/>
                        <a:buFont typeface="Calibri"/>
                        <a:buNone/>
                      </a:pPr>
                      <a:r>
                        <a:rPr b="1" lang="en-GB" spc="0" sz="1200" u="none" cap="none" strike="noStrike">
                          <a:solidFill>
                            <a:srgbClr val="27348B"/>
                          </a:solidFill>
                          <a:latin typeface="Calibri"/>
                          <a:ea typeface="Calibri"/>
                          <a:cs typeface="Calibri"/>
                          <a:sym typeface="Calibri"/>
                        </a:rPr>
                        <a:t>1  </a:t>
                      </a:r>
                      <a:r>
                        <a:rPr lang="en-GB" spc="0" sz="1200" u="none" cap="none" strike="noStrike">
                          <a:solidFill>
                            <a:srgbClr val="1B1F2A"/>
                          </a:solidFill>
                          <a:latin typeface="Calibri"/>
                          <a:ea typeface="Calibri"/>
                          <a:cs typeface="Calibri"/>
                          <a:sym typeface="Calibri"/>
                        </a:rPr>
                        <a:t>Introduction &amp; Background</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lang="en-GB" spc="0" sz="1200" u="none" cap="none" strike="noStrike">
                          <a:solidFill>
                            <a:srgbClr val="1B1F2A"/>
                          </a:solidFill>
                          <a:latin typeface="Calibri"/>
                          <a:ea typeface="Calibri"/>
                          <a:cs typeface="Calibri"/>
                          <a:sym typeface="Calibri"/>
                        </a:rPr>
                        <a:t>Why are long documents hard, and why a fixed compute budget?</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5A6072"/>
                        </a:buClr>
                        <a:buSzPts val="1200"/>
                        <a:buFont typeface="Calibri"/>
                        <a:buNone/>
                      </a:pPr>
                      <a:r>
                        <a:rPr lang="en-GB" spc="0" sz="1200" u="none" cap="none" strike="noStrike">
                          <a:solidFill>
                            <a:srgbClr val="5A6072"/>
                          </a:solidFill>
                          <a:latin typeface="Calibri"/>
                          <a:ea typeface="Calibri"/>
                          <a:cs typeface="Calibri"/>
                          <a:sym typeface="Calibri"/>
                        </a:rPr>
                        <a:t>Thesis chapter</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720075">
                <a:tc>
                  <a:txBody>
                    <a:bodyPr/>
                    <a:lstStyle/>
                    <a:p>
                      <a:pPr indent="0" lvl="0" marL="0" marR="0" rtl="0" algn="l">
                        <a:lnSpc>
                          <a:spcPct val="100000"/>
                        </a:lnSpc>
                        <a:spcBef>
                          <a:spcPts val="0"/>
                        </a:spcBef>
                        <a:spcAft>
                          <a:spcPts val="0"/>
                        </a:spcAft>
                        <a:buClr>
                          <a:srgbClr val="27348B"/>
                        </a:buClr>
                        <a:buSzPts val="1200"/>
                        <a:buFont typeface="Calibri"/>
                        <a:buNone/>
                      </a:pPr>
                      <a:r>
                        <a:rPr b="1" lang="en-GB" spc="0" sz="1200" u="none" cap="none" strike="noStrike">
                          <a:solidFill>
                            <a:srgbClr val="27348B"/>
                          </a:solidFill>
                          <a:latin typeface="Calibri"/>
                          <a:ea typeface="Calibri"/>
                          <a:cs typeface="Calibri"/>
                          <a:sym typeface="Calibri"/>
                        </a:rPr>
                        <a:t>2  </a:t>
                      </a:r>
                      <a:r>
                        <a:rPr lang="en-GB" spc="0" sz="1200" u="none" cap="none" strike="noStrike">
                          <a:solidFill>
                            <a:srgbClr val="1B1F2A"/>
                          </a:solidFill>
                          <a:latin typeface="Calibri"/>
                          <a:ea typeface="Calibri"/>
                          <a:cs typeface="Calibri"/>
                          <a:sym typeface="Calibri"/>
                        </a:rPr>
                        <a:t>Survey</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b="1" lang="en-GB" spc="0" sz="1200" u="none" cap="none" strike="noStrike">
                          <a:solidFill>
                            <a:srgbClr val="1B1F2A"/>
                          </a:solidFill>
                          <a:latin typeface="Calibri"/>
                          <a:ea typeface="Calibri"/>
                          <a:cs typeface="Calibri"/>
                          <a:sym typeface="Calibri"/>
                        </a:rPr>
                        <a:t>RQ1  </a:t>
                      </a:r>
                      <a:r>
                        <a:rPr lang="en-GB" spc="0" sz="1200" u="none" cap="none" strike="noStrike">
                          <a:solidFill>
                            <a:srgbClr val="1B1F2A"/>
                          </a:solidFill>
                          <a:latin typeface="Calibri"/>
                          <a:ea typeface="Calibri"/>
                          <a:cs typeface="Calibri"/>
                          <a:sym typeface="Calibri"/>
                        </a:rPr>
                        <a:t>How are multi-page systems designed?</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b="1" lang="en-GB" spc="0" sz="1200" u="none" cap="none" strike="noStrike">
                          <a:solidFill>
                            <a:srgbClr val="27348B"/>
                          </a:solidFill>
                          <a:latin typeface="Calibri"/>
                          <a:ea typeface="Calibri"/>
                          <a:cs typeface="Calibri"/>
                          <a:sym typeface="Calibri"/>
                        </a:rPr>
                        <a:t>Managing Evidence at Document Scale: A Survey of MP-VRDU</a:t>
                      </a:r>
                      <a:endParaRPr b="1" spc="0" sz="1200" u="none" cap="none" strike="noStrike">
                        <a:solidFill>
                          <a:srgbClr val="27348B"/>
                        </a:solidFill>
                        <a:latin typeface="Calibri"/>
                        <a:ea typeface="Calibri"/>
                        <a:cs typeface="Calibri"/>
                        <a:sym typeface="Calibri"/>
                      </a:endParaRPr>
                    </a:p>
                    <a:p>
                      <a:pPr indent="0" lvl="0" marL="0" marR="0" rtl="0" algn="l">
                        <a:lnSpc>
                          <a:spcPct val="100000"/>
                        </a:lnSpc>
                        <a:spcBef>
                          <a:spcPts val="0"/>
                        </a:spcBef>
                        <a:spcAft>
                          <a:spcPts val="0"/>
                        </a:spcAft>
                        <a:buClr>
                          <a:srgbClr val="27348B"/>
                        </a:buClr>
                        <a:buSzPts val="1200"/>
                        <a:buFont typeface="Calibri"/>
                        <a:buNone/>
                      </a:pPr>
                      <a:r>
                        <a:rPr b="1" lang="en-GB" spc="0" sz="1200" u="none" cap="none" strike="noStrike">
                          <a:solidFill>
                            <a:schemeClr val="accent2"/>
                          </a:solidFill>
                          <a:latin typeface="Calibri"/>
                          <a:ea typeface="Calibri"/>
                          <a:cs typeface="Calibri"/>
                          <a:sym typeface="Calibri"/>
                        </a:rPr>
                        <a:t>EMNLP 2026, Main Conference</a:t>
                      </a:r>
                      <a:endParaRPr spc="0" sz="1200" u="none" cap="none" strike="noStrike">
                        <a:solidFill>
                          <a:schemeClr val="accent2"/>
                        </a:solidFill>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720075">
                <a:tc>
                  <a:txBody>
                    <a:bodyPr/>
                    <a:lstStyle/>
                    <a:p>
                      <a:pPr indent="0" lvl="0" marL="0" marR="0" rtl="0" algn="l">
                        <a:lnSpc>
                          <a:spcPct val="100000"/>
                        </a:lnSpc>
                        <a:spcBef>
                          <a:spcPts val="0"/>
                        </a:spcBef>
                        <a:spcAft>
                          <a:spcPts val="0"/>
                        </a:spcAft>
                        <a:buClr>
                          <a:srgbClr val="27348B"/>
                        </a:buClr>
                        <a:buSzPts val="1200"/>
                        <a:buFont typeface="Calibri"/>
                        <a:buNone/>
                      </a:pPr>
                      <a:r>
                        <a:rPr b="1" lang="en-GB" spc="0" sz="1200" u="none" cap="none" strike="noStrike">
                          <a:solidFill>
                            <a:srgbClr val="27348B"/>
                          </a:solidFill>
                          <a:latin typeface="Calibri"/>
                          <a:ea typeface="Calibri"/>
                          <a:cs typeface="Calibri"/>
                          <a:sym typeface="Calibri"/>
                        </a:rPr>
                        <a:t>3  </a:t>
                      </a:r>
                      <a:r>
                        <a:rPr lang="en-GB" spc="0" sz="1200" u="none" cap="none" strike="noStrike">
                          <a:solidFill>
                            <a:srgbClr val="1B1F2A"/>
                          </a:solidFill>
                          <a:latin typeface="Calibri"/>
                          <a:ea typeface="Calibri"/>
                          <a:cs typeface="Calibri"/>
                          <a:sym typeface="Calibri"/>
                        </a:rPr>
                        <a:t>Empirical study</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b="1" lang="en-GB" spc="0" sz="1200" u="none" cap="none" strike="noStrike">
                          <a:solidFill>
                            <a:srgbClr val="1B1F2A"/>
                          </a:solidFill>
                          <a:latin typeface="Calibri"/>
                          <a:ea typeface="Calibri"/>
                          <a:cs typeface="Calibri"/>
                          <a:sym typeface="Calibri"/>
                        </a:rPr>
                        <a:t>RQ2  </a:t>
                      </a:r>
                      <a:r>
                        <a:rPr lang="en-GB" spc="0" sz="1200" u="none" cap="none" strike="noStrike">
                          <a:solidFill>
                            <a:srgbClr val="1B1F2A"/>
                          </a:solidFill>
                          <a:latin typeface="Calibri"/>
                          <a:ea typeface="Calibri"/>
                          <a:cs typeface="Calibri"/>
                          <a:sym typeface="Calibri"/>
                        </a:rPr>
                        <a:t>Where and why do these systems fail?</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b="1" lang="en-GB" spc="0" sz="1200" u="none" cap="none" strike="noStrike">
                          <a:solidFill>
                            <a:srgbClr val="27348B"/>
                          </a:solidFill>
                          <a:latin typeface="Calibri"/>
                          <a:ea typeface="Calibri"/>
                          <a:cs typeface="Calibri"/>
                          <a:sym typeface="Calibri"/>
                        </a:rPr>
                        <a:t>Locating Failure in MP-VRDU: An Empirical Attribution</a:t>
                      </a:r>
                      <a:endParaRPr b="1" spc="0" sz="1200" u="none" cap="none" strike="noStrike">
                        <a:solidFill>
                          <a:srgbClr val="27348B"/>
                        </a:solidFill>
                        <a:latin typeface="Calibri"/>
                        <a:ea typeface="Calibri"/>
                        <a:cs typeface="Calibri"/>
                        <a:sym typeface="Calibri"/>
                      </a:endParaRPr>
                    </a:p>
                    <a:p>
                      <a:pPr indent="0" lvl="0" marL="0" marR="0" rtl="0" algn="l">
                        <a:lnSpc>
                          <a:spcPct val="100000"/>
                        </a:lnSpc>
                        <a:spcBef>
                          <a:spcPts val="0"/>
                        </a:spcBef>
                        <a:spcAft>
                          <a:spcPts val="0"/>
                        </a:spcAft>
                        <a:buClr>
                          <a:srgbClr val="5A6072"/>
                        </a:buClr>
                        <a:buSzPts val="1200"/>
                        <a:buFont typeface="Calibri"/>
                        <a:buNone/>
                      </a:pPr>
                      <a:r>
                        <a:rPr b="1" lang="en-GB" spc="0" sz="1200" u="none" cap="none" strike="noStrike">
                          <a:solidFill>
                            <a:srgbClr val="5A6072"/>
                          </a:solidFill>
                          <a:latin typeface="Calibri"/>
                          <a:ea typeface="Calibri"/>
                          <a:cs typeface="Calibri"/>
                          <a:sym typeface="Calibri"/>
                        </a:rPr>
                        <a:t>Submitted to NAACL</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651500">
                <a:tc>
                  <a:txBody>
                    <a:bodyPr/>
                    <a:lstStyle/>
                    <a:p>
                      <a:pPr indent="0" lvl="0" marL="0" marR="0" rtl="0" algn="l">
                        <a:lnSpc>
                          <a:spcPct val="100000"/>
                        </a:lnSpc>
                        <a:spcBef>
                          <a:spcPts val="0"/>
                        </a:spcBef>
                        <a:spcAft>
                          <a:spcPts val="0"/>
                        </a:spcAft>
                        <a:buClr>
                          <a:srgbClr val="27348B"/>
                        </a:buClr>
                        <a:buSzPts val="1200"/>
                        <a:buFont typeface="Calibri"/>
                        <a:buNone/>
                      </a:pPr>
                      <a:r>
                        <a:rPr b="1" lang="en-GB" spc="0" sz="1200" u="none" cap="none" strike="noStrike">
                          <a:solidFill>
                            <a:srgbClr val="27348B"/>
                          </a:solidFill>
                          <a:latin typeface="Calibri"/>
                          <a:ea typeface="Calibri"/>
                          <a:cs typeface="Calibri"/>
                          <a:sym typeface="Calibri"/>
                        </a:rPr>
                        <a:t>4  </a:t>
                      </a:r>
                      <a:r>
                        <a:rPr lang="en-GB" spc="0" sz="1200" u="none" cap="none" strike="noStrike">
                          <a:solidFill>
                            <a:srgbClr val="1B1F2A"/>
                          </a:solidFill>
                          <a:latin typeface="Calibri"/>
                          <a:ea typeface="Calibri"/>
                          <a:cs typeface="Calibri"/>
                          <a:sym typeface="Calibri"/>
                        </a:rPr>
                        <a:t>Method &amp; Conclusion</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b="1" lang="en-GB" spc="0" sz="1200" u="none" cap="none" strike="noStrike">
                          <a:solidFill>
                            <a:srgbClr val="1B1F2A"/>
                          </a:solidFill>
                          <a:latin typeface="Calibri"/>
                          <a:ea typeface="Calibri"/>
                          <a:cs typeface="Calibri"/>
                          <a:sym typeface="Calibri"/>
                        </a:rPr>
                        <a:t>RQ3  </a:t>
                      </a:r>
                      <a:r>
                        <a:rPr lang="en-GB" spc="0" sz="1200" u="none" cap="none" strike="noStrike">
                          <a:solidFill>
                            <a:srgbClr val="1B1F2A"/>
                          </a:solidFill>
                          <a:latin typeface="Calibri"/>
                          <a:ea typeface="Calibri"/>
                          <a:cs typeface="Calibri"/>
                          <a:sym typeface="Calibri"/>
                        </a:rPr>
                        <a:t>Can the findings build a competitive system under a fixed budget?</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5A6072"/>
                        </a:buClr>
                        <a:buSzPts val="1200"/>
                        <a:buFont typeface="Calibri"/>
                        <a:buNone/>
                      </a:pPr>
                      <a:r>
                        <a:rPr lang="en-GB" spc="0" sz="1200" u="none" cap="none" strike="noStrike">
                          <a:solidFill>
                            <a:srgbClr val="5A6072"/>
                          </a:solidFill>
                          <a:latin typeface="Calibri"/>
                          <a:ea typeface="Calibri"/>
                          <a:cs typeface="Calibri"/>
                          <a:sym typeface="Calibri"/>
                        </a:rPr>
                        <a:t>Thesis chapter: training-free proof of concept</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79" name="Google Shape;79;p1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9"/>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lang="en-GB"/>
              <a:t>What is MP-VRDU?</a:t>
            </a:r>
            <a:endParaRPr sz="2300"/>
          </a:p>
        </p:txBody>
      </p:sp>
      <p:sp>
        <p:nvSpPr>
          <p:cNvPr id="86" name="Google Shape;86;p19"/>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1 · Introduction</a:t>
            </a:r>
            <a:endParaRPr b="0" i="0" spc="0" sz="900" u="none" cap="none" strike="noStrike">
              <a:solidFill>
                <a:schemeClr val="dk1"/>
              </a:solidFill>
              <a:latin typeface="Calibri"/>
              <a:ea typeface="Calibri"/>
              <a:cs typeface="Calibri"/>
              <a:sym typeface="Calibri"/>
            </a:endParaRPr>
          </a:p>
        </p:txBody>
      </p:sp>
      <p:sp>
        <p:nvSpPr>
          <p:cNvPr id="87" name="Google Shape;87;p19"/>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Meaning lives in </a:t>
            </a:r>
            <a:r>
              <a:rPr b="1" i="0" lang="en-GB" spc="0" sz="1400" u="none" cap="none" strike="noStrike">
                <a:solidFill>
                  <a:schemeClr val="accent2"/>
                </a:solidFill>
                <a:latin typeface="Calibri"/>
                <a:ea typeface="Calibri"/>
                <a:cs typeface="Calibri"/>
                <a:sym typeface="Calibri"/>
              </a:rPr>
              <a:t>text</a:t>
            </a:r>
            <a:r>
              <a:rPr b="0" i="0" lang="en-GB" spc="0" sz="1400" u="none" cap="none" strike="noStrike">
                <a:solidFill>
                  <a:schemeClr val="accent2"/>
                </a:solidFill>
                <a:latin typeface="Calibri"/>
                <a:ea typeface="Calibri"/>
                <a:cs typeface="Calibri"/>
                <a:sym typeface="Calibri"/>
              </a:rPr>
              <a:t>, </a:t>
            </a:r>
            <a:r>
              <a:rPr b="1" i="0" lang="en-GB" spc="0" sz="1400" u="none" cap="none" strike="noStrike">
                <a:solidFill>
                  <a:schemeClr val="accent2"/>
                </a:solidFill>
                <a:latin typeface="Calibri"/>
                <a:ea typeface="Calibri"/>
                <a:cs typeface="Calibri"/>
                <a:sym typeface="Calibri"/>
              </a:rPr>
              <a:t>visuals</a:t>
            </a:r>
            <a:r>
              <a:rPr b="0" i="0" lang="en-GB" spc="0" sz="1400" u="none" cap="none" strike="noStrike">
                <a:solidFill>
                  <a:srgbClr val="1B1F2A"/>
                </a:solidFill>
                <a:latin typeface="Calibri"/>
                <a:ea typeface="Calibri"/>
                <a:cs typeface="Calibri"/>
                <a:sym typeface="Calibri"/>
              </a:rPr>
              <a:t> and </a:t>
            </a:r>
            <a:r>
              <a:rPr b="1" i="0" lang="en-GB" spc="0" sz="1400" u="none" cap="none" strike="noStrike">
                <a:solidFill>
                  <a:schemeClr val="accent2"/>
                </a:solidFill>
                <a:latin typeface="Calibri"/>
                <a:ea typeface="Calibri"/>
                <a:cs typeface="Calibri"/>
                <a:sym typeface="Calibri"/>
              </a:rPr>
              <a:t>layout</a:t>
            </a:r>
            <a:r>
              <a:rPr b="0" i="0" lang="en-GB" spc="0" sz="1400" u="none" cap="none" strike="noStrike">
                <a:solidFill>
                  <a:schemeClr val="accent2"/>
                </a:solidFill>
                <a:latin typeface="Calibri"/>
                <a:ea typeface="Calibri"/>
                <a:cs typeface="Calibri"/>
                <a:sym typeface="Calibri"/>
              </a:rPr>
              <a:t>,</a:t>
            </a:r>
            <a:r>
              <a:rPr b="0" i="0" lang="en-GB" spc="0" sz="1400" u="none" cap="none" strike="noStrike">
                <a:solidFill>
                  <a:srgbClr val="1B1F2A"/>
                </a:solidFill>
                <a:latin typeface="Calibri"/>
                <a:ea typeface="Calibri"/>
                <a:cs typeface="Calibri"/>
                <a:sym typeface="Calibri"/>
              </a:rPr>
              <a:t> and often runs across pages.</a:t>
            </a:r>
            <a:endParaRPr b="0" i="0" spc="0" sz="1400" u="none" cap="none" strike="noStrike">
              <a:solidFill>
                <a:schemeClr val="dk1"/>
              </a:solidFill>
              <a:latin typeface="Calibri"/>
              <a:ea typeface="Calibri"/>
              <a:cs typeface="Calibri"/>
              <a:sym typeface="Calibri"/>
            </a:endParaRPr>
          </a:p>
        </p:txBody>
      </p:sp>
      <p:sp>
        <p:nvSpPr>
          <p:cNvPr id="88" name="Google Shape;88;p19"/>
          <p:cNvSpPr txBox="1"/>
          <p:nvPr/>
        </p:nvSpPr>
        <p:spPr>
          <a:xfrm>
            <a:off x="411480" y="3273552"/>
            <a:ext cx="8321040" cy="2103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A question from MMLongBench-Doc: the answer needs the table on page 16 and the map on page 34.</a:t>
            </a:r>
            <a:endParaRPr b="0" i="0" spc="0" sz="900" u="none" cap="none" strike="noStrike">
              <a:solidFill>
                <a:schemeClr val="dk1"/>
              </a:solidFill>
              <a:latin typeface="Calibri"/>
              <a:ea typeface="Calibri"/>
              <a:cs typeface="Calibri"/>
              <a:sym typeface="Calibri"/>
            </a:endParaRPr>
          </a:p>
        </p:txBody>
      </p:sp>
      <p:sp>
        <p:nvSpPr>
          <p:cNvPr id="89" name="Google Shape;89;p19"/>
          <p:cNvSpPr txBox="1"/>
          <p:nvPr/>
        </p:nvSpPr>
        <p:spPr>
          <a:xfrm>
            <a:off x="411480" y="3566160"/>
            <a:ext cx="2545004"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Long</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Exceeds the model’s context window</a:t>
            </a:r>
            <a:endParaRPr b="0" i="0" spc="0" sz="1400" u="none" cap="none" strike="noStrike">
              <a:solidFill>
                <a:schemeClr val="dk1"/>
              </a:solidFill>
              <a:latin typeface="Calibri"/>
              <a:ea typeface="Calibri"/>
              <a:cs typeface="Calibri"/>
              <a:sym typeface="Calibri"/>
            </a:endParaRPr>
          </a:p>
        </p:txBody>
      </p:sp>
      <p:sp>
        <p:nvSpPr>
          <p:cNvPr id="90" name="Google Shape;90;p19"/>
          <p:cNvSpPr txBox="1"/>
          <p:nvPr/>
        </p:nvSpPr>
        <p:spPr>
          <a:xfrm>
            <a:off x="3299384" y="3566160"/>
            <a:ext cx="2545003"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Sparse</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Evidence is buried among many pages</a:t>
            </a:r>
            <a:endParaRPr b="0" i="0" spc="0" sz="1400" u="none" cap="none" strike="noStrike">
              <a:solidFill>
                <a:schemeClr val="dk1"/>
              </a:solidFill>
              <a:latin typeface="Calibri"/>
              <a:ea typeface="Calibri"/>
              <a:cs typeface="Calibri"/>
              <a:sym typeface="Calibri"/>
            </a:endParaRPr>
          </a:p>
        </p:txBody>
      </p:sp>
      <p:sp>
        <p:nvSpPr>
          <p:cNvPr id="91" name="Google Shape;91;p19"/>
          <p:cNvSpPr txBox="1"/>
          <p:nvPr/>
        </p:nvSpPr>
        <p:spPr>
          <a:xfrm>
            <a:off x="6187288" y="3566160"/>
            <a:ext cx="2545004"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Structured</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Links cross pages: “see Table 3”</a:t>
            </a:r>
            <a:endParaRPr b="0" i="0" spc="0" sz="1400" u="none" cap="none" strike="noStrike">
              <a:solidFill>
                <a:schemeClr val="dk1"/>
              </a:solidFill>
              <a:latin typeface="Calibri"/>
              <a:ea typeface="Calibri"/>
              <a:cs typeface="Calibri"/>
              <a:sym typeface="Calibri"/>
            </a:endParaRPr>
          </a:p>
        </p:txBody>
      </p:sp>
      <p:sp>
        <p:nvSpPr>
          <p:cNvPr id="92" name="Google Shape;92;p19"/>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pic>
        <p:nvPicPr>
          <p:cNvPr descr="multipage.png" id="93" name="Google Shape;93;p19"/>
          <p:cNvPicPr preferRelativeResize="0"/>
          <p:nvPr/>
        </p:nvPicPr>
        <p:blipFill rotWithShape="1">
          <a:blip r:embed="rId3">
            <a:alphaModFix/>
          </a:blip>
          <a:srcRect b="0" l="0" r="0" t="0"/>
          <a:stretch/>
        </p:blipFill>
        <p:spPr>
          <a:xfrm>
            <a:off x="411480" y="1097280"/>
            <a:ext cx="8321040" cy="214884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lang="en-GB"/>
              <a:t>MP-VRDU in Real World Applications</a:t>
            </a:r>
            <a:endParaRPr sz="2300"/>
          </a:p>
        </p:txBody>
      </p:sp>
      <p:sp>
        <p:nvSpPr>
          <p:cNvPr id="100" name="Google Shape;100;p20"/>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1 · Introduction</a:t>
            </a:r>
            <a:endParaRPr b="0" i="0" spc="0" sz="900" u="none" cap="none" strike="noStrike">
              <a:solidFill>
                <a:schemeClr val="dk1"/>
              </a:solidFill>
              <a:latin typeface="Calibri"/>
              <a:ea typeface="Calibri"/>
              <a:cs typeface="Calibri"/>
              <a:sym typeface="Calibri"/>
            </a:endParaRPr>
          </a:p>
        </p:txBody>
      </p:sp>
      <p:sp>
        <p:nvSpPr>
          <p:cNvPr id="101" name="Google Shape;101;p20"/>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Real deployments need </a:t>
            </a:r>
            <a:r>
              <a:rPr b="1" i="0" lang="en-GB" spc="0" sz="1400" u="none" cap="none" strike="noStrike">
                <a:solidFill>
                  <a:schemeClr val="accent2"/>
                </a:solidFill>
                <a:latin typeface="Calibri"/>
                <a:ea typeface="Calibri"/>
                <a:cs typeface="Calibri"/>
                <a:sym typeface="Calibri"/>
              </a:rPr>
              <a:t>local, open-weight models</a:t>
            </a:r>
            <a:r>
              <a:rPr b="0" i="0" lang="en-GB" spc="0" sz="1400" u="none" cap="none" strike="noStrike">
                <a:solidFill>
                  <a:srgbClr val="1B1F2A"/>
                </a:solidFill>
                <a:latin typeface="Calibri"/>
                <a:ea typeface="Calibri"/>
                <a:cs typeface="Calibri"/>
                <a:sym typeface="Calibri"/>
              </a:rPr>
              <a:t> under a fixed compute budget.</a:t>
            </a:r>
            <a:endParaRPr b="0" i="0" spc="0" sz="1400" u="none" cap="none" strike="noStrike">
              <a:solidFill>
                <a:schemeClr val="dk1"/>
              </a:solidFill>
              <a:latin typeface="Calibri"/>
              <a:ea typeface="Calibri"/>
              <a:cs typeface="Calibri"/>
              <a:sym typeface="Calibri"/>
            </a:endParaRPr>
          </a:p>
        </p:txBody>
      </p:sp>
      <p:pic>
        <p:nvPicPr>
          <p:cNvPr descr="claude_example_1.png" id="102" name="Google Shape;102;p20"/>
          <p:cNvPicPr preferRelativeResize="0"/>
          <p:nvPr/>
        </p:nvPicPr>
        <p:blipFill rotWithShape="1">
          <a:blip r:embed="rId3">
            <a:alphaModFix/>
          </a:blip>
          <a:srcRect b="21624" l="0" r="0" t="11804"/>
          <a:stretch/>
        </p:blipFill>
        <p:spPr>
          <a:xfrm>
            <a:off x="411480" y="1161288"/>
            <a:ext cx="3211943" cy="2999232"/>
          </a:xfrm>
          <a:prstGeom prst="rect">
            <a:avLst/>
          </a:prstGeom>
          <a:noFill/>
          <a:ln>
            <a:noFill/>
          </a:ln>
        </p:spPr>
      </p:pic>
      <p:sp>
        <p:nvSpPr>
          <p:cNvPr id="103" name="Google Shape;103;p20"/>
          <p:cNvSpPr txBox="1"/>
          <p:nvPr/>
        </p:nvSpPr>
        <p:spPr>
          <a:xfrm>
            <a:off x="411475" y="4195199"/>
            <a:ext cx="4160400" cy="30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0" i="0" lang="en-GB" spc="0" sz="1200" u="none" cap="none" strike="noStrike">
                <a:solidFill>
                  <a:srgbClr val="5A6072"/>
                </a:solidFill>
                <a:latin typeface="Calibri"/>
                <a:ea typeface="Calibri"/>
                <a:cs typeface="Calibri"/>
                <a:sym typeface="Calibri"/>
              </a:rPr>
              <a:t>LLM assistants plan, locate and inspect pages before answering.</a:t>
            </a:r>
            <a:endParaRPr b="0" i="0" spc="0" sz="1200" u="none" cap="none" strike="noStrike">
              <a:solidFill>
                <a:schemeClr val="dk1"/>
              </a:solidFill>
              <a:latin typeface="Calibri"/>
              <a:ea typeface="Calibri"/>
              <a:cs typeface="Calibri"/>
              <a:sym typeface="Calibri"/>
            </a:endParaRPr>
          </a:p>
        </p:txBody>
      </p:sp>
      <p:sp>
        <p:nvSpPr>
          <p:cNvPr id="104" name="Google Shape;104;p20"/>
          <p:cNvSpPr txBox="1"/>
          <p:nvPr/>
        </p:nvSpPr>
        <p:spPr>
          <a:xfrm>
            <a:off x="4296649" y="1200150"/>
            <a:ext cx="44130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IN INDUSTRY</a:t>
            </a:r>
            <a:endParaRPr b="0" i="0" spc="0" sz="900" u="none" cap="none" strike="noStrike">
              <a:solidFill>
                <a:schemeClr val="dk1"/>
              </a:solidFill>
              <a:latin typeface="Calibri"/>
              <a:ea typeface="Calibri"/>
              <a:cs typeface="Calibri"/>
              <a:sym typeface="Calibri"/>
            </a:endParaRPr>
          </a:p>
        </p:txBody>
      </p:sp>
      <p:sp>
        <p:nvSpPr>
          <p:cNvPr id="105" name="Google Shape;105;p20"/>
          <p:cNvSpPr txBox="1"/>
          <p:nvPr/>
        </p:nvSpPr>
        <p:spPr>
          <a:xfrm>
            <a:off x="4296600" y="1474475"/>
            <a:ext cx="4413000" cy="2720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1" lang="en-GB">
                <a:solidFill>
                  <a:srgbClr val="1B1F2A"/>
                </a:solidFill>
                <a:latin typeface="Calibri"/>
                <a:ea typeface="Calibri"/>
                <a:cs typeface="Calibri"/>
                <a:sym typeface="Calibri"/>
              </a:rPr>
              <a:t>Thousands to millions of documents</a:t>
            </a:r>
            <a:endParaRPr>
              <a:solidFill>
                <a:srgbClr val="1B1F2A"/>
              </a:solidFill>
              <a:latin typeface="Calibri"/>
              <a:ea typeface="Calibri"/>
              <a:cs typeface="Calibri"/>
              <a:sym typeface="Calibri"/>
            </a:endParaRPr>
          </a:p>
          <a:p>
            <a:pPr indent="0" lvl="0" marL="0" marR="0" rtl="0" algn="l">
              <a:lnSpc>
                <a:spcPct val="100000"/>
              </a:lnSpc>
              <a:spcBef>
                <a:spcPts val="1000"/>
              </a:spcBef>
              <a:spcAft>
                <a:spcPts val="0"/>
              </a:spcAft>
              <a:buClr>
                <a:srgbClr val="1B1F2A"/>
              </a:buClr>
              <a:buSzPts val="1400"/>
              <a:buFont typeface="Calibri"/>
              <a:buNone/>
            </a:pPr>
            <a:r>
              <a:rPr b="1" i="0" lang="en-GB" spc="0" sz="1400" u="none" cap="none" strike="noStrike">
                <a:solidFill>
                  <a:srgbClr val="1B1F2A"/>
                </a:solidFill>
                <a:latin typeface="Calibri"/>
                <a:ea typeface="Calibri"/>
                <a:cs typeface="Calibri"/>
                <a:sym typeface="Calibri"/>
              </a:rPr>
              <a:t>Privacy</a:t>
            </a:r>
            <a:r>
              <a:rPr b="0" i="0" lang="en-GB" spc="0" sz="1400" u="none" cap="none" strike="noStrike">
                <a:solidFill>
                  <a:srgbClr val="1B1F2A"/>
                </a:solidFill>
                <a:latin typeface="Calibri"/>
                <a:ea typeface="Calibri"/>
                <a:cs typeface="Calibri"/>
                <a:sym typeface="Calibri"/>
              </a:rPr>
              <a:t>: medical, legal and financial records stay in-house</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900"/>
              </a:spcBef>
              <a:spcAft>
                <a:spcPts val="0"/>
              </a:spcAft>
              <a:buClr>
                <a:srgbClr val="1B1F2A"/>
              </a:buClr>
              <a:buSzPts val="1400"/>
              <a:buFont typeface="Calibri"/>
              <a:buNone/>
            </a:pPr>
            <a:r>
              <a:rPr b="1" i="0" lang="en-GB" spc="0" sz="1400" u="none" cap="none" strike="noStrike">
                <a:solidFill>
                  <a:srgbClr val="1B1F2A"/>
                </a:solidFill>
                <a:latin typeface="Calibri"/>
                <a:ea typeface="Calibri"/>
                <a:cs typeface="Calibri"/>
                <a:sym typeface="Calibri"/>
              </a:rPr>
              <a:t>Cost</a:t>
            </a:r>
            <a:r>
              <a:rPr b="0" i="0" lang="en-GB" spc="0" sz="1400" u="none" cap="none" strike="noStrike">
                <a:solidFill>
                  <a:srgbClr val="1B1F2A"/>
                </a:solidFill>
                <a:latin typeface="Calibri"/>
                <a:ea typeface="Calibri"/>
                <a:cs typeface="Calibri"/>
                <a:sym typeface="Calibri"/>
              </a:rPr>
              <a:t>: API fees become prohibitive at millions of documents</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900"/>
              </a:spcBef>
              <a:spcAft>
                <a:spcPts val="0"/>
              </a:spcAft>
              <a:buClr>
                <a:srgbClr val="1B1F2A"/>
              </a:buClr>
              <a:buSzPts val="1400"/>
              <a:buFont typeface="Calibri"/>
              <a:buNone/>
            </a:pPr>
            <a:r>
              <a:rPr b="1" i="0" lang="en-GB" spc="0" sz="1400" u="none" cap="none" strike="noStrike">
                <a:solidFill>
                  <a:srgbClr val="1B1F2A"/>
                </a:solidFill>
                <a:latin typeface="Calibri"/>
                <a:ea typeface="Calibri"/>
                <a:cs typeface="Calibri"/>
                <a:sym typeface="Calibri"/>
              </a:rPr>
              <a:t>Specialisation</a:t>
            </a:r>
            <a:r>
              <a:rPr b="0" i="0" lang="en-GB" spc="0" sz="1400" u="none" cap="none" strike="noStrike">
                <a:solidFill>
                  <a:srgbClr val="1B1F2A"/>
                </a:solidFill>
                <a:latin typeface="Calibri"/>
                <a:ea typeface="Calibri"/>
                <a:cs typeface="Calibri"/>
                <a:sym typeface="Calibri"/>
              </a:rPr>
              <a:t>: domain documents need an adapted model</a:t>
            </a:r>
            <a:endParaRPr b="0" i="0" spc="0" sz="1400" u="none" cap="none" strike="noStrike">
              <a:solidFill>
                <a:srgbClr val="1B1F2A"/>
              </a:solidFill>
              <a:latin typeface="Calibri"/>
              <a:ea typeface="Calibri"/>
              <a:cs typeface="Calibri"/>
              <a:sym typeface="Calibri"/>
            </a:endParaRPr>
          </a:p>
          <a:p>
            <a:pPr indent="0" lvl="0" marL="0" marR="0" rtl="0" algn="l">
              <a:lnSpc>
                <a:spcPct val="100000"/>
              </a:lnSpc>
              <a:spcBef>
                <a:spcPts val="900"/>
              </a:spcBef>
              <a:spcAft>
                <a:spcPts val="0"/>
              </a:spcAft>
              <a:buClr>
                <a:srgbClr val="1B1F2A"/>
              </a:buClr>
              <a:buSzPts val="1400"/>
              <a:buFont typeface="Calibri"/>
              <a:buNone/>
            </a:pPr>
            <a:r>
              <a:rPr lang="en-GB">
                <a:solidFill>
                  <a:srgbClr val="1B1F2A"/>
                </a:solidFill>
                <a:latin typeface="Calibri"/>
                <a:ea typeface="Calibri"/>
                <a:cs typeface="Calibri"/>
                <a:sym typeface="Calibri"/>
              </a:rPr>
              <a:t>In any case, you need to build your own document understanding pipeline, either by running </a:t>
            </a:r>
            <a:r>
              <a:rPr b="1" lang="en-GB">
                <a:solidFill>
                  <a:srgbClr val="1B1F2A"/>
                </a:solidFill>
                <a:latin typeface="Calibri"/>
                <a:ea typeface="Calibri"/>
                <a:cs typeface="Calibri"/>
                <a:sym typeface="Calibri"/>
              </a:rPr>
              <a:t>local VLMs</a:t>
            </a:r>
            <a:r>
              <a:rPr lang="en-GB">
                <a:solidFill>
                  <a:srgbClr val="1B1F2A"/>
                </a:solidFill>
                <a:latin typeface="Calibri"/>
                <a:ea typeface="Calibri"/>
                <a:cs typeface="Calibri"/>
                <a:sym typeface="Calibri"/>
              </a:rPr>
              <a:t>, or via third party API</a:t>
            </a:r>
            <a:endParaRPr>
              <a:solidFill>
                <a:srgbClr val="1B1F2A"/>
              </a:solidFill>
              <a:latin typeface="Calibri"/>
              <a:ea typeface="Calibri"/>
              <a:cs typeface="Calibri"/>
              <a:sym typeface="Calibri"/>
            </a:endParaRPr>
          </a:p>
        </p:txBody>
      </p:sp>
      <p:sp>
        <p:nvSpPr>
          <p:cNvPr id="106" name="Google Shape;106;p20"/>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Managing Evidence at Document Scale: A </a:t>
            </a:r>
            <a:r>
              <a:rPr lang="en-GB"/>
              <a:t>Survey of Multi-Page Visually Rich Document Understanding</a:t>
            </a:r>
            <a:endParaRPr sz="2300"/>
          </a:p>
        </p:txBody>
      </p:sp>
      <p:sp>
        <p:nvSpPr>
          <p:cNvPr id="113" name="Google Shape;113;p21"/>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 </a:t>
            </a:r>
            <a:r>
              <a:rPr lang="en-GB" sz="900">
                <a:solidFill>
                  <a:srgbClr val="5A6072"/>
                </a:solidFill>
                <a:latin typeface="Calibri"/>
                <a:ea typeface="Calibri"/>
                <a:cs typeface="Calibri"/>
                <a:sym typeface="Calibri"/>
              </a:rPr>
              <a:t>\</a:t>
            </a:r>
            <a:endParaRPr b="0" i="0" spc="0" sz="900" u="none" cap="none" strike="noStrike">
              <a:solidFill>
                <a:schemeClr val="dk1"/>
              </a:solidFill>
              <a:latin typeface="Calibri"/>
              <a:ea typeface="Calibri"/>
              <a:cs typeface="Calibri"/>
              <a:sym typeface="Calibri"/>
            </a:endParaRPr>
          </a:p>
        </p:txBody>
      </p:sp>
      <p:pic>
        <p:nvPicPr>
          <p:cNvPr descr="First page of the survey paper" id="114" name="Google Shape;114;p21"/>
          <p:cNvPicPr preferRelativeResize="0"/>
          <p:nvPr/>
        </p:nvPicPr>
        <p:blipFill rotWithShape="1">
          <a:blip r:embed="rId3">
            <a:alphaModFix/>
          </a:blip>
          <a:srcRect b="14626" l="0" r="0" t="0"/>
          <a:stretch/>
        </p:blipFill>
        <p:spPr>
          <a:xfrm>
            <a:off x="411480" y="1165860"/>
            <a:ext cx="2811780" cy="3394710"/>
          </a:xfrm>
          <a:prstGeom prst="rect">
            <a:avLst/>
          </a:prstGeom>
          <a:noFill/>
          <a:ln>
            <a:noFill/>
          </a:ln>
        </p:spPr>
      </p:pic>
      <p:sp>
        <p:nvSpPr>
          <p:cNvPr id="115" name="Google Shape;115;p21"/>
          <p:cNvSpPr/>
          <p:nvPr/>
        </p:nvSpPr>
        <p:spPr>
          <a:xfrm>
            <a:off x="411480" y="1165860"/>
            <a:ext cx="2811780" cy="3394710"/>
          </a:xfrm>
          <a:prstGeom prst="rect">
            <a:avLst/>
          </a:prstGeom>
          <a:noFill/>
          <a:ln cap="flat" cmpd="sng" w="9525">
            <a:solidFill>
              <a:srgbClr val="C9CD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emnlp2026_logo.png" id="116" name="Google Shape;116;p21"/>
          <p:cNvPicPr preferRelativeResize="0"/>
          <p:nvPr/>
        </p:nvPicPr>
        <p:blipFill rotWithShape="1">
          <a:blip r:embed="rId4">
            <a:alphaModFix/>
          </a:blip>
          <a:srcRect b="0" l="0" r="0" t="0"/>
          <a:stretch/>
        </p:blipFill>
        <p:spPr>
          <a:xfrm>
            <a:off x="6788790" y="732104"/>
            <a:ext cx="2057398" cy="358385"/>
          </a:xfrm>
          <a:prstGeom prst="rect">
            <a:avLst/>
          </a:prstGeom>
          <a:noFill/>
          <a:ln>
            <a:noFill/>
          </a:ln>
        </p:spPr>
      </p:pic>
      <p:sp>
        <p:nvSpPr>
          <p:cNvPr id="117" name="Google Shape;117;p21"/>
          <p:cNvSpPr txBox="1"/>
          <p:nvPr/>
        </p:nvSpPr>
        <p:spPr>
          <a:xfrm>
            <a:off x="3634790" y="2020005"/>
            <a:ext cx="50976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RESEARCH GAP</a:t>
            </a:r>
            <a:endParaRPr b="0" i="0" spc="0" sz="900" u="none" cap="none" strike="noStrike">
              <a:solidFill>
                <a:schemeClr val="dk1"/>
              </a:solidFill>
              <a:latin typeface="Calibri"/>
              <a:ea typeface="Calibri"/>
              <a:cs typeface="Calibri"/>
              <a:sym typeface="Calibri"/>
            </a:endParaRPr>
          </a:p>
        </p:txBody>
      </p:sp>
      <p:sp>
        <p:nvSpPr>
          <p:cNvPr id="118" name="Google Shape;118;p21"/>
          <p:cNvSpPr txBox="1"/>
          <p:nvPr/>
        </p:nvSpPr>
        <p:spPr>
          <a:xfrm>
            <a:off x="3634790" y="2260035"/>
            <a:ext cx="5097600" cy="61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Multi-page systems grew along </a:t>
            </a:r>
            <a:r>
              <a:rPr b="1" i="0" lang="en-GB" spc="0" sz="1400" u="none" cap="none" strike="noStrike">
                <a:solidFill>
                  <a:srgbClr val="27348B"/>
                </a:solidFill>
                <a:latin typeface="Calibri"/>
                <a:ea typeface="Calibri"/>
                <a:cs typeface="Calibri"/>
                <a:sym typeface="Calibri"/>
              </a:rPr>
              <a:t>parallel lines</a:t>
            </a:r>
            <a:r>
              <a:rPr b="0" i="0" lang="en-GB" spc="0" sz="1400" u="none" cap="none" strike="noStrike">
                <a:solidFill>
                  <a:srgbClr val="1B1F2A"/>
                </a:solidFill>
                <a:latin typeface="Calibri"/>
                <a:ea typeface="Calibri"/>
                <a:cs typeface="Calibri"/>
                <a:sym typeface="Calibri"/>
              </a:rPr>
              <a:t>, with inconsistent terminology and little cross-family comparison.</a:t>
            </a:r>
            <a:endParaRPr b="0" i="0" spc="0" sz="1400" u="none" cap="none" strike="noStrike">
              <a:solidFill>
                <a:schemeClr val="dk1"/>
              </a:solidFill>
              <a:latin typeface="Calibri"/>
              <a:ea typeface="Calibri"/>
              <a:cs typeface="Calibri"/>
              <a:sym typeface="Calibri"/>
            </a:endParaRPr>
          </a:p>
        </p:txBody>
      </p:sp>
      <p:sp>
        <p:nvSpPr>
          <p:cNvPr id="119" name="Google Shape;119;p21"/>
          <p:cNvSpPr txBox="1"/>
          <p:nvPr/>
        </p:nvSpPr>
        <p:spPr>
          <a:xfrm>
            <a:off x="3634790" y="2980125"/>
            <a:ext cx="50976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CONTRIBUTIONS</a:t>
            </a:r>
            <a:endParaRPr b="0" i="0" spc="0" sz="900" u="none" cap="none" strike="noStrike">
              <a:solidFill>
                <a:schemeClr val="dk1"/>
              </a:solidFill>
              <a:latin typeface="Calibri"/>
              <a:ea typeface="Calibri"/>
              <a:cs typeface="Calibri"/>
              <a:sym typeface="Calibri"/>
            </a:endParaRPr>
          </a:p>
        </p:txBody>
      </p:sp>
      <p:sp>
        <p:nvSpPr>
          <p:cNvPr id="120" name="Google Shape;120;p21"/>
          <p:cNvSpPr txBox="1"/>
          <p:nvPr/>
        </p:nvSpPr>
        <p:spPr>
          <a:xfrm>
            <a:off x="3634790" y="3220155"/>
            <a:ext cx="5097600" cy="123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The first survey to treat MP-VRDU as a </a:t>
            </a:r>
            <a:r>
              <a:rPr b="1" i="0" lang="en-GB" spc="0" sz="1400" u="none" cap="none" strike="noStrike">
                <a:solidFill>
                  <a:srgbClr val="27348B"/>
                </a:solidFill>
                <a:latin typeface="Calibri"/>
                <a:ea typeface="Calibri"/>
                <a:cs typeface="Calibri"/>
                <a:sym typeface="Calibri"/>
              </a:rPr>
              <a:t>distinct problem</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1B1F2A"/>
              </a:buClr>
              <a:buSzPts val="1400"/>
              <a:buFont typeface="Calibri"/>
              <a:buNone/>
            </a:pPr>
            <a:r>
              <a:rPr lang="en-GB">
                <a:solidFill>
                  <a:srgbClr val="1B1F2A"/>
                </a:solidFill>
                <a:latin typeface="Calibri"/>
                <a:ea typeface="Calibri"/>
                <a:cs typeface="Calibri"/>
                <a:sym typeface="Calibri"/>
              </a:rPr>
              <a:t>We survey </a:t>
            </a:r>
            <a:r>
              <a:rPr b="1" i="0" lang="en-GB" spc="0" sz="1400" u="none" cap="none" strike="noStrike">
                <a:solidFill>
                  <a:srgbClr val="27348B"/>
                </a:solidFill>
                <a:latin typeface="Calibri"/>
                <a:ea typeface="Calibri"/>
                <a:cs typeface="Calibri"/>
                <a:sym typeface="Calibri"/>
              </a:rPr>
              <a:t>46 systems</a:t>
            </a:r>
            <a:r>
              <a:rPr b="0" i="0" lang="en-GB" spc="0" sz="1400" u="none" cap="none" strike="noStrike">
                <a:solidFill>
                  <a:srgbClr val="1B1F2A"/>
                </a:solidFill>
                <a:latin typeface="Calibri"/>
                <a:ea typeface="Calibri"/>
                <a:cs typeface="Calibri"/>
                <a:sym typeface="Calibri"/>
              </a:rPr>
              <a:t>, organised by </a:t>
            </a:r>
            <a:r>
              <a:rPr i="0" lang="en-GB" spc="0" sz="1400" u="none" cap="none" strike="noStrike">
                <a:solidFill>
                  <a:schemeClr val="dk1"/>
                </a:solidFill>
                <a:latin typeface="Calibri"/>
                <a:ea typeface="Calibri"/>
                <a:cs typeface="Calibri"/>
                <a:sym typeface="Calibri"/>
              </a:rPr>
              <a:t>evidence management, </a:t>
            </a:r>
            <a:r>
              <a:rPr lang="en-GB">
                <a:solidFill>
                  <a:schemeClr val="dk1"/>
                </a:solidFill>
                <a:latin typeface="Calibri"/>
                <a:ea typeface="Calibri"/>
                <a:cs typeface="Calibri"/>
                <a:sym typeface="Calibri"/>
              </a:rPr>
              <a:t>spanning </a:t>
            </a:r>
            <a:r>
              <a:rPr b="1" lang="en-GB">
                <a:solidFill>
                  <a:srgbClr val="27348B"/>
                </a:solidFill>
                <a:latin typeface="Calibri"/>
                <a:ea typeface="Calibri"/>
                <a:cs typeface="Calibri"/>
                <a:sym typeface="Calibri"/>
              </a:rPr>
              <a:t>4 architectural families</a:t>
            </a:r>
            <a:r>
              <a:rPr lang="en-GB">
                <a:solidFill>
                  <a:schemeClr val="dk1"/>
                </a:solidFill>
                <a:latin typeface="Calibri"/>
                <a:ea typeface="Calibri"/>
                <a:cs typeface="Calibri"/>
                <a:sym typeface="Calibri"/>
              </a:rPr>
              <a:t>, multi-page multimodal representation, inference-time adaptation, and training strategies.</a:t>
            </a:r>
            <a:endParaRPr i="0" spc="0" sz="14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47 datasets</a:t>
            </a:r>
            <a:r>
              <a:rPr b="0" i="0" lang="en-GB" spc="0" sz="1400" u="none" cap="none" strike="noStrike">
                <a:solidFill>
                  <a:srgbClr val="1B1F2A"/>
                </a:solidFill>
                <a:latin typeface="Calibri"/>
                <a:ea typeface="Calibri"/>
                <a:cs typeface="Calibri"/>
                <a:sym typeface="Calibri"/>
              </a:rPr>
              <a:t> consolidated; five open challenges</a:t>
            </a:r>
            <a:endParaRPr b="0" i="0" spc="0" sz="1400" u="none" cap="none" strike="noStrike">
              <a:solidFill>
                <a:schemeClr val="dk1"/>
              </a:solidFill>
              <a:latin typeface="Calibri"/>
              <a:ea typeface="Calibri"/>
              <a:cs typeface="Calibri"/>
              <a:sym typeface="Calibri"/>
            </a:endParaRPr>
          </a:p>
        </p:txBody>
      </p:sp>
      <p:sp>
        <p:nvSpPr>
          <p:cNvPr id="121" name="Google Shape;121;p21"/>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122" name="Google Shape;122;p21"/>
          <p:cNvSpPr txBox="1"/>
          <p:nvPr/>
        </p:nvSpPr>
        <p:spPr>
          <a:xfrm>
            <a:off x="3565650" y="1301400"/>
            <a:ext cx="5166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solidFill>
                  <a:srgbClr val="980000"/>
                </a:solidFill>
                <a:latin typeface="Calibri"/>
                <a:ea typeface="Calibri"/>
                <a:cs typeface="Calibri"/>
                <a:sym typeface="Calibri"/>
              </a:rPr>
              <a:t>First-Authored</a:t>
            </a:r>
            <a:r>
              <a:rPr lang="en-GB">
                <a:solidFill>
                  <a:srgbClr val="1B1F2A"/>
                </a:solidFill>
                <a:latin typeface="Calibri"/>
                <a:ea typeface="Calibri"/>
                <a:cs typeface="Calibri"/>
                <a:sym typeface="Calibri"/>
              </a:rPr>
              <a:t> and Accepted at the </a:t>
            </a:r>
            <a:r>
              <a:rPr b="1" lang="en-GB">
                <a:solidFill>
                  <a:srgbClr val="980000"/>
                </a:solidFill>
                <a:latin typeface="Calibri"/>
                <a:ea typeface="Calibri"/>
                <a:cs typeface="Calibri"/>
                <a:sym typeface="Calibri"/>
              </a:rPr>
              <a:t>EMNLP 2026 Main Conference</a:t>
            </a:r>
            <a:r>
              <a:rPr lang="en-GB">
                <a:solidFill>
                  <a:srgbClr val="1B1F2A"/>
                </a:solidFill>
                <a:latin typeface="Calibri"/>
                <a:ea typeface="Calibri"/>
                <a:cs typeface="Calibri"/>
                <a:sym typeface="Calibri"/>
              </a:rPr>
              <a:t>, Budapest.</a:t>
            </a:r>
            <a:endParaRPr>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Four Architectural Families</a:t>
            </a:r>
            <a:endParaRPr sz="2300"/>
          </a:p>
        </p:txBody>
      </p:sp>
      <p:sp>
        <p:nvSpPr>
          <p:cNvPr id="129" name="Google Shape;129;p22"/>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a:t>
            </a:r>
            <a:endParaRPr b="0" i="0" spc="0" sz="900" u="none" cap="none" strike="noStrike">
              <a:solidFill>
                <a:schemeClr val="dk1"/>
              </a:solidFill>
              <a:latin typeface="Calibri"/>
              <a:ea typeface="Calibri"/>
              <a:cs typeface="Calibri"/>
              <a:sym typeface="Calibri"/>
            </a:endParaRPr>
          </a:p>
        </p:txBody>
      </p:sp>
      <p:sp>
        <p:nvSpPr>
          <p:cNvPr id="130" name="Google Shape;130;p22"/>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Each family fixes the previous bottleneck and </a:t>
            </a:r>
            <a:r>
              <a:rPr b="1" i="0" lang="en-GB" spc="0" sz="1400" u="none" cap="none" strike="noStrike">
                <a:solidFill>
                  <a:srgbClr val="27348B"/>
                </a:solidFill>
                <a:latin typeface="Calibri"/>
                <a:ea typeface="Calibri"/>
                <a:cs typeface="Calibri"/>
                <a:sym typeface="Calibri"/>
              </a:rPr>
              <a:t>relocates</a:t>
            </a:r>
            <a:r>
              <a:rPr b="0" i="0" lang="en-GB" spc="0" sz="1400" u="none" cap="none" strike="noStrike">
                <a:solidFill>
                  <a:srgbClr val="1B1F2A"/>
                </a:solidFill>
                <a:latin typeface="Calibri"/>
                <a:ea typeface="Calibri"/>
                <a:cs typeface="Calibri"/>
                <a:sym typeface="Calibri"/>
              </a:rPr>
              <a:t> it rather than removing it.</a:t>
            </a:r>
            <a:endParaRPr b="0" i="0" spc="0" sz="1400" u="none" cap="none" strike="noStrike">
              <a:solidFill>
                <a:schemeClr val="dk1"/>
              </a:solidFill>
              <a:latin typeface="Calibri"/>
              <a:ea typeface="Calibri"/>
              <a:cs typeface="Calibri"/>
              <a:sym typeface="Calibri"/>
            </a:endParaRPr>
          </a:p>
        </p:txBody>
      </p:sp>
      <p:pic>
        <p:nvPicPr>
          <p:cNvPr descr="models_arch.png" id="131" name="Google Shape;131;p22"/>
          <p:cNvPicPr preferRelativeResize="0"/>
          <p:nvPr/>
        </p:nvPicPr>
        <p:blipFill rotWithShape="1">
          <a:blip r:embed="rId3">
            <a:alphaModFix/>
          </a:blip>
          <a:srcRect b="0" l="0" r="0" t="0"/>
          <a:stretch/>
        </p:blipFill>
        <p:spPr>
          <a:xfrm>
            <a:off x="411480" y="1131570"/>
            <a:ext cx="8320811" cy="2419969"/>
          </a:xfrm>
          <a:prstGeom prst="rect">
            <a:avLst/>
          </a:prstGeom>
          <a:noFill/>
          <a:ln>
            <a:noFill/>
          </a:ln>
        </p:spPr>
      </p:pic>
      <p:sp>
        <p:nvSpPr>
          <p:cNvPr id="132" name="Google Shape;132;p22"/>
          <p:cNvSpPr txBox="1"/>
          <p:nvPr/>
        </p:nvSpPr>
        <p:spPr>
          <a:xfrm>
            <a:off x="411480" y="3794760"/>
            <a:ext cx="2080203"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0" i="0" lang="en-GB" spc="0" sz="1000" u="none" cap="none" strike="noStrike">
                <a:solidFill>
                  <a:srgbClr val="5A6072"/>
                </a:solidFill>
                <a:latin typeface="Calibri"/>
                <a:ea typeface="Calibri"/>
                <a:cs typeface="Calibri"/>
                <a:sym typeface="Calibri"/>
              </a:rPr>
              <a:t>e.g. Hi-VT5, GRAM</a:t>
            </a:r>
            <a:endParaRPr b="0" i="0" spc="0" sz="1000" u="none" cap="none" strike="noStrike">
              <a:solidFill>
                <a:schemeClr val="dk1"/>
              </a:solidFill>
              <a:latin typeface="Calibri"/>
              <a:ea typeface="Calibri"/>
              <a:cs typeface="Calibri"/>
              <a:sym typeface="Calibri"/>
            </a:endParaRPr>
          </a:p>
        </p:txBody>
      </p:sp>
      <p:sp>
        <p:nvSpPr>
          <p:cNvPr id="133" name="Google Shape;133;p22"/>
          <p:cNvSpPr txBox="1"/>
          <p:nvPr/>
        </p:nvSpPr>
        <p:spPr>
          <a:xfrm>
            <a:off x="411480" y="3566160"/>
            <a:ext cx="2080203" cy="2377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1" i="0" lang="en-GB" spc="0" sz="1300" u="none" cap="none" strike="noStrike">
                <a:solidFill>
                  <a:srgbClr val="27348B"/>
                </a:solidFill>
                <a:latin typeface="Calibri"/>
                <a:ea typeface="Calibri"/>
                <a:cs typeface="Calibri"/>
                <a:sym typeface="Calibri"/>
              </a:rPr>
              <a:t>Late 2023 to mid 2024</a:t>
            </a:r>
            <a:endParaRPr b="0" i="0" spc="0" sz="1000" u="none" cap="none" strike="noStrike">
              <a:solidFill>
                <a:schemeClr val="dk1"/>
              </a:solidFill>
              <a:latin typeface="Calibri"/>
              <a:ea typeface="Calibri"/>
              <a:cs typeface="Calibri"/>
              <a:sym typeface="Calibri"/>
            </a:endParaRPr>
          </a:p>
        </p:txBody>
      </p:sp>
      <p:sp>
        <p:nvSpPr>
          <p:cNvPr id="134" name="Google Shape;134;p22"/>
          <p:cNvSpPr txBox="1"/>
          <p:nvPr/>
        </p:nvSpPr>
        <p:spPr>
          <a:xfrm>
            <a:off x="2491683" y="3794760"/>
            <a:ext cx="2080203"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0" i="0" lang="en-GB" spc="0" sz="1000" u="none" cap="none" strike="noStrike">
                <a:solidFill>
                  <a:srgbClr val="5A6072"/>
                </a:solidFill>
                <a:latin typeface="Calibri"/>
                <a:ea typeface="Calibri"/>
                <a:cs typeface="Calibri"/>
                <a:sym typeface="Calibri"/>
              </a:rPr>
              <a:t>e.g. DocSLM, Docopilot</a:t>
            </a:r>
            <a:endParaRPr b="0" i="0" spc="0" sz="1000" u="none" cap="none" strike="noStrike">
              <a:solidFill>
                <a:schemeClr val="dk1"/>
              </a:solidFill>
              <a:latin typeface="Calibri"/>
              <a:ea typeface="Calibri"/>
              <a:cs typeface="Calibri"/>
              <a:sym typeface="Calibri"/>
            </a:endParaRPr>
          </a:p>
        </p:txBody>
      </p:sp>
      <p:sp>
        <p:nvSpPr>
          <p:cNvPr id="135" name="Google Shape;135;p22"/>
          <p:cNvSpPr txBox="1"/>
          <p:nvPr/>
        </p:nvSpPr>
        <p:spPr>
          <a:xfrm>
            <a:off x="2491683" y="3566160"/>
            <a:ext cx="2080203" cy="2377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1" i="0" lang="en-GB" spc="0" sz="1300" u="none" cap="none" strike="noStrike">
                <a:solidFill>
                  <a:srgbClr val="27348B"/>
                </a:solidFill>
                <a:latin typeface="Calibri"/>
                <a:ea typeface="Calibri"/>
                <a:cs typeface="Calibri"/>
                <a:sym typeface="Calibri"/>
              </a:rPr>
              <a:t>Early 2024 to late 2025</a:t>
            </a:r>
            <a:endParaRPr b="0" i="0" spc="0" sz="1000" u="none" cap="none" strike="noStrike">
              <a:solidFill>
                <a:schemeClr val="dk1"/>
              </a:solidFill>
              <a:latin typeface="Calibri"/>
              <a:ea typeface="Calibri"/>
              <a:cs typeface="Calibri"/>
              <a:sym typeface="Calibri"/>
            </a:endParaRPr>
          </a:p>
        </p:txBody>
      </p:sp>
      <p:sp>
        <p:nvSpPr>
          <p:cNvPr id="136" name="Google Shape;136;p22"/>
          <p:cNvSpPr txBox="1"/>
          <p:nvPr/>
        </p:nvSpPr>
        <p:spPr>
          <a:xfrm>
            <a:off x="4571886" y="3794760"/>
            <a:ext cx="2080203"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0" i="0" lang="en-GB" spc="0" sz="1000" u="none" cap="none" strike="noStrike">
                <a:solidFill>
                  <a:srgbClr val="5A6072"/>
                </a:solidFill>
                <a:latin typeface="Calibri"/>
                <a:ea typeface="Calibri"/>
                <a:cs typeface="Calibri"/>
                <a:sym typeface="Calibri"/>
              </a:rPr>
              <a:t>e.g. M3DocRAG, MoLoRAG</a:t>
            </a:r>
            <a:endParaRPr b="0" i="0" spc="0" sz="1000" u="none" cap="none" strike="noStrike">
              <a:solidFill>
                <a:schemeClr val="dk1"/>
              </a:solidFill>
              <a:latin typeface="Calibri"/>
              <a:ea typeface="Calibri"/>
              <a:cs typeface="Calibri"/>
              <a:sym typeface="Calibri"/>
            </a:endParaRPr>
          </a:p>
        </p:txBody>
      </p:sp>
      <p:sp>
        <p:nvSpPr>
          <p:cNvPr id="137" name="Google Shape;137;p22"/>
          <p:cNvSpPr txBox="1"/>
          <p:nvPr/>
        </p:nvSpPr>
        <p:spPr>
          <a:xfrm>
            <a:off x="4571886" y="3566160"/>
            <a:ext cx="2080203" cy="2377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1" i="0" lang="en-GB" spc="0" sz="1300" u="none" cap="none" strike="noStrike">
                <a:solidFill>
                  <a:srgbClr val="27348B"/>
                </a:solidFill>
                <a:latin typeface="Calibri"/>
                <a:ea typeface="Calibri"/>
                <a:cs typeface="Calibri"/>
                <a:sym typeface="Calibri"/>
              </a:rPr>
              <a:t>Early 2024 to mid 2026</a:t>
            </a:r>
            <a:endParaRPr b="0" i="0" spc="0" sz="1000" u="none" cap="none" strike="noStrike">
              <a:solidFill>
                <a:schemeClr val="dk1"/>
              </a:solidFill>
              <a:latin typeface="Calibri"/>
              <a:ea typeface="Calibri"/>
              <a:cs typeface="Calibri"/>
              <a:sym typeface="Calibri"/>
            </a:endParaRPr>
          </a:p>
        </p:txBody>
      </p:sp>
      <p:sp>
        <p:nvSpPr>
          <p:cNvPr id="138" name="Google Shape;138;p22"/>
          <p:cNvSpPr txBox="1"/>
          <p:nvPr/>
        </p:nvSpPr>
        <p:spPr>
          <a:xfrm>
            <a:off x="6652088" y="3794760"/>
            <a:ext cx="2080203"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0" i="0" lang="en-GB" spc="0" sz="1000" u="none" cap="none" strike="noStrike">
                <a:solidFill>
                  <a:srgbClr val="5A6072"/>
                </a:solidFill>
                <a:latin typeface="Calibri"/>
                <a:ea typeface="Calibri"/>
                <a:cs typeface="Calibri"/>
                <a:sym typeface="Calibri"/>
              </a:rPr>
              <a:t>e.g. SimpleDoc, DocAgent</a:t>
            </a:r>
            <a:endParaRPr b="0" i="0" spc="0" sz="1000" u="none" cap="none" strike="noStrike">
              <a:solidFill>
                <a:schemeClr val="dk1"/>
              </a:solidFill>
              <a:latin typeface="Calibri"/>
              <a:ea typeface="Calibri"/>
              <a:cs typeface="Calibri"/>
              <a:sym typeface="Calibri"/>
            </a:endParaRPr>
          </a:p>
        </p:txBody>
      </p:sp>
      <p:sp>
        <p:nvSpPr>
          <p:cNvPr id="139" name="Google Shape;139;p22"/>
          <p:cNvSpPr txBox="1"/>
          <p:nvPr/>
        </p:nvSpPr>
        <p:spPr>
          <a:xfrm>
            <a:off x="6652088" y="3566160"/>
            <a:ext cx="2080203" cy="2377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1" i="0" lang="en-GB" spc="0" sz="1300" u="none" cap="none" strike="noStrike">
                <a:solidFill>
                  <a:srgbClr val="27348B"/>
                </a:solidFill>
                <a:latin typeface="Calibri"/>
                <a:ea typeface="Calibri"/>
                <a:cs typeface="Calibri"/>
                <a:sym typeface="Calibri"/>
              </a:rPr>
              <a:t>Early 2025 to mid 2026</a:t>
            </a:r>
            <a:endParaRPr b="0" i="0" spc="0" sz="1000" u="none" cap="none" strike="noStrike">
              <a:solidFill>
                <a:schemeClr val="dk1"/>
              </a:solidFill>
              <a:latin typeface="Calibri"/>
              <a:ea typeface="Calibri"/>
              <a:cs typeface="Calibri"/>
              <a:sym typeface="Calibri"/>
            </a:endParaRPr>
          </a:p>
        </p:txBody>
      </p:sp>
      <p:sp>
        <p:nvSpPr>
          <p:cNvPr id="140" name="Google Shape;140;p22"/>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Surveyed Systems </a:t>
            </a:r>
            <a:r>
              <a:rPr lang="en-GB"/>
              <a:t>Main Table</a:t>
            </a:r>
            <a:endParaRPr sz="2300"/>
          </a:p>
        </p:txBody>
      </p:sp>
      <p:sp>
        <p:nvSpPr>
          <p:cNvPr id="147" name="Google Shape;147;p23"/>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a:t>
            </a:r>
            <a:endParaRPr b="0" i="0" spc="0" sz="900" u="none" cap="none" strike="noStrike">
              <a:solidFill>
                <a:schemeClr val="dk1"/>
              </a:solidFill>
              <a:latin typeface="Calibri"/>
              <a:ea typeface="Calibri"/>
              <a:cs typeface="Calibri"/>
              <a:sym typeface="Calibri"/>
            </a:endParaRPr>
          </a:p>
        </p:txBody>
      </p:sp>
      <p:pic>
        <p:nvPicPr>
          <p:cNvPr descr="Table 1 of the survey" id="148" name="Google Shape;148;p23"/>
          <p:cNvPicPr preferRelativeResize="0"/>
          <p:nvPr/>
        </p:nvPicPr>
        <p:blipFill rotWithShape="1">
          <a:blip r:embed="rId3">
            <a:alphaModFix/>
          </a:blip>
          <a:srcRect b="0" l="0" r="0" t="0"/>
          <a:stretch/>
        </p:blipFill>
        <p:spPr>
          <a:xfrm>
            <a:off x="411480" y="1097280"/>
            <a:ext cx="3747718" cy="3531870"/>
          </a:xfrm>
          <a:prstGeom prst="rect">
            <a:avLst/>
          </a:prstGeom>
          <a:noFill/>
          <a:ln>
            <a:noFill/>
          </a:ln>
        </p:spPr>
      </p:pic>
      <p:sp>
        <p:nvSpPr>
          <p:cNvPr id="149" name="Google Shape;149;p23"/>
          <p:cNvSpPr/>
          <p:nvPr/>
        </p:nvSpPr>
        <p:spPr>
          <a:xfrm>
            <a:off x="411480" y="1097280"/>
            <a:ext cx="3747600" cy="3531900"/>
          </a:xfrm>
          <a:prstGeom prst="rect">
            <a:avLst/>
          </a:prstGeom>
          <a:noFill/>
          <a:ln cap="flat" cmpd="sng" w="9525">
            <a:solidFill>
              <a:srgbClr val="C9CD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0" name="Google Shape;150;p23"/>
          <p:cNvSpPr txBox="1"/>
          <p:nvPr/>
        </p:nvSpPr>
        <p:spPr>
          <a:xfrm>
            <a:off x="4746525" y="1337300"/>
            <a:ext cx="3985800" cy="123450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0"/>
              </a:spcBef>
              <a:spcAft>
                <a:spcPts val="0"/>
              </a:spcAft>
              <a:buClr>
                <a:srgbClr val="27348B"/>
              </a:buClr>
              <a:buSzPts val="1400"/>
              <a:buFont typeface="Calibri"/>
              <a:buChar char="●"/>
            </a:pPr>
            <a:r>
              <a:rPr b="1" i="0" lang="en-GB" spc="0" sz="1400" u="none" cap="none" strike="noStrike">
                <a:solidFill>
                  <a:srgbClr val="27348B"/>
                </a:solidFill>
                <a:latin typeface="Calibri"/>
                <a:ea typeface="Calibri"/>
                <a:cs typeface="Calibri"/>
                <a:sym typeface="Calibri"/>
              </a:rPr>
              <a:t>Models vs pipelines</a:t>
            </a:r>
            <a:endParaRPr b="0" i="0" spc="0" sz="1400" u="none" cap="none" strike="noStrike">
              <a:solidFill>
                <a:schemeClr val="dk1"/>
              </a:solidFill>
              <a:latin typeface="Calibri"/>
              <a:ea typeface="Calibri"/>
              <a:cs typeface="Calibri"/>
              <a:sym typeface="Calibri"/>
            </a:endParaRPr>
          </a:p>
          <a:p>
            <a:pPr indent="0" lvl="0" marL="457200" marR="0" rtl="0" algn="l">
              <a:lnSpc>
                <a:spcPct val="100000"/>
              </a:lnSpc>
              <a:spcBef>
                <a:spcPts val="200"/>
              </a:spcBef>
              <a:spcAft>
                <a:spcPts val="0"/>
              </a:spcAft>
              <a:buClr>
                <a:srgbClr val="1B1F2A"/>
              </a:buClr>
              <a:buSzPts val="1400"/>
              <a:buFont typeface="Calibri"/>
              <a:buNone/>
            </a:pPr>
            <a:r>
              <a:rPr lang="en-GB">
                <a:solidFill>
                  <a:srgbClr val="1B1F2A"/>
                </a:solidFill>
                <a:latin typeface="Calibri"/>
                <a:ea typeface="Calibri"/>
                <a:cs typeface="Calibri"/>
                <a:sym typeface="Calibri"/>
              </a:rPr>
              <a:t>Models are trained end-to-end with purpose built components</a:t>
            </a:r>
            <a:endParaRPr>
              <a:solidFill>
                <a:srgbClr val="1B1F2A"/>
              </a:solidFill>
              <a:latin typeface="Calibri"/>
              <a:ea typeface="Calibri"/>
              <a:cs typeface="Calibri"/>
              <a:sym typeface="Calibri"/>
            </a:endParaRPr>
          </a:p>
          <a:p>
            <a:pPr indent="0" lvl="0" marL="45720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Pipelines </a:t>
            </a:r>
            <a:r>
              <a:rPr lang="en-GB">
                <a:solidFill>
                  <a:srgbClr val="1B1F2A"/>
                </a:solidFill>
                <a:latin typeface="Calibri"/>
                <a:ea typeface="Calibri"/>
                <a:cs typeface="Calibri"/>
                <a:sym typeface="Calibri"/>
              </a:rPr>
              <a:t>usually use a frozen LVLM backbone with interchangeable components/backbones.</a:t>
            </a:r>
            <a:endParaRPr b="0" i="0" spc="0" sz="1400" u="none" cap="none" strike="noStrike">
              <a:solidFill>
                <a:srgbClr val="1B1F2A"/>
              </a:solidFill>
              <a:latin typeface="Calibri"/>
              <a:ea typeface="Calibri"/>
              <a:cs typeface="Calibri"/>
              <a:sym typeface="Calibri"/>
            </a:endParaRPr>
          </a:p>
          <a:p>
            <a:pPr indent="0" lvl="0" marL="457200" marR="0" rtl="0" algn="l">
              <a:lnSpc>
                <a:spcPct val="100000"/>
              </a:lnSpc>
              <a:spcBef>
                <a:spcPts val="200"/>
              </a:spcBef>
              <a:spcAft>
                <a:spcPts val="0"/>
              </a:spcAft>
              <a:buClr>
                <a:srgbClr val="1B1F2A"/>
              </a:buClr>
              <a:buSzPts val="1400"/>
              <a:buFont typeface="Calibri"/>
              <a:buNone/>
            </a:pPr>
            <a:r>
              <a:t/>
            </a:r>
            <a:endParaRPr>
              <a:solidFill>
                <a:srgbClr val="1B1F2A"/>
              </a:solidFill>
              <a:latin typeface="Calibri"/>
              <a:ea typeface="Calibri"/>
              <a:cs typeface="Calibri"/>
              <a:sym typeface="Calibri"/>
            </a:endParaRPr>
          </a:p>
        </p:txBody>
      </p:sp>
      <p:sp>
        <p:nvSpPr>
          <p:cNvPr id="151" name="Google Shape;151;p23"/>
          <p:cNvSpPr txBox="1"/>
          <p:nvPr/>
        </p:nvSpPr>
        <p:spPr>
          <a:xfrm>
            <a:off x="4746526" y="2703525"/>
            <a:ext cx="3985800" cy="82290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0"/>
              </a:spcBef>
              <a:spcAft>
                <a:spcPts val="0"/>
              </a:spcAft>
              <a:buClr>
                <a:srgbClr val="27348B"/>
              </a:buClr>
              <a:buSzPts val="1400"/>
              <a:buFont typeface="Calibri"/>
              <a:buChar char="●"/>
            </a:pPr>
            <a:r>
              <a:rPr b="1" i="0" lang="en-GB" spc="0" sz="1400" u="none" cap="none" strike="noStrike">
                <a:solidFill>
                  <a:srgbClr val="27348B"/>
                </a:solidFill>
                <a:latin typeface="Calibri"/>
                <a:ea typeface="Calibri"/>
                <a:cs typeface="Calibri"/>
                <a:sym typeface="Calibri"/>
              </a:rPr>
              <a:t>Modalities</a:t>
            </a:r>
            <a:endParaRPr b="0" i="0" spc="0" sz="1400" u="none" cap="none" strike="noStrike">
              <a:solidFill>
                <a:schemeClr val="dk1"/>
              </a:solidFill>
              <a:latin typeface="Calibri"/>
              <a:ea typeface="Calibri"/>
              <a:cs typeface="Calibri"/>
              <a:sym typeface="Calibri"/>
            </a:endParaRPr>
          </a:p>
          <a:p>
            <a:pPr indent="0" lvl="0" marL="45720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Encoding models use text, vision and layout; MLLM-centric models are mostly vision only.</a:t>
            </a:r>
            <a:endParaRPr b="0" i="0" spc="0" sz="1400" u="none" cap="none" strike="noStrike">
              <a:solidFill>
                <a:schemeClr val="dk1"/>
              </a:solidFill>
              <a:latin typeface="Calibri"/>
              <a:ea typeface="Calibri"/>
              <a:cs typeface="Calibri"/>
              <a:sym typeface="Calibri"/>
            </a:endParaRPr>
          </a:p>
        </p:txBody>
      </p:sp>
      <p:sp>
        <p:nvSpPr>
          <p:cNvPr id="152" name="Google Shape;152;p23"/>
          <p:cNvSpPr txBox="1"/>
          <p:nvPr/>
        </p:nvSpPr>
        <p:spPr>
          <a:xfrm>
            <a:off x="4746526" y="3574600"/>
            <a:ext cx="3985800" cy="82290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0"/>
              </a:spcBef>
              <a:spcAft>
                <a:spcPts val="0"/>
              </a:spcAft>
              <a:buClr>
                <a:srgbClr val="27348B"/>
              </a:buClr>
              <a:buSzPts val="1400"/>
              <a:buFont typeface="Calibri"/>
              <a:buChar char="●"/>
            </a:pPr>
            <a:r>
              <a:rPr b="1" i="0" lang="en-GB" spc="0" sz="1400" u="none" cap="none" strike="noStrike">
                <a:solidFill>
                  <a:srgbClr val="27348B"/>
                </a:solidFill>
                <a:latin typeface="Calibri"/>
                <a:ea typeface="Calibri"/>
                <a:cs typeface="Calibri"/>
                <a:sym typeface="Calibri"/>
              </a:rPr>
              <a:t>Search</a:t>
            </a:r>
            <a:endParaRPr b="0" i="0" spc="0" sz="1400" u="none" cap="none" strike="noStrike">
              <a:solidFill>
                <a:schemeClr val="dk1"/>
              </a:solidFill>
              <a:latin typeface="Calibri"/>
              <a:ea typeface="Calibri"/>
              <a:cs typeface="Calibri"/>
              <a:sym typeface="Calibri"/>
            </a:endParaRPr>
          </a:p>
          <a:p>
            <a:pPr indent="0" lvl="0" marL="45720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Appears only once retrieval is separated from answering.</a:t>
            </a:r>
            <a:endParaRPr b="0" i="0" spc="0" sz="1400" u="none" cap="none" strike="noStrike">
              <a:solidFill>
                <a:schemeClr val="dk1"/>
              </a:solidFill>
              <a:latin typeface="Calibri"/>
              <a:ea typeface="Calibri"/>
              <a:cs typeface="Calibri"/>
              <a:sym typeface="Calibri"/>
            </a:endParaRPr>
          </a:p>
        </p:txBody>
      </p:sp>
      <p:sp>
        <p:nvSpPr>
          <p:cNvPr id="153" name="Google Shape;153;p23"/>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154" name="Google Shape;154;p23"/>
          <p:cNvSpPr/>
          <p:nvPr/>
        </p:nvSpPr>
        <p:spPr>
          <a:xfrm>
            <a:off x="2162281" y="2387267"/>
            <a:ext cx="802294" cy="1747144"/>
          </a:xfrm>
          <a:prstGeom prst="rect">
            <a:avLst/>
          </a:prstGeom>
          <a:noFill/>
          <a:ln cap="flat" cmpd="sng" w="22225">
            <a:solidFill>
              <a:srgbClr val="ED7D3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155" name="Google Shape;155;p23"/>
          <p:cNvSpPr/>
          <p:nvPr/>
        </p:nvSpPr>
        <p:spPr>
          <a:xfrm>
            <a:off x="2958202" y="1359480"/>
            <a:ext cx="200948" cy="2774253"/>
          </a:xfrm>
          <a:prstGeom prst="rect">
            <a:avLst/>
          </a:prstGeom>
          <a:noFill/>
          <a:ln cap="flat" cmpd="sng" w="22225">
            <a:solidFill>
              <a:srgbClr val="ED7D3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156" name="Google Shape;156;p23"/>
          <p:cNvSpPr/>
          <p:nvPr/>
        </p:nvSpPr>
        <p:spPr>
          <a:xfrm>
            <a:off x="3170773" y="2387267"/>
            <a:ext cx="419892" cy="1747144"/>
          </a:xfrm>
          <a:prstGeom prst="rect">
            <a:avLst/>
          </a:prstGeom>
          <a:noFill/>
          <a:ln cap="flat" cmpd="sng" w="22225">
            <a:solidFill>
              <a:srgbClr val="ED7D3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4"/>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Inference-Time Strategies</a:t>
            </a:r>
            <a:endParaRPr sz="2300"/>
          </a:p>
        </p:txBody>
      </p:sp>
      <p:sp>
        <p:nvSpPr>
          <p:cNvPr id="163" name="Google Shape;163;p24"/>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 </a:t>
            </a:r>
            <a:endParaRPr b="0" i="0" spc="0" sz="900" u="none" cap="none" strike="noStrike">
              <a:solidFill>
                <a:schemeClr val="dk1"/>
              </a:solidFill>
              <a:latin typeface="Calibri"/>
              <a:ea typeface="Calibri"/>
              <a:cs typeface="Calibri"/>
              <a:sym typeface="Calibri"/>
            </a:endParaRPr>
          </a:p>
        </p:txBody>
      </p:sp>
      <p:sp>
        <p:nvSpPr>
          <p:cNvPr id="164" name="Google Shape;164;p24"/>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lang="en-GB">
                <a:solidFill>
                  <a:srgbClr val="1B1F2A"/>
                </a:solidFill>
                <a:latin typeface="Calibri"/>
                <a:ea typeface="Calibri"/>
                <a:cs typeface="Calibri"/>
                <a:sym typeface="Calibri"/>
              </a:rPr>
              <a:t>Training free strategies to </a:t>
            </a:r>
            <a:r>
              <a:rPr lang="en-GB">
                <a:solidFill>
                  <a:srgbClr val="1B1F2A"/>
                </a:solidFill>
                <a:latin typeface="Calibri"/>
                <a:ea typeface="Calibri"/>
                <a:cs typeface="Calibri"/>
                <a:sym typeface="Calibri"/>
              </a:rPr>
              <a:t>improve document understanding performance. Retrieval and Agentic methods are used for Retrieval Augmented and Adaptive Trajectory Pipelines; Reasoning strategies can be applied to any LVLM.</a:t>
            </a:r>
            <a:endParaRPr b="0" i="0" spc="0" sz="1400" u="none" cap="none" strike="noStrike">
              <a:solidFill>
                <a:schemeClr val="dk1"/>
              </a:solidFill>
              <a:latin typeface="Calibri"/>
              <a:ea typeface="Calibri"/>
              <a:cs typeface="Calibri"/>
              <a:sym typeface="Calibri"/>
            </a:endParaRPr>
          </a:p>
        </p:txBody>
      </p:sp>
      <p:pic>
        <p:nvPicPr>
          <p:cNvPr descr="inference_strategies.png" id="165" name="Google Shape;165;p24"/>
          <p:cNvPicPr preferRelativeResize="0"/>
          <p:nvPr/>
        </p:nvPicPr>
        <p:blipFill rotWithShape="1">
          <a:blip r:embed="rId3">
            <a:alphaModFix/>
          </a:blip>
          <a:srcRect b="0" l="0" r="0" t="0"/>
          <a:stretch/>
        </p:blipFill>
        <p:spPr>
          <a:xfrm>
            <a:off x="411593" y="1204220"/>
            <a:ext cx="8320811" cy="3029930"/>
          </a:xfrm>
          <a:prstGeom prst="rect">
            <a:avLst/>
          </a:prstGeom>
          <a:noFill/>
          <a:ln>
            <a:noFill/>
          </a:ln>
        </p:spPr>
      </p:pic>
      <p:sp>
        <p:nvSpPr>
          <p:cNvPr id="166" name="Google Shape;166;p24"/>
          <p:cNvSpPr txBox="1"/>
          <p:nvPr/>
        </p:nvSpPr>
        <p:spPr>
          <a:xfrm>
            <a:off x="411588" y="4316450"/>
            <a:ext cx="2705100" cy="274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100"/>
              <a:buFont typeface="Calibri"/>
              <a:buNone/>
            </a:pPr>
            <a:r>
              <a:rPr b="0" i="0" lang="en-GB" spc="0" sz="1100" u="none" cap="none" strike="noStrike">
                <a:solidFill>
                  <a:srgbClr val="5A6072"/>
                </a:solidFill>
                <a:latin typeface="Calibri"/>
                <a:ea typeface="Calibri"/>
                <a:cs typeface="Calibri"/>
                <a:sym typeface="Calibri"/>
              </a:rPr>
              <a:t>Relation-aware retrieval finds links similarity misses</a:t>
            </a:r>
            <a:endParaRPr b="0" i="0" spc="0" sz="1100" u="none" cap="none" strike="noStrike">
              <a:solidFill>
                <a:schemeClr val="dk1"/>
              </a:solidFill>
              <a:latin typeface="Calibri"/>
              <a:ea typeface="Calibri"/>
              <a:cs typeface="Calibri"/>
              <a:sym typeface="Calibri"/>
            </a:endParaRPr>
          </a:p>
        </p:txBody>
      </p:sp>
      <p:sp>
        <p:nvSpPr>
          <p:cNvPr id="167" name="Google Shape;167;p24"/>
          <p:cNvSpPr txBox="1"/>
          <p:nvPr/>
        </p:nvSpPr>
        <p:spPr>
          <a:xfrm>
            <a:off x="3253777" y="4316445"/>
            <a:ext cx="2636400" cy="274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100"/>
              <a:buFont typeface="Calibri"/>
              <a:buNone/>
            </a:pPr>
            <a:r>
              <a:rPr b="0" i="0" lang="en-GB" spc="0" sz="1100" u="none" cap="none" strike="noStrike">
                <a:solidFill>
                  <a:srgbClr val="5A6072"/>
                </a:solidFill>
                <a:latin typeface="Calibri"/>
                <a:ea typeface="Calibri"/>
                <a:cs typeface="Calibri"/>
                <a:sym typeface="Calibri"/>
              </a:rPr>
              <a:t>A chain cannot recover what retrieval missed</a:t>
            </a:r>
            <a:endParaRPr b="0" i="0" spc="0" sz="1100" u="none" cap="none" strike="noStrike">
              <a:solidFill>
                <a:schemeClr val="dk1"/>
              </a:solidFill>
              <a:latin typeface="Calibri"/>
              <a:ea typeface="Calibri"/>
              <a:cs typeface="Calibri"/>
              <a:sym typeface="Calibri"/>
            </a:endParaRPr>
          </a:p>
        </p:txBody>
      </p:sp>
      <p:sp>
        <p:nvSpPr>
          <p:cNvPr id="168" name="Google Shape;168;p24"/>
          <p:cNvSpPr txBox="1"/>
          <p:nvPr/>
        </p:nvSpPr>
        <p:spPr>
          <a:xfrm>
            <a:off x="6027380" y="4316445"/>
            <a:ext cx="2636400" cy="274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100"/>
              <a:buFont typeface="Calibri"/>
              <a:buNone/>
            </a:pPr>
            <a:r>
              <a:rPr b="0" i="0" lang="en-GB" spc="0" sz="1100" u="none" cap="none" strike="noStrike">
                <a:solidFill>
                  <a:srgbClr val="5A6072"/>
                </a:solidFill>
                <a:latin typeface="Calibri"/>
                <a:ea typeface="Calibri"/>
                <a:cs typeface="Calibri"/>
                <a:sym typeface="Calibri"/>
              </a:rPr>
              <a:t>Lifts the recall ceiling; cost is hard to bound</a:t>
            </a:r>
            <a:endParaRPr b="0" i="0" spc="0" sz="1100" u="none" cap="none" strike="noStrike">
              <a:solidFill>
                <a:schemeClr val="dk1"/>
              </a:solidFill>
              <a:latin typeface="Calibri"/>
              <a:ea typeface="Calibri"/>
              <a:cs typeface="Calibri"/>
              <a:sym typeface="Calibri"/>
            </a:endParaRPr>
          </a:p>
        </p:txBody>
      </p:sp>
      <p:sp>
        <p:nvSpPr>
          <p:cNvPr id="169" name="Google Shape;169;p24"/>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Training Strategies &amp; Datasets</a:t>
            </a:r>
            <a:endParaRPr sz="2300"/>
          </a:p>
        </p:txBody>
      </p:sp>
      <p:sp>
        <p:nvSpPr>
          <p:cNvPr id="176" name="Google Shape;176;p25"/>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a:t>
            </a:r>
            <a:endParaRPr b="0" i="0" spc="0" sz="900" u="none" cap="none" strike="noStrike">
              <a:solidFill>
                <a:schemeClr val="dk1"/>
              </a:solidFill>
              <a:latin typeface="Calibri"/>
              <a:ea typeface="Calibri"/>
              <a:cs typeface="Calibri"/>
              <a:sym typeface="Calibri"/>
            </a:endParaRPr>
          </a:p>
        </p:txBody>
      </p:sp>
      <p:sp>
        <p:nvSpPr>
          <p:cNvPr id="177" name="Google Shape;177;p25"/>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Pretraining is rare; </a:t>
            </a:r>
            <a:r>
              <a:rPr b="1" i="0" lang="en-GB" spc="0" sz="1400" u="none" cap="none" strike="noStrike">
                <a:solidFill>
                  <a:srgbClr val="27348B"/>
                </a:solidFill>
                <a:latin typeface="Calibri"/>
                <a:ea typeface="Calibri"/>
                <a:cs typeface="Calibri"/>
                <a:sym typeface="Calibri"/>
              </a:rPr>
              <a:t>fine-tuning carries the weight</a:t>
            </a:r>
            <a:r>
              <a:rPr b="0" i="0" lang="en-GB" spc="0" sz="1400" u="none" cap="none" strike="noStrike">
                <a:solidFill>
                  <a:srgbClr val="1B1F2A"/>
                </a:solidFill>
                <a:latin typeface="Calibri"/>
                <a:ea typeface="Calibri"/>
                <a:cs typeface="Calibri"/>
                <a:sym typeface="Calibri"/>
              </a:rPr>
              <a:t>, with RL layered on top.</a:t>
            </a:r>
            <a:endParaRPr b="0" i="0" spc="0" sz="1400" u="none" cap="none" strike="noStrike">
              <a:solidFill>
                <a:schemeClr val="dk1"/>
              </a:solidFill>
              <a:latin typeface="Calibri"/>
              <a:ea typeface="Calibri"/>
              <a:cs typeface="Calibri"/>
              <a:sym typeface="Calibri"/>
            </a:endParaRPr>
          </a:p>
        </p:txBody>
      </p:sp>
      <p:sp>
        <p:nvSpPr>
          <p:cNvPr id="178" name="Google Shape;178;p25"/>
          <p:cNvSpPr txBox="1"/>
          <p:nvPr/>
        </p:nvSpPr>
        <p:spPr>
          <a:xfrm>
            <a:off x="411480" y="1200150"/>
            <a:ext cx="3840480"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TRAINING</a:t>
            </a:r>
            <a:endParaRPr b="0" i="0" spc="0" sz="900" u="none" cap="none" strike="noStrike">
              <a:solidFill>
                <a:schemeClr val="dk1"/>
              </a:solidFill>
              <a:latin typeface="Calibri"/>
              <a:ea typeface="Calibri"/>
              <a:cs typeface="Calibri"/>
              <a:sym typeface="Calibri"/>
            </a:endParaRPr>
          </a:p>
        </p:txBody>
      </p:sp>
      <p:sp>
        <p:nvSpPr>
          <p:cNvPr id="179" name="Google Shape;179;p25"/>
          <p:cNvSpPr txBox="1"/>
          <p:nvPr/>
        </p:nvSpPr>
        <p:spPr>
          <a:xfrm>
            <a:off x="411480" y="1474470"/>
            <a:ext cx="3840480" cy="219456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0"/>
              </a:spcBef>
              <a:spcAft>
                <a:spcPts val="0"/>
              </a:spcAft>
              <a:buClr>
                <a:srgbClr val="1B1F2A"/>
              </a:buClr>
              <a:buSzPts val="1400"/>
              <a:buFont typeface="Calibri"/>
              <a:buChar char="●"/>
            </a:pPr>
            <a:r>
              <a:rPr b="1" i="0" lang="en-GB" spc="0" sz="1400" u="none" cap="none" strike="noStrike">
                <a:solidFill>
                  <a:srgbClr val="1B1F2A"/>
                </a:solidFill>
                <a:latin typeface="Calibri"/>
                <a:ea typeface="Calibri"/>
                <a:cs typeface="Calibri"/>
                <a:sym typeface="Calibri"/>
              </a:rPr>
              <a:t>Retrieval</a:t>
            </a:r>
            <a:r>
              <a:rPr b="0" i="0" lang="en-GB" spc="0" sz="1400" u="none" cap="none" strike="noStrike">
                <a:solidFill>
                  <a:srgbClr val="1B1F2A"/>
                </a:solidFill>
                <a:latin typeface="Calibri"/>
                <a:ea typeface="Calibri"/>
                <a:cs typeface="Calibri"/>
                <a:sym typeface="Calibri"/>
              </a:rPr>
              <a:t>: alignment, cross-page fusion, logical relevance</a:t>
            </a:r>
            <a:endParaRPr b="0" i="0" spc="0" sz="1400" u="none" cap="none" strike="noStrike">
              <a:solidFill>
                <a:schemeClr val="dk1"/>
              </a:solidFill>
              <a:latin typeface="Calibri"/>
              <a:ea typeface="Calibri"/>
              <a:cs typeface="Calibri"/>
              <a:sym typeface="Calibri"/>
            </a:endParaRPr>
          </a:p>
          <a:p>
            <a:pPr indent="-317500" lvl="0" marL="457200" marR="0" rtl="0" algn="l">
              <a:lnSpc>
                <a:spcPct val="100000"/>
              </a:lnSpc>
              <a:spcBef>
                <a:spcPts val="1000"/>
              </a:spcBef>
              <a:spcAft>
                <a:spcPts val="0"/>
              </a:spcAft>
              <a:buClr>
                <a:srgbClr val="1B1F2A"/>
              </a:buClr>
              <a:buSzPts val="1400"/>
              <a:buFont typeface="Calibri"/>
              <a:buChar char="●"/>
            </a:pPr>
            <a:r>
              <a:rPr b="1" i="0" lang="en-GB" spc="0" sz="1400" u="none" cap="none" strike="noStrike">
                <a:solidFill>
                  <a:srgbClr val="1B1F2A"/>
                </a:solidFill>
                <a:latin typeface="Calibri"/>
                <a:ea typeface="Calibri"/>
                <a:cs typeface="Calibri"/>
                <a:sym typeface="Calibri"/>
              </a:rPr>
              <a:t>Reasoning</a:t>
            </a:r>
            <a:r>
              <a:rPr b="0" i="0" lang="en-GB" spc="0" sz="1400" u="none" cap="none" strike="noStrike">
                <a:solidFill>
                  <a:srgbClr val="1B1F2A"/>
                </a:solidFill>
                <a:latin typeface="Calibri"/>
                <a:ea typeface="Calibri"/>
                <a:cs typeface="Calibri"/>
                <a:sym typeface="Calibri"/>
              </a:rPr>
              <a:t>: trace imitation, then reward-driven GRPO</a:t>
            </a:r>
            <a:endParaRPr b="0" i="0" spc="0" sz="1400" u="none" cap="none" strike="noStrike">
              <a:solidFill>
                <a:schemeClr val="dk1"/>
              </a:solidFill>
              <a:latin typeface="Calibri"/>
              <a:ea typeface="Calibri"/>
              <a:cs typeface="Calibri"/>
              <a:sym typeface="Calibri"/>
            </a:endParaRPr>
          </a:p>
          <a:p>
            <a:pPr indent="-317500" lvl="0" marL="457200" marR="0" rtl="0" algn="l">
              <a:lnSpc>
                <a:spcPct val="100000"/>
              </a:lnSpc>
              <a:spcBef>
                <a:spcPts val="1000"/>
              </a:spcBef>
              <a:spcAft>
                <a:spcPts val="0"/>
              </a:spcAft>
              <a:buClr>
                <a:srgbClr val="1B1F2A"/>
              </a:buClr>
              <a:buSzPts val="1400"/>
              <a:buFont typeface="Calibri"/>
              <a:buChar char="●"/>
            </a:pPr>
            <a:r>
              <a:rPr b="1" i="0" lang="en-GB" spc="0" sz="1400" u="none" cap="none" strike="noStrike">
                <a:solidFill>
                  <a:srgbClr val="1B1F2A"/>
                </a:solidFill>
                <a:latin typeface="Calibri"/>
                <a:ea typeface="Calibri"/>
                <a:cs typeface="Calibri"/>
                <a:sym typeface="Calibri"/>
              </a:rPr>
              <a:t>Agentic</a:t>
            </a:r>
            <a:r>
              <a:rPr b="0" i="0" lang="en-GB" spc="0" sz="1400" u="none" cap="none" strike="noStrike">
                <a:solidFill>
                  <a:srgbClr val="1B1F2A"/>
                </a:solidFill>
                <a:latin typeface="Calibri"/>
                <a:ea typeface="Calibri"/>
                <a:cs typeface="Calibri"/>
                <a:sym typeface="Calibri"/>
              </a:rPr>
              <a:t>: trajectory distillation, then RL</a:t>
            </a:r>
            <a:endParaRPr b="0" i="0" spc="0" sz="1400" u="none" cap="none" strike="noStrike">
              <a:solidFill>
                <a:schemeClr val="dk1"/>
              </a:solidFill>
              <a:latin typeface="Calibri"/>
              <a:ea typeface="Calibri"/>
              <a:cs typeface="Calibri"/>
              <a:sym typeface="Calibri"/>
            </a:endParaRPr>
          </a:p>
          <a:p>
            <a:pPr indent="-317500" lvl="0" marL="457200" marR="0" rtl="0" algn="l">
              <a:lnSpc>
                <a:spcPct val="100000"/>
              </a:lnSpc>
              <a:spcBef>
                <a:spcPts val="1000"/>
              </a:spcBef>
              <a:spcAft>
                <a:spcPts val="1000"/>
              </a:spcAft>
              <a:buClr>
                <a:srgbClr val="1B1F2A"/>
              </a:buClr>
              <a:buSzPts val="1400"/>
              <a:buFont typeface="Calibri"/>
              <a:buChar char="●"/>
            </a:pPr>
            <a:r>
              <a:rPr b="1" i="0" lang="en-GB" spc="0" sz="1400" u="none" cap="none" strike="noStrike">
                <a:solidFill>
                  <a:srgbClr val="1B1F2A"/>
                </a:solidFill>
                <a:latin typeface="Calibri"/>
                <a:ea typeface="Calibri"/>
                <a:cs typeface="Calibri"/>
                <a:sym typeface="Calibri"/>
              </a:rPr>
              <a:t>Cross-cutting</a:t>
            </a:r>
            <a:r>
              <a:rPr b="0" i="0" lang="en-GB" spc="0" sz="1400" u="none" cap="none" strike="noStrike">
                <a:solidFill>
                  <a:srgbClr val="1B1F2A"/>
                </a:solidFill>
                <a:latin typeface="Calibri"/>
                <a:ea typeface="Calibri"/>
                <a:cs typeface="Calibri"/>
                <a:sym typeface="Calibri"/>
              </a:rPr>
              <a:t>: PEFT / LoRA, single- to multi-page curricula</a:t>
            </a:r>
            <a:endParaRPr b="0" i="0" spc="0" sz="1400" u="none" cap="none" strike="noStrike">
              <a:solidFill>
                <a:schemeClr val="dk1"/>
              </a:solidFill>
              <a:latin typeface="Calibri"/>
              <a:ea typeface="Calibri"/>
              <a:cs typeface="Calibri"/>
              <a:sym typeface="Calibri"/>
            </a:endParaRPr>
          </a:p>
        </p:txBody>
      </p:sp>
      <p:sp>
        <p:nvSpPr>
          <p:cNvPr id="180" name="Google Shape;180;p25"/>
          <p:cNvSpPr txBox="1"/>
          <p:nvPr/>
        </p:nvSpPr>
        <p:spPr>
          <a:xfrm>
            <a:off x="411480" y="3806190"/>
            <a:ext cx="3840480" cy="6172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1100"/>
              <a:buFont typeface="Calibri"/>
              <a:buNone/>
            </a:pPr>
            <a:r>
              <a:rPr b="0" i="0" lang="en-GB" spc="0" sz="1100" u="none" cap="none" strike="noStrike">
                <a:solidFill>
                  <a:srgbClr val="5A6072"/>
                </a:solidFill>
                <a:latin typeface="Calibri"/>
                <a:ea typeface="Calibri"/>
                <a:cs typeface="Calibri"/>
                <a:sym typeface="Calibri"/>
              </a:rPr>
              <a:t>Fine-tuning data is mostly LVLM-synthesised; </a:t>
            </a:r>
            <a:r>
              <a:rPr b="1" i="0" lang="en-GB" spc="0" sz="1100" u="none" cap="none" strike="noStrike">
                <a:solidFill>
                  <a:srgbClr val="1B1F2A"/>
                </a:solidFill>
                <a:latin typeface="Calibri"/>
                <a:ea typeface="Calibri"/>
                <a:cs typeface="Calibri"/>
                <a:sym typeface="Calibri"/>
              </a:rPr>
              <a:t>16 of 19</a:t>
            </a:r>
            <a:r>
              <a:rPr b="0" i="0" lang="en-GB" spc="0" sz="1100" u="none" cap="none" strike="noStrike">
                <a:solidFill>
                  <a:srgbClr val="5A6072"/>
                </a:solidFill>
                <a:latin typeface="Calibri"/>
                <a:ea typeface="Calibri"/>
                <a:cs typeface="Calibri"/>
                <a:sym typeface="Calibri"/>
              </a:rPr>
              <a:t> papers that fine-tune on MP-DocVQA also evaluate on it.</a:t>
            </a:r>
            <a:endParaRPr b="0" i="0" spc="0" sz="1100" u="none" cap="none" strike="noStrike">
              <a:solidFill>
                <a:schemeClr val="dk1"/>
              </a:solidFill>
              <a:latin typeface="Calibri"/>
              <a:ea typeface="Calibri"/>
              <a:cs typeface="Calibri"/>
              <a:sym typeface="Calibri"/>
            </a:endParaRPr>
          </a:p>
        </p:txBody>
      </p:sp>
      <p:sp>
        <p:nvSpPr>
          <p:cNvPr id="181" name="Google Shape;181;p25"/>
          <p:cNvSpPr txBox="1"/>
          <p:nvPr/>
        </p:nvSpPr>
        <p:spPr>
          <a:xfrm>
            <a:off x="4732020" y="1200150"/>
            <a:ext cx="3977640"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BENCHMARKS: AVERAGE PAGES PER DOCUMENT</a:t>
            </a:r>
            <a:endParaRPr b="0" i="0" spc="0" sz="900" u="none" cap="none" strike="noStrike">
              <a:solidFill>
                <a:schemeClr val="dk1"/>
              </a:solidFill>
              <a:latin typeface="Calibri"/>
              <a:ea typeface="Calibri"/>
              <a:cs typeface="Calibri"/>
              <a:sym typeface="Calibri"/>
            </a:endParaRPr>
          </a:p>
        </p:txBody>
      </p:sp>
      <p:sp>
        <p:nvSpPr>
          <p:cNvPr id="182" name="Google Shape;182;p25"/>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pic>
        <p:nvPicPr>
          <p:cNvPr id="183" name="Google Shape;183;p25"/>
          <p:cNvPicPr preferRelativeResize="0"/>
          <p:nvPr/>
        </p:nvPicPr>
        <p:blipFill rotWithShape="1">
          <a:blip r:embed="rId3">
            <a:alphaModFix/>
          </a:blip>
          <a:srcRect b="0" l="0" r="0" t="0"/>
          <a:stretch/>
        </p:blipFill>
        <p:spPr>
          <a:xfrm>
            <a:off x="4732027" y="1474473"/>
            <a:ext cx="3411526" cy="26054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6"/>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Locating Failure in</a:t>
            </a:r>
            <a:r>
              <a:rPr lang="en-GB"/>
              <a:t> Multi-Page Visually Rich Document Understanding: An Empirical Attribution</a:t>
            </a:r>
            <a:endParaRPr/>
          </a:p>
        </p:txBody>
      </p:sp>
      <p:sp>
        <p:nvSpPr>
          <p:cNvPr id="190" name="Google Shape;190;p26"/>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3 · Empirical study</a:t>
            </a:r>
            <a:endParaRPr b="0" i="0" spc="0" sz="900" u="none" cap="none" strike="noStrike">
              <a:solidFill>
                <a:schemeClr val="dk1"/>
              </a:solidFill>
              <a:latin typeface="Calibri"/>
              <a:ea typeface="Calibri"/>
              <a:cs typeface="Calibri"/>
              <a:sym typeface="Calibri"/>
            </a:endParaRPr>
          </a:p>
        </p:txBody>
      </p:sp>
      <p:sp>
        <p:nvSpPr>
          <p:cNvPr id="191" name="Google Shape;191;p26"/>
          <p:cNvSpPr txBox="1"/>
          <p:nvPr/>
        </p:nvSpPr>
        <p:spPr>
          <a:xfrm>
            <a:off x="411480" y="1131570"/>
            <a:ext cx="3840480"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RESEARCH GAP</a:t>
            </a:r>
            <a:endParaRPr b="0" i="0" spc="0" sz="900" u="none" cap="none" strike="noStrike">
              <a:solidFill>
                <a:schemeClr val="dk1"/>
              </a:solidFill>
              <a:latin typeface="Calibri"/>
              <a:ea typeface="Calibri"/>
              <a:cs typeface="Calibri"/>
              <a:sym typeface="Calibri"/>
            </a:endParaRPr>
          </a:p>
        </p:txBody>
      </p:sp>
      <p:sp>
        <p:nvSpPr>
          <p:cNvPr id="192" name="Google Shape;192;p26"/>
          <p:cNvSpPr txBox="1"/>
          <p:nvPr/>
        </p:nvSpPr>
        <p:spPr>
          <a:xfrm>
            <a:off x="411475" y="1371600"/>
            <a:ext cx="3840600" cy="89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lang="en-GB">
                <a:solidFill>
                  <a:srgbClr val="1B1F2A"/>
                </a:solidFill>
                <a:latin typeface="Calibri"/>
                <a:ea typeface="Calibri"/>
                <a:cs typeface="Calibri"/>
                <a:sym typeface="Calibri"/>
              </a:rPr>
              <a:t>Prior diagnostic studies are rarely applied to the </a:t>
            </a:r>
            <a:r>
              <a:rPr b="1" lang="en-GB">
                <a:solidFill>
                  <a:srgbClr val="27348B"/>
                </a:solidFill>
                <a:latin typeface="Calibri"/>
                <a:ea typeface="Calibri"/>
                <a:cs typeface="Calibri"/>
                <a:sym typeface="Calibri"/>
              </a:rPr>
              <a:t>document understanding domain</a:t>
            </a:r>
            <a:endParaRPr b="1">
              <a:solidFill>
                <a:srgbClr val="27348B"/>
              </a:solidFill>
              <a:latin typeface="Calibri"/>
              <a:ea typeface="Calibri"/>
              <a:cs typeface="Calibri"/>
              <a:sym typeface="Calibri"/>
            </a:endParaRPr>
          </a:p>
          <a:p>
            <a:pPr indent="0" lvl="0" marL="0" marR="0" rtl="0" algn="l">
              <a:lnSpc>
                <a:spcPct val="100000"/>
              </a:lnSpc>
              <a:spcBef>
                <a:spcPts val="0"/>
              </a:spcBef>
              <a:spcAft>
                <a:spcPts val="0"/>
              </a:spcAft>
              <a:buClr>
                <a:srgbClr val="1B1F2A"/>
              </a:buClr>
              <a:buSzPts val="1400"/>
              <a:buFont typeface="Calibri"/>
              <a:buNone/>
            </a:pPr>
            <a:r>
              <a:rPr lang="en-GB">
                <a:latin typeface="Calibri"/>
                <a:ea typeface="Calibri"/>
                <a:cs typeface="Calibri"/>
                <a:sym typeface="Calibri"/>
              </a:rPr>
              <a:t>Method papers chase higher performance rather than informing</a:t>
            </a:r>
            <a:r>
              <a:rPr lang="en-GB">
                <a:solidFill>
                  <a:srgbClr val="27348B"/>
                </a:solidFill>
                <a:latin typeface="Calibri"/>
                <a:ea typeface="Calibri"/>
                <a:cs typeface="Calibri"/>
                <a:sym typeface="Calibri"/>
              </a:rPr>
              <a:t> </a:t>
            </a:r>
            <a:r>
              <a:rPr b="1" lang="en-GB">
                <a:solidFill>
                  <a:srgbClr val="27348B"/>
                </a:solidFill>
                <a:latin typeface="Calibri"/>
                <a:ea typeface="Calibri"/>
                <a:cs typeface="Calibri"/>
                <a:sym typeface="Calibri"/>
              </a:rPr>
              <a:t>design and deployment decision</a:t>
            </a:r>
            <a:endParaRPr b="1">
              <a:solidFill>
                <a:srgbClr val="27348B"/>
              </a:solidFill>
              <a:latin typeface="Calibri"/>
              <a:ea typeface="Calibri"/>
              <a:cs typeface="Calibri"/>
              <a:sym typeface="Calibri"/>
            </a:endParaRPr>
          </a:p>
        </p:txBody>
      </p:sp>
      <p:sp>
        <p:nvSpPr>
          <p:cNvPr id="193" name="Google Shape;193;p26"/>
          <p:cNvSpPr txBox="1"/>
          <p:nvPr/>
        </p:nvSpPr>
        <p:spPr>
          <a:xfrm>
            <a:off x="4594860" y="1131570"/>
            <a:ext cx="4114800"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CONTRIBUTIONS</a:t>
            </a:r>
            <a:endParaRPr b="0" i="0" spc="0" sz="900" u="none" cap="none" strike="noStrike">
              <a:solidFill>
                <a:schemeClr val="dk1"/>
              </a:solidFill>
              <a:latin typeface="Calibri"/>
              <a:ea typeface="Calibri"/>
              <a:cs typeface="Calibri"/>
              <a:sym typeface="Calibri"/>
            </a:endParaRPr>
          </a:p>
        </p:txBody>
      </p:sp>
      <p:sp>
        <p:nvSpPr>
          <p:cNvPr id="194" name="Google Shape;194;p26"/>
          <p:cNvSpPr txBox="1"/>
          <p:nvPr/>
        </p:nvSpPr>
        <p:spPr>
          <a:xfrm>
            <a:off x="4594860" y="1371600"/>
            <a:ext cx="4114800" cy="8915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300"/>
              <a:buFont typeface="Calibri"/>
              <a:buNone/>
            </a:pPr>
            <a:r>
              <a:rPr b="0" i="0" lang="en-GB" spc="0" sz="1300" u="none" cap="none" strike="noStrike">
                <a:solidFill>
                  <a:srgbClr val="1B1F2A"/>
                </a:solidFill>
                <a:latin typeface="Calibri"/>
                <a:ea typeface="Calibri"/>
                <a:cs typeface="Calibri"/>
                <a:sym typeface="Calibri"/>
              </a:rPr>
              <a:t>Three </a:t>
            </a:r>
            <a:r>
              <a:rPr b="1" i="0" lang="en-GB" spc="0" sz="1300" u="none" cap="none" strike="noStrike">
                <a:solidFill>
                  <a:srgbClr val="27348B"/>
                </a:solidFill>
                <a:latin typeface="Calibri"/>
                <a:ea typeface="Calibri"/>
                <a:cs typeface="Calibri"/>
                <a:sym typeface="Calibri"/>
              </a:rPr>
              <a:t>architecture-independent</a:t>
            </a:r>
            <a:r>
              <a:rPr b="0" i="0" lang="en-GB" spc="0" sz="1300" u="none" cap="none" strike="noStrike">
                <a:solidFill>
                  <a:srgbClr val="1B1F2A"/>
                </a:solidFill>
                <a:latin typeface="Calibri"/>
                <a:ea typeface="Calibri"/>
                <a:cs typeface="Calibri"/>
                <a:sym typeface="Calibri"/>
              </a:rPr>
              <a:t> failure loci</a:t>
            </a:r>
            <a:endParaRPr b="0" i="0" spc="0" sz="1300" u="none" cap="none" strike="noStrike">
              <a:solidFill>
                <a:schemeClr val="dk1"/>
              </a:solidFill>
              <a:latin typeface="Calibri"/>
              <a:ea typeface="Calibri"/>
              <a:cs typeface="Calibri"/>
              <a:sym typeface="Calibri"/>
            </a:endParaRPr>
          </a:p>
          <a:p>
            <a:pPr indent="-177800" lvl="0" marL="177800" marR="0" rtl="0" algn="l">
              <a:lnSpc>
                <a:spcPct val="100000"/>
              </a:lnSpc>
              <a:spcBef>
                <a:spcPts val="300"/>
              </a:spcBef>
              <a:spcAft>
                <a:spcPts val="0"/>
              </a:spcAft>
              <a:buClr>
                <a:srgbClr val="1B1F2A"/>
              </a:buClr>
              <a:buSzPts val="1300"/>
              <a:buFont typeface="Calibri"/>
              <a:buChar char="•"/>
            </a:pPr>
            <a:r>
              <a:rPr b="0" i="0" lang="en-GB" spc="0" sz="1300" u="none" cap="none" strike="noStrike">
                <a:solidFill>
                  <a:srgbClr val="1B1F2A"/>
                </a:solidFill>
                <a:latin typeface="Calibri"/>
                <a:ea typeface="Calibri"/>
                <a:cs typeface="Calibri"/>
                <a:sym typeface="Calibri"/>
              </a:rPr>
              <a:t>Controlled </a:t>
            </a:r>
            <a:r>
              <a:rPr lang="en-GB" sz="1300">
                <a:solidFill>
                  <a:srgbClr val="1B1F2A"/>
                </a:solidFill>
                <a:latin typeface="Calibri"/>
                <a:ea typeface="Calibri"/>
                <a:cs typeface="Calibri"/>
                <a:sym typeface="Calibri"/>
              </a:rPr>
              <a:t>empirical attribution</a:t>
            </a:r>
            <a:r>
              <a:rPr b="0" i="0" lang="en-GB" spc="0" sz="1300" u="none" cap="none" strike="noStrike">
                <a:solidFill>
                  <a:srgbClr val="1B1F2A"/>
                </a:solidFill>
                <a:latin typeface="Calibri"/>
                <a:ea typeface="Calibri"/>
                <a:cs typeface="Calibri"/>
                <a:sym typeface="Calibri"/>
              </a:rPr>
              <a:t>: 2 datasets × multiple model families</a:t>
            </a:r>
            <a:endParaRPr b="0" i="0" spc="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rgbClr val="1B1F2A"/>
              </a:buClr>
              <a:buSzPts val="1300"/>
              <a:buFont typeface="Calibri"/>
              <a:buNone/>
            </a:pPr>
            <a:r>
              <a:rPr b="0" i="0" lang="en-GB" spc="0" sz="1300" u="none" cap="none" strike="noStrike">
                <a:solidFill>
                  <a:srgbClr val="1B1F2A"/>
                </a:solidFill>
                <a:latin typeface="Calibri"/>
                <a:ea typeface="Calibri"/>
                <a:cs typeface="Calibri"/>
                <a:sym typeface="Calibri"/>
              </a:rPr>
              <a:t>Guidance for </a:t>
            </a:r>
            <a:r>
              <a:rPr b="1" i="0" lang="en-GB" spc="0" sz="1300" u="none" cap="none" strike="noStrike">
                <a:solidFill>
                  <a:srgbClr val="27348B"/>
                </a:solidFill>
                <a:latin typeface="Calibri"/>
                <a:ea typeface="Calibri"/>
                <a:cs typeface="Calibri"/>
                <a:sym typeface="Calibri"/>
              </a:rPr>
              <a:t>local deployment</a:t>
            </a:r>
            <a:endParaRPr b="0" i="0" spc="0" sz="1300" u="none" cap="none" strike="noStrike">
              <a:solidFill>
                <a:schemeClr val="dk1"/>
              </a:solidFill>
              <a:latin typeface="Calibri"/>
              <a:ea typeface="Calibri"/>
              <a:cs typeface="Calibri"/>
              <a:sym typeface="Calibri"/>
            </a:endParaRPr>
          </a:p>
        </p:txBody>
      </p:sp>
      <p:sp>
        <p:nvSpPr>
          <p:cNvPr id="195" name="Google Shape;195;p26"/>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196" name="Google Shape;196;p26"/>
          <p:cNvSpPr txBox="1"/>
          <p:nvPr/>
        </p:nvSpPr>
        <p:spPr>
          <a:xfrm>
            <a:off x="538380" y="2499679"/>
            <a:ext cx="8320800" cy="30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Under review. Failures at different stages produce the </a:t>
            </a:r>
            <a:r>
              <a:rPr b="1" i="0" lang="en-GB" spc="0" sz="1400" u="none" cap="none" strike="noStrike">
                <a:solidFill>
                  <a:srgbClr val="27348B"/>
                </a:solidFill>
                <a:latin typeface="Calibri"/>
                <a:ea typeface="Calibri"/>
                <a:cs typeface="Calibri"/>
                <a:sym typeface="Calibri"/>
              </a:rPr>
              <a:t>same wrong answer</a:t>
            </a:r>
            <a:r>
              <a:rPr b="0" i="0" lang="en-GB" spc="0" sz="1400" u="none" cap="none" strike="noStrike">
                <a:solidFill>
                  <a:srgbClr val="1B1F2A"/>
                </a:solidFill>
                <a:latin typeface="Calibri"/>
                <a:ea typeface="Calibri"/>
                <a:cs typeface="Calibri"/>
                <a:sym typeface="Calibri"/>
              </a:rPr>
              <a:t>.</a:t>
            </a:r>
            <a:endParaRPr b="0" i="0" spc="0" sz="14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7"/>
          <p:cNvSpPr txBox="1"/>
          <p:nvPr>
            <p:ph type="title"/>
          </p:nvPr>
        </p:nvSpPr>
        <p:spPr>
          <a:xfrm>
            <a:off x="411480" y="260604"/>
            <a:ext cx="6583800" cy="4251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GB"/>
              <a:t>Attribution Framework</a:t>
            </a:r>
            <a:endParaRPr/>
          </a:p>
        </p:txBody>
      </p:sp>
      <p:pic>
        <p:nvPicPr>
          <p:cNvPr descr="Attribution framework: three loci, six mechanisms" id="202" name="Google Shape;202;p27"/>
          <p:cNvPicPr preferRelativeResize="0"/>
          <p:nvPr/>
        </p:nvPicPr>
        <p:blipFill rotWithShape="1">
          <a:blip r:embed="rId3">
            <a:alphaModFix/>
          </a:blip>
          <a:srcRect b="0" l="0" r="0" t="0"/>
          <a:stretch/>
        </p:blipFill>
        <p:spPr>
          <a:xfrm>
            <a:off x="826659" y="1320335"/>
            <a:ext cx="7490703" cy="226314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Methodology: Attribution by Construction</a:t>
            </a:r>
            <a:endParaRPr sz="2300"/>
          </a:p>
        </p:txBody>
      </p:sp>
      <p:sp>
        <p:nvSpPr>
          <p:cNvPr id="209" name="Google Shape;209;p2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3 · Empirical study · Under review</a:t>
            </a:r>
            <a:endParaRPr b="0" i="0" spc="0" sz="900" u="none" cap="none" strike="noStrike">
              <a:solidFill>
                <a:schemeClr val="dk1"/>
              </a:solidFill>
              <a:latin typeface="Calibri"/>
              <a:ea typeface="Calibri"/>
              <a:cs typeface="Calibri"/>
              <a:sym typeface="Calibri"/>
            </a:endParaRPr>
          </a:p>
        </p:txBody>
      </p:sp>
      <p:sp>
        <p:nvSpPr>
          <p:cNvPr id="210" name="Google Shape;210;p28"/>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Change one stage</a:t>
            </a:r>
            <a:r>
              <a:rPr b="0" i="0" lang="en-GB" spc="0" sz="1400" u="none" cap="none" strike="noStrike">
                <a:solidFill>
                  <a:srgbClr val="1B1F2A"/>
                </a:solidFill>
                <a:latin typeface="Calibri"/>
                <a:ea typeface="Calibri"/>
                <a:cs typeface="Calibri"/>
                <a:sym typeface="Calibri"/>
              </a:rPr>
              <a:t>, hold the other two fixed.</a:t>
            </a:r>
            <a:endParaRPr b="0" i="0" spc="0" sz="1400" u="none" cap="none" strike="noStrike">
              <a:solidFill>
                <a:schemeClr val="dk1"/>
              </a:solidFill>
              <a:latin typeface="Calibri"/>
              <a:ea typeface="Calibri"/>
              <a:cs typeface="Calibri"/>
              <a:sym typeface="Calibri"/>
            </a:endParaRPr>
          </a:p>
        </p:txBody>
      </p:sp>
      <p:sp>
        <p:nvSpPr>
          <p:cNvPr id="211" name="Google Shape;211;p28"/>
          <p:cNvSpPr/>
          <p:nvPr/>
        </p:nvSpPr>
        <p:spPr>
          <a:xfrm>
            <a:off x="411480" y="1200150"/>
            <a:ext cx="2331720" cy="58293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2" name="Google Shape;212;p28"/>
          <p:cNvSpPr txBox="1"/>
          <p:nvPr/>
        </p:nvSpPr>
        <p:spPr>
          <a:xfrm>
            <a:off x="548640" y="1200150"/>
            <a:ext cx="2057400" cy="5829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1" i="0" lang="en-GB" spc="0" sz="1800" u="none" cap="none" strike="noStrike">
                <a:solidFill>
                  <a:schemeClr val="dk1"/>
                </a:solidFill>
                <a:latin typeface="Calibri"/>
                <a:ea typeface="Calibri"/>
                <a:cs typeface="Calibri"/>
                <a:sym typeface="Calibri"/>
              </a:rPr>
              <a:t>Encode</a:t>
            </a:r>
            <a:r>
              <a:rPr b="0" i="0" lang="en-GB" spc="0" sz="1100" u="none" cap="none" strike="noStrike">
                <a:solidFill>
                  <a:schemeClr val="dk1"/>
                </a:solidFill>
                <a:latin typeface="Calibri"/>
                <a:ea typeface="Calibri"/>
                <a:cs typeface="Calibri"/>
                <a:sym typeface="Calibri"/>
              </a:rPr>
              <a:t> </a:t>
            </a:r>
            <a:r>
              <a:rPr b="0" i="0" lang="en-GB" spc="0" sz="1100" u="none" cap="none" strike="noStrike">
                <a:solidFill>
                  <a:srgbClr val="5A6072"/>
                </a:solidFill>
                <a:latin typeface="Calibri"/>
                <a:ea typeface="Calibri"/>
                <a:cs typeface="Calibri"/>
                <a:sym typeface="Calibri"/>
              </a:rPr>
              <a:t>  Representation</a:t>
            </a:r>
            <a:endParaRPr b="0" i="0" spc="0" sz="1800" u="none" cap="none" strike="noStrike">
              <a:solidFill>
                <a:srgbClr val="5A6072"/>
              </a:solidFill>
              <a:latin typeface="Calibri"/>
              <a:ea typeface="Calibri"/>
              <a:cs typeface="Calibri"/>
              <a:sym typeface="Calibri"/>
            </a:endParaRPr>
          </a:p>
        </p:txBody>
      </p:sp>
      <p:sp>
        <p:nvSpPr>
          <p:cNvPr id="213" name="Google Shape;213;p28"/>
          <p:cNvSpPr txBox="1"/>
          <p:nvPr/>
        </p:nvSpPr>
        <p:spPr>
          <a:xfrm>
            <a:off x="548640" y="1885950"/>
            <a:ext cx="2057400" cy="6172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T · TL · TLV · V</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3 parsers · 3 resolutions</a:t>
            </a:r>
            <a:endParaRPr b="0" i="0" spc="0" sz="1400" u="none" cap="none" strike="noStrike">
              <a:solidFill>
                <a:schemeClr val="dk1"/>
              </a:solidFill>
              <a:latin typeface="Calibri"/>
              <a:ea typeface="Calibri"/>
              <a:cs typeface="Calibri"/>
              <a:sym typeface="Calibri"/>
            </a:endParaRPr>
          </a:p>
        </p:txBody>
      </p:sp>
      <p:sp>
        <p:nvSpPr>
          <p:cNvPr id="214" name="Google Shape;214;p28"/>
          <p:cNvSpPr/>
          <p:nvPr/>
        </p:nvSpPr>
        <p:spPr>
          <a:xfrm>
            <a:off x="2903163" y="1371600"/>
            <a:ext cx="342900" cy="240030"/>
          </a:xfrm>
          <a:prstGeom prst="rightArrow">
            <a:avLst>
              <a:gd fmla="val 50000" name="adj1"/>
              <a:gd fmla="val 50000" name="adj2"/>
            </a:avLst>
          </a:prstGeom>
          <a:solidFill>
            <a:srgbClr val="E1B650"/>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5" name="Google Shape;215;p28"/>
          <p:cNvSpPr/>
          <p:nvPr/>
        </p:nvSpPr>
        <p:spPr>
          <a:xfrm>
            <a:off x="3406026" y="1200150"/>
            <a:ext cx="2331720" cy="58293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6" name="Google Shape;216;p28"/>
          <p:cNvSpPr txBox="1"/>
          <p:nvPr/>
        </p:nvSpPr>
        <p:spPr>
          <a:xfrm>
            <a:off x="3543186" y="1200150"/>
            <a:ext cx="2057400" cy="5829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1" i="0" lang="en-GB" spc="0" sz="1800" u="none" cap="none" strike="noStrike">
                <a:solidFill>
                  <a:schemeClr val="dk1"/>
                </a:solidFill>
                <a:latin typeface="Calibri"/>
                <a:ea typeface="Calibri"/>
                <a:cs typeface="Calibri"/>
                <a:sym typeface="Calibri"/>
              </a:rPr>
              <a:t>Retrieve</a:t>
            </a:r>
            <a:r>
              <a:rPr b="0" i="0" lang="en-GB" spc="0" sz="1100" u="none" cap="none" strike="noStrike">
                <a:solidFill>
                  <a:schemeClr val="dk1"/>
                </a:solidFill>
                <a:latin typeface="Calibri"/>
                <a:ea typeface="Calibri"/>
                <a:cs typeface="Calibri"/>
                <a:sym typeface="Calibri"/>
              </a:rPr>
              <a:t> </a:t>
            </a:r>
            <a:r>
              <a:rPr b="0" i="0" lang="en-GB" spc="0" sz="1100" u="none" cap="none" strike="noStrike">
                <a:solidFill>
                  <a:srgbClr val="5A6072"/>
                </a:solidFill>
                <a:latin typeface="Calibri"/>
                <a:ea typeface="Calibri"/>
                <a:cs typeface="Calibri"/>
                <a:sym typeface="Calibri"/>
              </a:rPr>
              <a:t>  Selection</a:t>
            </a:r>
            <a:endParaRPr b="0" i="0" spc="0" sz="1800" u="none" cap="none" strike="noStrike">
              <a:solidFill>
                <a:srgbClr val="5A6072"/>
              </a:solidFill>
              <a:latin typeface="Calibri"/>
              <a:ea typeface="Calibri"/>
              <a:cs typeface="Calibri"/>
              <a:sym typeface="Calibri"/>
            </a:endParaRPr>
          </a:p>
        </p:txBody>
      </p:sp>
      <p:sp>
        <p:nvSpPr>
          <p:cNvPr id="217" name="Google Shape;217;p28"/>
          <p:cNvSpPr txBox="1"/>
          <p:nvPr/>
        </p:nvSpPr>
        <p:spPr>
          <a:xfrm>
            <a:off x="3543186" y="1885950"/>
            <a:ext cx="2057400" cy="6172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Gold pages, or</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drop one · add k distractors</a:t>
            </a:r>
            <a:endParaRPr b="0" i="0" spc="0" sz="1400" u="none" cap="none" strike="noStrike">
              <a:solidFill>
                <a:schemeClr val="dk1"/>
              </a:solidFill>
              <a:latin typeface="Calibri"/>
              <a:ea typeface="Calibri"/>
              <a:cs typeface="Calibri"/>
              <a:sym typeface="Calibri"/>
            </a:endParaRPr>
          </a:p>
        </p:txBody>
      </p:sp>
      <p:sp>
        <p:nvSpPr>
          <p:cNvPr id="218" name="Google Shape;218;p28"/>
          <p:cNvSpPr/>
          <p:nvPr/>
        </p:nvSpPr>
        <p:spPr>
          <a:xfrm>
            <a:off x="5897708" y="1371600"/>
            <a:ext cx="342900" cy="240030"/>
          </a:xfrm>
          <a:prstGeom prst="rightArrow">
            <a:avLst>
              <a:gd fmla="val 50000" name="adj1"/>
              <a:gd fmla="val 50000" name="adj2"/>
            </a:avLst>
          </a:prstGeom>
          <a:solidFill>
            <a:srgbClr val="E1B650"/>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9" name="Google Shape;219;p28"/>
          <p:cNvSpPr/>
          <p:nvPr/>
        </p:nvSpPr>
        <p:spPr>
          <a:xfrm>
            <a:off x="6400571" y="1200150"/>
            <a:ext cx="2331720" cy="58293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0" name="Google Shape;220;p28"/>
          <p:cNvSpPr txBox="1"/>
          <p:nvPr/>
        </p:nvSpPr>
        <p:spPr>
          <a:xfrm>
            <a:off x="6537731" y="1200150"/>
            <a:ext cx="2057400" cy="5829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1" i="0" lang="en-GB" spc="0" sz="1800" u="none" cap="none" strike="noStrike">
                <a:solidFill>
                  <a:schemeClr val="dk1"/>
                </a:solidFill>
                <a:latin typeface="Calibri"/>
                <a:ea typeface="Calibri"/>
                <a:cs typeface="Calibri"/>
                <a:sym typeface="Calibri"/>
              </a:rPr>
              <a:t>Answer</a:t>
            </a:r>
            <a:r>
              <a:rPr b="0" i="0" lang="en-GB" spc="0" sz="1100" u="none" cap="none" strike="noStrike">
                <a:solidFill>
                  <a:schemeClr val="dk1"/>
                </a:solidFill>
                <a:latin typeface="Calibri"/>
                <a:ea typeface="Calibri"/>
                <a:cs typeface="Calibri"/>
                <a:sym typeface="Calibri"/>
              </a:rPr>
              <a:t> </a:t>
            </a:r>
            <a:r>
              <a:rPr b="0" i="0" lang="en-GB" spc="0" sz="1100" u="none" cap="none" strike="noStrike">
                <a:solidFill>
                  <a:srgbClr val="5A6072"/>
                </a:solidFill>
                <a:latin typeface="Calibri"/>
                <a:ea typeface="Calibri"/>
                <a:cs typeface="Calibri"/>
                <a:sym typeface="Calibri"/>
              </a:rPr>
              <a:t>  Reasoning</a:t>
            </a:r>
            <a:endParaRPr b="0" i="0" spc="0" sz="1800" u="none" cap="none" strike="noStrike">
              <a:solidFill>
                <a:srgbClr val="5A6072"/>
              </a:solidFill>
              <a:latin typeface="Calibri"/>
              <a:ea typeface="Calibri"/>
              <a:cs typeface="Calibri"/>
              <a:sym typeface="Calibri"/>
            </a:endParaRPr>
          </a:p>
        </p:txBody>
      </p:sp>
      <p:sp>
        <p:nvSpPr>
          <p:cNvPr id="221" name="Google Shape;221;p28"/>
          <p:cNvSpPr txBox="1"/>
          <p:nvPr/>
        </p:nvSpPr>
        <p:spPr>
          <a:xfrm>
            <a:off x="6537731" y="1885950"/>
            <a:ext cx="20574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Qwen3-VL 2B → 32B</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4 prompt modes</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Self-consistency · Reflexion</a:t>
            </a:r>
            <a:endParaRPr b="0" i="0" spc="0" sz="1400" u="none" cap="none" strike="noStrike">
              <a:solidFill>
                <a:schemeClr val="dk1"/>
              </a:solidFill>
              <a:latin typeface="Calibri"/>
              <a:ea typeface="Calibri"/>
              <a:cs typeface="Calibri"/>
              <a:sym typeface="Calibri"/>
            </a:endParaRPr>
          </a:p>
        </p:txBody>
      </p:sp>
      <p:sp>
        <p:nvSpPr>
          <p:cNvPr id="222" name="Google Shape;222;p28"/>
          <p:cNvSpPr txBox="1"/>
          <p:nvPr/>
        </p:nvSpPr>
        <p:spPr>
          <a:xfrm>
            <a:off x="411480" y="2743200"/>
            <a:ext cx="8320811"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1000"/>
              <a:buFont typeface="Calibri"/>
              <a:buNone/>
            </a:pPr>
            <a:r>
              <a:rPr b="0" i="1" lang="en-GB" spc="0" sz="1200" u="none" cap="none" strike="noStrike">
                <a:solidFill>
                  <a:srgbClr val="5A6072"/>
                </a:solidFill>
                <a:latin typeface="Calibri"/>
                <a:ea typeface="Calibri"/>
                <a:cs typeface="Calibri"/>
                <a:sym typeface="Calibri"/>
              </a:rPr>
              <a:t>T embedded text · TL parser text · V page image · TLV parser text + image (default)</a:t>
            </a:r>
            <a:endParaRPr b="0" i="1" spc="0" sz="1200" u="none" cap="none" strike="noStrike">
              <a:solidFill>
                <a:schemeClr val="dk1"/>
              </a:solidFill>
              <a:latin typeface="Calibri"/>
              <a:ea typeface="Calibri"/>
              <a:cs typeface="Calibri"/>
              <a:sym typeface="Calibri"/>
            </a:endParaRPr>
          </a:p>
        </p:txBody>
      </p:sp>
      <p:sp>
        <p:nvSpPr>
          <p:cNvPr id="223" name="Google Shape;223;p28"/>
          <p:cNvSpPr txBox="1"/>
          <p:nvPr/>
        </p:nvSpPr>
        <p:spPr>
          <a:xfrm>
            <a:off x="411480" y="3120390"/>
            <a:ext cx="2545004"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DATA</a:t>
            </a:r>
            <a:endParaRPr b="0" i="0" spc="0" sz="900" u="none" cap="none" strike="noStrike">
              <a:solidFill>
                <a:schemeClr val="dk1"/>
              </a:solidFill>
              <a:latin typeface="Calibri"/>
              <a:ea typeface="Calibri"/>
              <a:cs typeface="Calibri"/>
              <a:sym typeface="Calibri"/>
            </a:endParaRPr>
          </a:p>
        </p:txBody>
      </p:sp>
      <p:sp>
        <p:nvSpPr>
          <p:cNvPr id="224" name="Google Shape;224;p28"/>
          <p:cNvSpPr txBox="1"/>
          <p:nvPr/>
        </p:nvSpPr>
        <p:spPr>
          <a:xfrm>
            <a:off x="411480" y="3360420"/>
            <a:ext cx="2545004"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300"/>
              <a:buFont typeface="Calibri"/>
              <a:buNone/>
            </a:pPr>
            <a:r>
              <a:rPr b="1" i="0" lang="en-GB" spc="0" sz="1300" u="none" cap="none" strike="noStrike">
                <a:solidFill>
                  <a:srgbClr val="27348B"/>
                </a:solidFill>
                <a:latin typeface="Calibri"/>
                <a:ea typeface="Calibri"/>
                <a:cs typeface="Calibri"/>
                <a:sym typeface="Calibri"/>
              </a:rPr>
              <a:t>MMLongBench-Doc</a:t>
            </a:r>
            <a:r>
              <a:rPr b="0" i="0" lang="en-GB" spc="0" sz="1300" u="none" cap="none" strike="noStrike">
                <a:solidFill>
                  <a:srgbClr val="1B1F2A"/>
                </a:solidFill>
                <a:latin typeface="Calibri"/>
                <a:ea typeface="Calibri"/>
                <a:cs typeface="Calibri"/>
                <a:sym typeface="Calibri"/>
              </a:rPr>
              <a:t>: 135 documents with evidence pages, sources, answerability. LongDocURL: 396 born-digital documents.</a:t>
            </a:r>
            <a:endParaRPr b="0" i="0" spc="0" sz="1300" u="none" cap="none" strike="noStrike">
              <a:solidFill>
                <a:schemeClr val="dk1"/>
              </a:solidFill>
              <a:latin typeface="Calibri"/>
              <a:ea typeface="Calibri"/>
              <a:cs typeface="Calibri"/>
              <a:sym typeface="Calibri"/>
            </a:endParaRPr>
          </a:p>
        </p:txBody>
      </p:sp>
      <p:sp>
        <p:nvSpPr>
          <p:cNvPr id="225" name="Google Shape;225;p28"/>
          <p:cNvSpPr txBox="1"/>
          <p:nvPr/>
        </p:nvSpPr>
        <p:spPr>
          <a:xfrm>
            <a:off x="3299384" y="3120390"/>
            <a:ext cx="2545003"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MODELS</a:t>
            </a:r>
            <a:endParaRPr b="0" i="0" spc="0" sz="900" u="none" cap="none" strike="noStrike">
              <a:solidFill>
                <a:schemeClr val="dk1"/>
              </a:solidFill>
              <a:latin typeface="Calibri"/>
              <a:ea typeface="Calibri"/>
              <a:cs typeface="Calibri"/>
              <a:sym typeface="Calibri"/>
            </a:endParaRPr>
          </a:p>
        </p:txBody>
      </p:sp>
      <p:sp>
        <p:nvSpPr>
          <p:cNvPr id="226" name="Google Shape;226;p28"/>
          <p:cNvSpPr txBox="1"/>
          <p:nvPr/>
        </p:nvSpPr>
        <p:spPr>
          <a:xfrm>
            <a:off x="3299384" y="3360420"/>
            <a:ext cx="2545003"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300"/>
              <a:buFont typeface="Calibri"/>
              <a:buNone/>
            </a:pPr>
            <a:r>
              <a:rPr b="0" i="0" lang="en-GB" spc="0" sz="1300" u="none" cap="none" strike="noStrike">
                <a:solidFill>
                  <a:srgbClr val="1B1F2A"/>
                </a:solidFill>
                <a:latin typeface="Calibri"/>
                <a:ea typeface="Calibri"/>
                <a:cs typeface="Calibri"/>
                <a:sym typeface="Calibri"/>
              </a:rPr>
              <a:t>Qwen3-VL (Alibaba) and </a:t>
            </a:r>
            <a:r>
              <a:rPr b="1" i="0" lang="en-GB" spc="0" sz="1300" u="none" cap="none" strike="noStrike">
                <a:solidFill>
                  <a:srgbClr val="27348B"/>
                </a:solidFill>
                <a:latin typeface="Calibri"/>
                <a:ea typeface="Calibri"/>
                <a:cs typeface="Calibri"/>
                <a:sym typeface="Calibri"/>
              </a:rPr>
              <a:t>Gemma-3</a:t>
            </a:r>
            <a:r>
              <a:rPr b="0" i="0" lang="en-GB" spc="0" sz="1300" u="none" cap="none" strike="noStrike">
                <a:solidFill>
                  <a:srgbClr val="1B1F2A"/>
                </a:solidFill>
                <a:latin typeface="Calibri"/>
                <a:ea typeface="Calibri"/>
                <a:cs typeface="Calibri"/>
                <a:sym typeface="Calibri"/>
              </a:rPr>
              <a:t> (Google), developed independently</a:t>
            </a:r>
            <a:endParaRPr b="0" i="0" spc="0" sz="1300" u="none" cap="none" strike="noStrike">
              <a:solidFill>
                <a:schemeClr val="dk1"/>
              </a:solidFill>
              <a:latin typeface="Calibri"/>
              <a:ea typeface="Calibri"/>
              <a:cs typeface="Calibri"/>
              <a:sym typeface="Calibri"/>
            </a:endParaRPr>
          </a:p>
        </p:txBody>
      </p:sp>
      <p:sp>
        <p:nvSpPr>
          <p:cNvPr id="227" name="Google Shape;227;p28"/>
          <p:cNvSpPr txBox="1"/>
          <p:nvPr/>
        </p:nvSpPr>
        <p:spPr>
          <a:xfrm>
            <a:off x="6187288" y="3120390"/>
            <a:ext cx="2545004"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EVALUATION</a:t>
            </a:r>
            <a:endParaRPr b="0" i="0" spc="0" sz="900" u="none" cap="none" strike="noStrike">
              <a:solidFill>
                <a:schemeClr val="dk1"/>
              </a:solidFill>
              <a:latin typeface="Calibri"/>
              <a:ea typeface="Calibri"/>
              <a:cs typeface="Calibri"/>
              <a:sym typeface="Calibri"/>
            </a:endParaRPr>
          </a:p>
        </p:txBody>
      </p:sp>
      <p:sp>
        <p:nvSpPr>
          <p:cNvPr id="228" name="Google Shape;228;p28"/>
          <p:cNvSpPr txBox="1"/>
          <p:nvPr/>
        </p:nvSpPr>
        <p:spPr>
          <a:xfrm>
            <a:off x="6187288" y="3360420"/>
            <a:ext cx="2545004"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300"/>
              <a:buFont typeface="Calibri"/>
              <a:buNone/>
            </a:pPr>
            <a:r>
              <a:rPr b="0" i="0" lang="en-GB" spc="0" sz="1300" u="none" cap="none" strike="noStrike">
                <a:solidFill>
                  <a:srgbClr val="1B1F2A"/>
                </a:solidFill>
                <a:latin typeface="Calibri"/>
                <a:ea typeface="Calibri"/>
                <a:cs typeface="Calibri"/>
                <a:sym typeface="Calibri"/>
              </a:rPr>
              <a:t>Gemini-2.5-Flash judge: </a:t>
            </a:r>
            <a:r>
              <a:rPr b="1" i="0" lang="en-GB" spc="0" sz="1300" u="none" cap="none" strike="noStrike">
                <a:solidFill>
                  <a:srgbClr val="27348B"/>
                </a:solidFill>
                <a:latin typeface="Calibri"/>
                <a:ea typeface="Calibri"/>
                <a:cs typeface="Calibri"/>
                <a:sym typeface="Calibri"/>
              </a:rPr>
              <a:t>98.3%</a:t>
            </a:r>
            <a:r>
              <a:rPr b="0" i="0" lang="en-GB" spc="0" sz="1300" u="none" cap="none" strike="noStrike">
                <a:solidFill>
                  <a:srgbClr val="1B1F2A"/>
                </a:solidFill>
                <a:latin typeface="Calibri"/>
                <a:ea typeface="Calibri"/>
                <a:cs typeface="Calibri"/>
                <a:sym typeface="Calibri"/>
              </a:rPr>
              <a:t> agreement with a human annotator</a:t>
            </a:r>
            <a:endParaRPr b="0" i="0" spc="0" sz="1300" u="none" cap="none" strike="noStrike">
              <a:solidFill>
                <a:schemeClr val="dk1"/>
              </a:solidFill>
              <a:latin typeface="Calibri"/>
              <a:ea typeface="Calibri"/>
              <a:cs typeface="Calibri"/>
              <a:sym typeface="Calibri"/>
            </a:endParaRPr>
          </a:p>
        </p:txBody>
      </p:sp>
      <p:sp>
        <p:nvSpPr>
          <p:cNvPr id="229" name="Google Shape;229;p2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9"/>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Finding 1 · Representation</a:t>
            </a:r>
            <a:endParaRPr sz="2300"/>
          </a:p>
        </p:txBody>
      </p:sp>
      <p:sp>
        <p:nvSpPr>
          <p:cNvPr id="236" name="Google Shape;236;p29"/>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3 · Empirical study · Under review</a:t>
            </a:r>
            <a:endParaRPr b="0" i="0" spc="0" sz="900" u="none" cap="none" strike="noStrike">
              <a:solidFill>
                <a:schemeClr val="dk1"/>
              </a:solidFill>
              <a:latin typeface="Calibri"/>
              <a:ea typeface="Calibri"/>
              <a:cs typeface="Calibri"/>
              <a:sym typeface="Calibri"/>
            </a:endParaRPr>
          </a:p>
        </p:txBody>
      </p:sp>
      <p:sp>
        <p:nvSpPr>
          <p:cNvPr id="237" name="Google Shape;237;p29"/>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Text and vision are complementary</a:t>
            </a:r>
            <a:r>
              <a:rPr b="0" i="0" lang="en-GB" spc="0" sz="1400" u="none" cap="none" strike="noStrike">
                <a:solidFill>
                  <a:srgbClr val="1B1F2A"/>
                </a:solidFill>
                <a:latin typeface="Calibri"/>
                <a:ea typeface="Calibri"/>
                <a:cs typeface="Calibri"/>
                <a:sym typeface="Calibri"/>
              </a:rPr>
              <a:t>: neither alone is enough.</a:t>
            </a:r>
            <a:endParaRPr b="0" i="0" spc="0" sz="1400" u="none" cap="none" strike="noStrike">
              <a:solidFill>
                <a:schemeClr val="dk1"/>
              </a:solidFill>
              <a:latin typeface="Calibri"/>
              <a:ea typeface="Calibri"/>
              <a:cs typeface="Calibri"/>
              <a:sym typeface="Calibri"/>
            </a:endParaRPr>
          </a:p>
        </p:txBody>
      </p:sp>
      <p:sp>
        <p:nvSpPr>
          <p:cNvPr id="238" name="Google Shape;238;p29"/>
          <p:cNvSpPr txBox="1"/>
          <p:nvPr/>
        </p:nvSpPr>
        <p:spPr>
          <a:xfrm>
            <a:off x="411480" y="4306824"/>
            <a:ext cx="3747416"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T embedded text · TL parser text · TLV parser text + image · V page image</a:t>
            </a:r>
            <a:endParaRPr b="0" i="0" spc="0" sz="900" u="none" cap="none" strike="noStrike">
              <a:solidFill>
                <a:schemeClr val="dk1"/>
              </a:solidFill>
              <a:latin typeface="Calibri"/>
              <a:ea typeface="Calibri"/>
              <a:cs typeface="Calibri"/>
              <a:sym typeface="Calibri"/>
            </a:endParaRPr>
          </a:p>
        </p:txBody>
      </p:sp>
      <p:sp>
        <p:nvSpPr>
          <p:cNvPr id="239" name="Google Shape;239;p29"/>
          <p:cNvSpPr txBox="1"/>
          <p:nvPr/>
        </p:nvSpPr>
        <p:spPr>
          <a:xfrm>
            <a:off x="4572000" y="3694176"/>
            <a:ext cx="4160520" cy="2103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Qwen3-VL-8B on MMLongBench-Doc, 847 answerable questions, gold pages</a:t>
            </a:r>
            <a:endParaRPr b="0" i="0" spc="0" sz="900" u="none" cap="none" strike="noStrike">
              <a:solidFill>
                <a:schemeClr val="dk1"/>
              </a:solidFill>
              <a:latin typeface="Calibri"/>
              <a:ea typeface="Calibri"/>
              <a:cs typeface="Calibri"/>
              <a:sym typeface="Calibri"/>
            </a:endParaRPr>
          </a:p>
        </p:txBody>
      </p:sp>
      <p:sp>
        <p:nvSpPr>
          <p:cNvPr id="240" name="Google Shape;240;p29"/>
          <p:cNvSpPr txBox="1"/>
          <p:nvPr/>
        </p:nvSpPr>
        <p:spPr>
          <a:xfrm>
            <a:off x="4572000" y="4014215"/>
            <a:ext cx="4160520" cy="6217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300"/>
              <a:buFont typeface="Calibri"/>
              <a:buNone/>
            </a:pPr>
            <a:r>
              <a:rPr b="0" i="0" lang="en-GB" spc="0" sz="1300" u="none" cap="none" strike="noStrike">
                <a:solidFill>
                  <a:srgbClr val="1B1F2A"/>
                </a:solidFill>
                <a:latin typeface="Calibri"/>
                <a:ea typeface="Calibri"/>
                <a:cs typeface="Calibri"/>
                <a:sym typeface="Calibri"/>
              </a:rPr>
              <a:t>Text 38.4%, low-res image 37.8%, </a:t>
            </a:r>
            <a:r>
              <a:rPr b="1" i="0" lang="en-GB" spc="0" sz="1300" u="none" cap="none" strike="noStrike">
                <a:solidFill>
                  <a:srgbClr val="1B1F2A"/>
                </a:solidFill>
                <a:latin typeface="Calibri"/>
                <a:ea typeface="Calibri"/>
                <a:cs typeface="Calibri"/>
                <a:sym typeface="Calibri"/>
              </a:rPr>
              <a:t>together 49.2%</a:t>
            </a:r>
            <a:endParaRPr b="0" i="0" spc="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rgbClr val="1B1F2A"/>
              </a:buClr>
              <a:buSzPts val="1300"/>
              <a:buFont typeface="Calibri"/>
              <a:buNone/>
            </a:pPr>
            <a:r>
              <a:rPr b="0" i="0" lang="en-GB" spc="0" sz="1300" u="none" cap="none" strike="noStrike">
                <a:solidFill>
                  <a:srgbClr val="1B1F2A"/>
                </a:solidFill>
                <a:latin typeface="Calibri"/>
                <a:ea typeface="Calibri"/>
                <a:cs typeface="Calibri"/>
                <a:sym typeface="Calibri"/>
              </a:rPr>
              <a:t>Parser spread: </a:t>
            </a:r>
            <a:r>
              <a:rPr b="1" i="0" lang="en-GB" spc="0" sz="1300" u="none" cap="none" strike="noStrike">
                <a:solidFill>
                  <a:srgbClr val="1B1F2A"/>
                </a:solidFill>
                <a:latin typeface="Calibri"/>
                <a:ea typeface="Calibri"/>
                <a:cs typeface="Calibri"/>
                <a:sym typeface="Calibri"/>
              </a:rPr>
              <a:t>13.6 → 5.1 pts</a:t>
            </a:r>
            <a:r>
              <a:rPr b="0" i="0" lang="en-GB" spc="0" sz="1300" u="none" cap="none" strike="noStrike">
                <a:solidFill>
                  <a:srgbClr val="1B1F2A"/>
                </a:solidFill>
                <a:latin typeface="Calibri"/>
                <a:ea typeface="Calibri"/>
                <a:cs typeface="Calibri"/>
                <a:sym typeface="Calibri"/>
              </a:rPr>
              <a:t> once the image is added</a:t>
            </a:r>
            <a:endParaRPr b="0" i="0" spc="0" sz="1300" u="none" cap="none" strike="noStrike">
              <a:solidFill>
                <a:schemeClr val="dk1"/>
              </a:solidFill>
              <a:latin typeface="Calibri"/>
              <a:ea typeface="Calibri"/>
              <a:cs typeface="Calibri"/>
              <a:sym typeface="Calibri"/>
            </a:endParaRPr>
          </a:p>
        </p:txBody>
      </p:sp>
      <p:sp>
        <p:nvSpPr>
          <p:cNvPr id="241" name="Google Shape;241;p29"/>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pic>
        <p:nvPicPr>
          <p:cNvPr descr="rung_table.png" id="242" name="Google Shape;242;p29"/>
          <p:cNvPicPr preferRelativeResize="0"/>
          <p:nvPr/>
        </p:nvPicPr>
        <p:blipFill rotWithShape="1">
          <a:blip r:embed="rId3">
            <a:alphaModFix/>
          </a:blip>
          <a:srcRect b="0" l="0" r="0" t="0"/>
          <a:stretch/>
        </p:blipFill>
        <p:spPr>
          <a:xfrm>
            <a:off x="411480" y="1133856"/>
            <a:ext cx="3749039" cy="3118104"/>
          </a:xfrm>
          <a:prstGeom prst="rect">
            <a:avLst/>
          </a:prstGeom>
          <a:noFill/>
          <a:ln>
            <a:noFill/>
          </a:ln>
        </p:spPr>
      </p:pic>
      <p:pic>
        <p:nvPicPr>
          <p:cNvPr descr="complement.png" id="243" name="Google Shape;243;p29"/>
          <p:cNvPicPr preferRelativeResize="0"/>
          <p:nvPr/>
        </p:nvPicPr>
        <p:blipFill rotWithShape="1">
          <a:blip r:embed="rId4">
            <a:alphaModFix/>
          </a:blip>
          <a:srcRect b="0" l="0" r="0" t="0"/>
          <a:stretch/>
        </p:blipFill>
        <p:spPr>
          <a:xfrm>
            <a:off x="4572000" y="1133856"/>
            <a:ext cx="4160520" cy="2514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0"/>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Finding 2 · Selection</a:t>
            </a:r>
            <a:endParaRPr sz="2300"/>
          </a:p>
        </p:txBody>
      </p:sp>
      <p:sp>
        <p:nvSpPr>
          <p:cNvPr id="250" name="Google Shape;250;p30"/>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3 · Empirical study · Under review</a:t>
            </a:r>
            <a:endParaRPr b="0" i="0" spc="0" sz="900" u="none" cap="none" strike="noStrike">
              <a:solidFill>
                <a:schemeClr val="dk1"/>
              </a:solidFill>
              <a:latin typeface="Calibri"/>
              <a:ea typeface="Calibri"/>
              <a:cs typeface="Calibri"/>
              <a:sym typeface="Calibri"/>
            </a:endParaRPr>
          </a:p>
        </p:txBody>
      </p:sp>
      <p:sp>
        <p:nvSpPr>
          <p:cNvPr id="251" name="Google Shape;251;p30"/>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Select evidence </a:t>
            </a:r>
            <a:r>
              <a:rPr b="1" i="0" lang="en-GB" spc="0" sz="1400" u="none" cap="none" strike="noStrike">
                <a:solidFill>
                  <a:srgbClr val="27348B"/>
                </a:solidFill>
                <a:latin typeface="Calibri"/>
                <a:ea typeface="Calibri"/>
                <a:cs typeface="Calibri"/>
                <a:sym typeface="Calibri"/>
              </a:rPr>
              <a:t>as a set</a:t>
            </a:r>
            <a:r>
              <a:rPr b="0" i="0" lang="en-GB" spc="0" sz="1400" u="none" cap="none" strike="noStrike">
                <a:solidFill>
                  <a:srgbClr val="1B1F2A"/>
                </a:solidFill>
                <a:latin typeface="Calibri"/>
                <a:ea typeface="Calibri"/>
                <a:cs typeface="Calibri"/>
                <a:sym typeface="Calibri"/>
              </a:rPr>
              <a:t>, not page by page.</a:t>
            </a:r>
            <a:endParaRPr b="0" i="0" spc="0" sz="1400" u="none" cap="none" strike="noStrike">
              <a:solidFill>
                <a:schemeClr val="dk1"/>
              </a:solidFill>
              <a:latin typeface="Calibri"/>
              <a:ea typeface="Calibri"/>
              <a:cs typeface="Calibri"/>
              <a:sym typeface="Calibri"/>
            </a:endParaRPr>
          </a:p>
        </p:txBody>
      </p:sp>
      <p:pic>
        <p:nvPicPr>
          <p:cNvPr descr="Evidence coverage" id="252" name="Google Shape;252;p30"/>
          <p:cNvPicPr preferRelativeResize="0"/>
          <p:nvPr/>
        </p:nvPicPr>
        <p:blipFill rotWithShape="1">
          <a:blip r:embed="rId3">
            <a:alphaModFix/>
          </a:blip>
          <a:srcRect b="0" l="0" r="0" t="0"/>
          <a:stretch/>
        </p:blipFill>
        <p:spPr>
          <a:xfrm>
            <a:off x="411480" y="1143000"/>
            <a:ext cx="3017520" cy="1486647"/>
          </a:xfrm>
          <a:prstGeom prst="rect">
            <a:avLst/>
          </a:prstGeom>
          <a:noFill/>
          <a:ln>
            <a:noFill/>
          </a:ln>
        </p:spPr>
      </p:pic>
      <p:sp>
        <p:nvSpPr>
          <p:cNvPr id="253" name="Google Shape;253;p30"/>
          <p:cNvSpPr txBox="1"/>
          <p:nvPr/>
        </p:nvSpPr>
        <p:spPr>
          <a:xfrm>
            <a:off x="411480" y="2670048"/>
            <a:ext cx="4206240" cy="2103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Evidence coverage: removing one gold page</a:t>
            </a:r>
            <a:endParaRPr b="0" i="0" spc="0" sz="900" u="none" cap="none" strike="noStrike">
              <a:solidFill>
                <a:schemeClr val="dk1"/>
              </a:solidFill>
              <a:latin typeface="Calibri"/>
              <a:ea typeface="Calibri"/>
              <a:cs typeface="Calibri"/>
              <a:sym typeface="Calibri"/>
            </a:endParaRPr>
          </a:p>
        </p:txBody>
      </p:sp>
      <p:sp>
        <p:nvSpPr>
          <p:cNvPr id="254" name="Google Shape;254;p30"/>
          <p:cNvSpPr txBox="1"/>
          <p:nvPr/>
        </p:nvSpPr>
        <p:spPr>
          <a:xfrm>
            <a:off x="411480" y="3511296"/>
            <a:ext cx="4206240" cy="2103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Distractor exposure: flips against the gold-pages answer (Qwen3-VL-8B)</a:t>
            </a:r>
            <a:endParaRPr b="0" i="0" spc="0" sz="900" u="none" cap="none" strike="noStrike">
              <a:solidFill>
                <a:schemeClr val="dk1"/>
              </a:solidFill>
              <a:latin typeface="Calibri"/>
              <a:ea typeface="Calibri"/>
              <a:cs typeface="Calibri"/>
              <a:sym typeface="Calibri"/>
            </a:endParaRPr>
          </a:p>
        </p:txBody>
      </p:sp>
      <p:sp>
        <p:nvSpPr>
          <p:cNvPr id="255" name="Google Shape;255;p30"/>
          <p:cNvSpPr txBox="1"/>
          <p:nvPr/>
        </p:nvSpPr>
        <p:spPr>
          <a:xfrm>
            <a:off x="411480" y="2862072"/>
            <a:ext cx="420624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300"/>
              <a:buFont typeface="Calibri"/>
              <a:buNone/>
            </a:pPr>
            <a:r>
              <a:rPr b="0" i="0" lang="en-GB" spc="0" sz="1300" u="none" cap="none" strike="noStrike">
                <a:solidFill>
                  <a:srgbClr val="1B1F2A"/>
                </a:solidFill>
                <a:latin typeface="Calibri"/>
                <a:ea typeface="Calibri"/>
                <a:cs typeface="Calibri"/>
                <a:sym typeface="Calibri"/>
              </a:rPr>
              <a:t>All gold pages </a:t>
            </a:r>
            <a:r>
              <a:rPr b="1" i="0" lang="en-GB" spc="0" sz="1300" u="none" cap="none" strike="noStrike">
                <a:solidFill>
                  <a:srgbClr val="1B1F2A"/>
                </a:solidFill>
                <a:latin typeface="Calibri"/>
                <a:ea typeface="Calibri"/>
                <a:cs typeface="Calibri"/>
                <a:sym typeface="Calibri"/>
              </a:rPr>
              <a:t>38.6%</a:t>
            </a:r>
            <a:r>
              <a:rPr b="0" i="0" lang="en-GB" spc="0" sz="1300" u="none" cap="none" strike="noStrike">
                <a:solidFill>
                  <a:srgbClr val="1B1F2A"/>
                </a:solidFill>
                <a:latin typeface="Calibri"/>
                <a:ea typeface="Calibri"/>
                <a:cs typeface="Calibri"/>
                <a:sym typeface="Calibri"/>
              </a:rPr>
              <a:t> → drop one </a:t>
            </a:r>
            <a:r>
              <a:rPr b="1" i="0" lang="en-GB" spc="0" sz="1300" u="none" cap="none" strike="noStrike">
                <a:solidFill>
                  <a:srgbClr val="1B1F2A"/>
                </a:solidFill>
                <a:latin typeface="Calibri"/>
                <a:ea typeface="Calibri"/>
                <a:cs typeface="Calibri"/>
                <a:sym typeface="Calibri"/>
              </a:rPr>
              <a:t>18.4%</a:t>
            </a:r>
            <a:endParaRPr b="0" i="0" spc="0" sz="1300" u="none" cap="none" strike="noStrike">
              <a:solidFill>
                <a:schemeClr val="dk1"/>
              </a:solidFill>
              <a:latin typeface="Calibri"/>
              <a:ea typeface="Calibri"/>
              <a:cs typeface="Calibri"/>
              <a:sym typeface="Calibri"/>
            </a:endParaRPr>
          </a:p>
          <a:p>
            <a:pPr indent="-177800" lvl="0" marL="177800" marR="0" rtl="0" algn="l">
              <a:lnSpc>
                <a:spcPct val="100000"/>
              </a:lnSpc>
              <a:spcBef>
                <a:spcPts val="300"/>
              </a:spcBef>
              <a:spcAft>
                <a:spcPts val="0"/>
              </a:spcAft>
              <a:buClr>
                <a:srgbClr val="1B1F2A"/>
              </a:buClr>
              <a:buSzPts val="1300"/>
              <a:buFont typeface="Calibri"/>
              <a:buChar char="•"/>
            </a:pPr>
            <a:r>
              <a:rPr b="0" i="0" lang="en-GB" spc="0" sz="1300" u="none" cap="none" strike="noStrike">
                <a:solidFill>
                  <a:srgbClr val="1B1F2A"/>
                </a:solidFill>
                <a:latin typeface="Calibri"/>
                <a:ea typeface="Calibri"/>
                <a:cs typeface="Calibri"/>
                <a:sym typeface="Calibri"/>
              </a:rPr>
              <a:t>Retrieval rank does not predict which page is safe to lose</a:t>
            </a:r>
            <a:endParaRPr b="0" i="0" spc="0" sz="1300" u="none" cap="none" strike="noStrike">
              <a:solidFill>
                <a:schemeClr val="dk1"/>
              </a:solidFill>
              <a:latin typeface="Calibri"/>
              <a:ea typeface="Calibri"/>
              <a:cs typeface="Calibri"/>
              <a:sym typeface="Calibri"/>
            </a:endParaRPr>
          </a:p>
        </p:txBody>
      </p:sp>
      <p:sp>
        <p:nvSpPr>
          <p:cNvPr id="256" name="Google Shape;256;p30"/>
          <p:cNvSpPr txBox="1"/>
          <p:nvPr/>
        </p:nvSpPr>
        <p:spPr>
          <a:xfrm>
            <a:off x="411480" y="3703320"/>
            <a:ext cx="4206240" cy="777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300"/>
              <a:buFont typeface="Calibri"/>
              <a:buNone/>
            </a:pPr>
            <a:r>
              <a:rPr b="0" i="0" lang="en-GB" spc="0" sz="1300" u="none" cap="none" strike="noStrike">
                <a:solidFill>
                  <a:srgbClr val="1B1F2A"/>
                </a:solidFill>
                <a:latin typeface="Calibri"/>
                <a:ea typeface="Calibri"/>
                <a:cs typeface="Calibri"/>
                <a:sym typeface="Calibri"/>
              </a:rPr>
              <a:t>+3 pages: </a:t>
            </a:r>
            <a:r>
              <a:rPr b="1" i="0" lang="en-GB" spc="0" sz="1300" u="none" cap="none" strike="noStrike">
                <a:solidFill>
                  <a:srgbClr val="1B1F2A"/>
                </a:solidFill>
                <a:latin typeface="Calibri"/>
                <a:ea typeface="Calibri"/>
                <a:cs typeface="Calibri"/>
                <a:sym typeface="Calibri"/>
              </a:rPr>
              <a:t>7.0% flip to correct</a:t>
            </a:r>
            <a:r>
              <a:rPr b="0" i="0" lang="en-GB" spc="0" sz="1300" u="none" cap="none" strike="noStrike">
                <a:solidFill>
                  <a:srgbClr val="1B1F2A"/>
                </a:solidFill>
                <a:latin typeface="Calibri"/>
                <a:ea typeface="Calibri"/>
                <a:cs typeface="Calibri"/>
                <a:sym typeface="Calibri"/>
              </a:rPr>
              <a:t>, but </a:t>
            </a:r>
            <a:r>
              <a:rPr b="1" i="0" lang="en-GB" spc="0" sz="1300" u="none" cap="none" strike="noStrike">
                <a:solidFill>
                  <a:srgbClr val="1B1F2A"/>
                </a:solidFill>
                <a:latin typeface="Calibri"/>
                <a:ea typeface="Calibri"/>
                <a:cs typeface="Calibri"/>
                <a:sym typeface="Calibri"/>
              </a:rPr>
              <a:t>13.3% break</a:t>
            </a:r>
            <a:endParaRPr b="0" i="0" spc="0" sz="1300" u="none" cap="none" strike="noStrike">
              <a:solidFill>
                <a:schemeClr val="dk1"/>
              </a:solidFill>
              <a:latin typeface="Calibri"/>
              <a:ea typeface="Calibri"/>
              <a:cs typeface="Calibri"/>
              <a:sym typeface="Calibri"/>
            </a:endParaRPr>
          </a:p>
          <a:p>
            <a:pPr indent="-177800" lvl="0" marL="177800" marR="0" rtl="0" algn="l">
              <a:lnSpc>
                <a:spcPct val="100000"/>
              </a:lnSpc>
              <a:spcBef>
                <a:spcPts val="300"/>
              </a:spcBef>
              <a:spcAft>
                <a:spcPts val="0"/>
              </a:spcAft>
              <a:buClr>
                <a:srgbClr val="1B1F2A"/>
              </a:buClr>
              <a:buSzPts val="1300"/>
              <a:buFont typeface="Calibri"/>
              <a:buChar char="•"/>
            </a:pPr>
            <a:r>
              <a:rPr b="0" i="0" lang="en-GB" spc="0" sz="1300" u="none" cap="none" strike="noStrike">
                <a:solidFill>
                  <a:srgbClr val="1B1F2A"/>
                </a:solidFill>
                <a:latin typeface="Calibri"/>
                <a:ea typeface="Calibri"/>
                <a:cs typeface="Calibri"/>
                <a:sym typeface="Calibri"/>
              </a:rPr>
              <a:t>Each later step: about 5% flip each way</a:t>
            </a:r>
            <a:endParaRPr b="0" i="0" spc="0" sz="1300" u="none" cap="none" strike="noStrike">
              <a:solidFill>
                <a:schemeClr val="dk1"/>
              </a:solidFill>
              <a:latin typeface="Calibri"/>
              <a:ea typeface="Calibri"/>
              <a:cs typeface="Calibri"/>
              <a:sym typeface="Calibri"/>
            </a:endParaRPr>
          </a:p>
          <a:p>
            <a:pPr indent="-177800" lvl="0" marL="177800" marR="0" rtl="0" algn="l">
              <a:lnSpc>
                <a:spcPct val="100000"/>
              </a:lnSpc>
              <a:spcBef>
                <a:spcPts val="300"/>
              </a:spcBef>
              <a:spcAft>
                <a:spcPts val="0"/>
              </a:spcAft>
              <a:buClr>
                <a:srgbClr val="1B1F2A"/>
              </a:buClr>
              <a:buSzPts val="1300"/>
              <a:buFont typeface="Calibri"/>
              <a:buChar char="•"/>
            </a:pPr>
            <a:r>
              <a:rPr b="0" i="0" lang="en-GB" spc="0" sz="1300" u="none" cap="none" strike="noStrike">
                <a:solidFill>
                  <a:srgbClr val="1B1F2A"/>
                </a:solidFill>
                <a:latin typeface="Calibri"/>
                <a:ea typeface="Calibri"/>
                <a:cs typeface="Calibri"/>
                <a:sym typeface="Calibri"/>
              </a:rPr>
              <a:t>Extra context repairs some answers while burying others</a:t>
            </a:r>
            <a:endParaRPr b="0" i="0" spc="0" sz="1300" u="none" cap="none" strike="noStrike">
              <a:solidFill>
                <a:schemeClr val="dk1"/>
              </a:solidFill>
              <a:latin typeface="Calibri"/>
              <a:ea typeface="Calibri"/>
              <a:cs typeface="Calibri"/>
              <a:sym typeface="Calibri"/>
            </a:endParaRPr>
          </a:p>
        </p:txBody>
      </p:sp>
      <p:pic>
        <p:nvPicPr>
          <p:cNvPr descr="Distractor exposure" id="257" name="Google Shape;257;p30"/>
          <p:cNvPicPr preferRelativeResize="0"/>
          <p:nvPr/>
        </p:nvPicPr>
        <p:blipFill rotWithShape="1">
          <a:blip r:embed="rId4">
            <a:alphaModFix/>
          </a:blip>
          <a:srcRect b="0" l="0" r="0" t="0"/>
          <a:stretch/>
        </p:blipFill>
        <p:spPr>
          <a:xfrm>
            <a:off x="5077133" y="1097280"/>
            <a:ext cx="3561736" cy="3154680"/>
          </a:xfrm>
          <a:prstGeom prst="rect">
            <a:avLst/>
          </a:prstGeom>
          <a:noFill/>
          <a:ln>
            <a:noFill/>
          </a:ln>
        </p:spPr>
      </p:pic>
      <p:sp>
        <p:nvSpPr>
          <p:cNvPr id="258" name="Google Shape;258;p30"/>
          <p:cNvSpPr txBox="1"/>
          <p:nvPr/>
        </p:nvSpPr>
        <p:spPr>
          <a:xfrm>
            <a:off x="5077133" y="4306824"/>
            <a:ext cx="3561736"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1000"/>
              <a:buFont typeface="Calibri"/>
              <a:buNone/>
            </a:pPr>
            <a:r>
              <a:rPr b="0" i="0" lang="en-GB" spc="0" sz="1000" u="none" cap="none" strike="noStrike">
                <a:solidFill>
                  <a:srgbClr val="5A6072"/>
                </a:solidFill>
                <a:latin typeface="Calibri"/>
                <a:ea typeface="Calibri"/>
                <a:cs typeface="Calibri"/>
                <a:sym typeface="Calibri"/>
              </a:rPr>
              <a:t>Distractor exposure: +3 pages, multi-hop </a:t>
            </a:r>
            <a:r>
              <a:rPr b="1" i="0" lang="en-GB" spc="0" sz="1000" u="none" cap="none" strike="noStrike">
                <a:solidFill>
                  <a:srgbClr val="1B1F2A"/>
                </a:solidFill>
                <a:latin typeface="Calibri"/>
                <a:ea typeface="Calibri"/>
                <a:cs typeface="Calibri"/>
                <a:sym typeface="Calibri"/>
              </a:rPr>
              <a:t>43.9% → 35.1%</a:t>
            </a:r>
            <a:endParaRPr b="0" i="0" spc="0" sz="1000" u="none" cap="none" strike="noStrike">
              <a:solidFill>
                <a:schemeClr val="dk1"/>
              </a:solidFill>
              <a:latin typeface="Calibri"/>
              <a:ea typeface="Calibri"/>
              <a:cs typeface="Calibri"/>
              <a:sym typeface="Calibri"/>
            </a:endParaRPr>
          </a:p>
        </p:txBody>
      </p:sp>
      <p:sp>
        <p:nvSpPr>
          <p:cNvPr id="259" name="Google Shape;259;p30"/>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1"/>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Finding 3 · Reasoning</a:t>
            </a:r>
            <a:endParaRPr sz="2300"/>
          </a:p>
        </p:txBody>
      </p:sp>
      <p:sp>
        <p:nvSpPr>
          <p:cNvPr id="266" name="Google Shape;266;p31"/>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3 · Empirical study · Under review</a:t>
            </a:r>
            <a:endParaRPr b="0" i="0" spc="0" sz="900" u="none" cap="none" strike="noStrike">
              <a:solidFill>
                <a:schemeClr val="dk1"/>
              </a:solidFill>
              <a:latin typeface="Calibri"/>
              <a:ea typeface="Calibri"/>
              <a:cs typeface="Calibri"/>
              <a:sym typeface="Calibri"/>
            </a:endParaRPr>
          </a:p>
        </p:txBody>
      </p:sp>
      <p:sp>
        <p:nvSpPr>
          <p:cNvPr id="267" name="Google Shape;267;p31"/>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Prompts move the refusal trade-off; </a:t>
            </a:r>
            <a:r>
              <a:rPr b="1" i="0" lang="en-GB" spc="0" sz="1400" u="none" cap="none" strike="noStrike">
                <a:solidFill>
                  <a:srgbClr val="27348B"/>
                </a:solidFill>
                <a:latin typeface="Calibri"/>
                <a:ea typeface="Calibri"/>
                <a:cs typeface="Calibri"/>
                <a:sym typeface="Calibri"/>
              </a:rPr>
              <a:t>more computation helps, at a price</a:t>
            </a:r>
            <a:r>
              <a:rPr b="0" i="0" lang="en-GB" spc="0" sz="1400" u="none" cap="none" strike="noStrike">
                <a:solidFill>
                  <a:srgbClr val="1B1F2A"/>
                </a:solidFill>
                <a:latin typeface="Calibri"/>
                <a:ea typeface="Calibri"/>
                <a:cs typeface="Calibri"/>
                <a:sym typeface="Calibri"/>
              </a:rPr>
              <a:t>.</a:t>
            </a:r>
            <a:endParaRPr b="0" i="0" spc="0" sz="1400" u="none" cap="none" strike="noStrike">
              <a:solidFill>
                <a:schemeClr val="dk1"/>
              </a:solidFill>
              <a:latin typeface="Calibri"/>
              <a:ea typeface="Calibri"/>
              <a:cs typeface="Calibri"/>
              <a:sym typeface="Calibri"/>
            </a:endParaRPr>
          </a:p>
        </p:txBody>
      </p:sp>
      <p:sp>
        <p:nvSpPr>
          <p:cNvPr id="268" name="Google Shape;268;p31"/>
          <p:cNvSpPr txBox="1"/>
          <p:nvPr/>
        </p:nvSpPr>
        <p:spPr>
          <a:xfrm>
            <a:off x="411480" y="4169663"/>
            <a:ext cx="384048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1000"/>
              <a:buFont typeface="Calibri"/>
              <a:buNone/>
            </a:pPr>
            <a:r>
              <a:rPr b="0" i="0" lang="en-GB" spc="0" sz="1000" u="none" cap="none" strike="noStrike">
                <a:solidFill>
                  <a:srgbClr val="5A6072"/>
                </a:solidFill>
                <a:latin typeface="Calibri"/>
                <a:ea typeface="Calibri"/>
                <a:cs typeface="Calibri"/>
                <a:sym typeface="Calibri"/>
              </a:rPr>
              <a:t>Abstain prompt, Qwen3-VL-8B: refusal </a:t>
            </a:r>
            <a:r>
              <a:rPr b="1" i="0" lang="en-GB" spc="0" sz="1000" u="none" cap="none" strike="noStrike">
                <a:solidFill>
                  <a:srgbClr val="1B1F2A"/>
                </a:solidFill>
                <a:latin typeface="Calibri"/>
                <a:ea typeface="Calibri"/>
                <a:cs typeface="Calibri"/>
                <a:sym typeface="Calibri"/>
              </a:rPr>
              <a:t>45.5% → 74.6%</a:t>
            </a:r>
            <a:r>
              <a:rPr b="0" i="0" lang="en-GB" spc="0" sz="1000" u="none" cap="none" strike="noStrike">
                <a:solidFill>
                  <a:srgbClr val="5A6072"/>
                </a:solidFill>
                <a:latin typeface="Calibri"/>
                <a:ea typeface="Calibri"/>
                <a:cs typeface="Calibri"/>
                <a:sym typeface="Calibri"/>
              </a:rPr>
              <a:t>, false refusal </a:t>
            </a:r>
            <a:r>
              <a:rPr b="1" i="0" lang="en-GB" spc="0" sz="1000" u="none" cap="none" strike="noStrike">
                <a:solidFill>
                  <a:srgbClr val="1B1F2A"/>
                </a:solidFill>
                <a:latin typeface="Calibri"/>
                <a:ea typeface="Calibri"/>
                <a:cs typeface="Calibri"/>
                <a:sym typeface="Calibri"/>
              </a:rPr>
              <a:t>6.2% → 27.7%</a:t>
            </a:r>
            <a:r>
              <a:rPr b="0" i="0" lang="en-GB" spc="0" sz="1000" u="none" cap="none" strike="noStrike">
                <a:solidFill>
                  <a:srgbClr val="5A6072"/>
                </a:solidFill>
                <a:latin typeface="Calibri"/>
                <a:ea typeface="Calibri"/>
                <a:cs typeface="Calibri"/>
                <a:sym typeface="Calibri"/>
              </a:rPr>
              <a:t>. Gemma-3-12B moves the same way.</a:t>
            </a:r>
            <a:endParaRPr b="0" i="0" spc="0" sz="1000" u="none" cap="none" strike="noStrike">
              <a:solidFill>
                <a:schemeClr val="dk1"/>
              </a:solidFill>
              <a:latin typeface="Calibri"/>
              <a:ea typeface="Calibri"/>
              <a:cs typeface="Calibri"/>
              <a:sym typeface="Calibri"/>
            </a:endParaRPr>
          </a:p>
        </p:txBody>
      </p:sp>
      <p:sp>
        <p:nvSpPr>
          <p:cNvPr id="269" name="Google Shape;269;p31"/>
          <p:cNvSpPr txBox="1"/>
          <p:nvPr/>
        </p:nvSpPr>
        <p:spPr>
          <a:xfrm>
            <a:off x="4754880" y="4169663"/>
            <a:ext cx="3977639"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1000"/>
              <a:buFont typeface="Calibri"/>
              <a:buNone/>
            </a:pPr>
            <a:r>
              <a:rPr b="0" i="0" lang="en-GB" spc="0" sz="1000" u="none" cap="none" strike="noStrike">
                <a:solidFill>
                  <a:srgbClr val="5A6072"/>
                </a:solidFill>
                <a:latin typeface="Calibri"/>
                <a:ea typeface="Calibri"/>
                <a:cs typeface="Calibri"/>
                <a:sym typeface="Calibri"/>
              </a:rPr>
              <a:t>More computation: </a:t>
            </a:r>
            <a:r>
              <a:rPr b="1" i="0" lang="en-GB" spc="0" sz="1000" u="none" cap="none" strike="noStrike">
                <a:solidFill>
                  <a:srgbClr val="1B1F2A"/>
                </a:solidFill>
                <a:latin typeface="Calibri"/>
                <a:ea typeface="Calibri"/>
                <a:cs typeface="Calibri"/>
                <a:sym typeface="Calibri"/>
              </a:rPr>
              <a:t>+8 answerable</a:t>
            </a:r>
            <a:r>
              <a:rPr b="0" i="0" lang="en-GB" spc="0" sz="1000" u="none" cap="none" strike="noStrike">
                <a:solidFill>
                  <a:srgbClr val="5A6072"/>
                </a:solidFill>
                <a:latin typeface="Calibri"/>
                <a:ea typeface="Calibri"/>
                <a:cs typeface="Calibri"/>
                <a:sym typeface="Calibri"/>
              </a:rPr>
              <a:t> at 640 s, </a:t>
            </a:r>
            <a:r>
              <a:rPr b="1" i="0" lang="en-GB" spc="0" sz="1000" u="none" cap="none" strike="noStrike">
                <a:solidFill>
                  <a:srgbClr val="1B1F2A"/>
                </a:solidFill>
                <a:latin typeface="Calibri"/>
                <a:ea typeface="Calibri"/>
                <a:cs typeface="Calibri"/>
                <a:sym typeface="Calibri"/>
              </a:rPr>
              <a:t>+14 unanswerable</a:t>
            </a:r>
            <a:r>
              <a:rPr b="0" i="0" lang="en-GB" spc="0" sz="1000" u="none" cap="none" strike="noStrike">
                <a:solidFill>
                  <a:srgbClr val="5A6072"/>
                </a:solidFill>
                <a:latin typeface="Calibri"/>
                <a:ea typeface="Calibri"/>
                <a:cs typeface="Calibri"/>
                <a:sym typeface="Calibri"/>
              </a:rPr>
              <a:t> at 47 s. Preliminary: self-consistency on 773 of 847.</a:t>
            </a:r>
            <a:endParaRPr b="0" i="0" spc="0" sz="1000" u="none" cap="none" strike="noStrike">
              <a:solidFill>
                <a:schemeClr val="dk1"/>
              </a:solidFill>
              <a:latin typeface="Calibri"/>
              <a:ea typeface="Calibri"/>
              <a:cs typeface="Calibri"/>
              <a:sym typeface="Calibri"/>
            </a:endParaRPr>
          </a:p>
        </p:txBody>
      </p:sp>
      <p:sp>
        <p:nvSpPr>
          <p:cNvPr id="270" name="Google Shape;270;p31"/>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pic>
        <p:nvPicPr>
          <p:cNvPr descr="prompt_modes.png" id="271" name="Google Shape;271;p31"/>
          <p:cNvPicPr preferRelativeResize="0"/>
          <p:nvPr/>
        </p:nvPicPr>
        <p:blipFill rotWithShape="1">
          <a:blip r:embed="rId3">
            <a:alphaModFix/>
          </a:blip>
          <a:srcRect b="0" l="0" r="0" t="0"/>
          <a:stretch/>
        </p:blipFill>
        <p:spPr>
          <a:xfrm>
            <a:off x="411480" y="1097280"/>
            <a:ext cx="3840480" cy="3017520"/>
          </a:xfrm>
          <a:prstGeom prst="rect">
            <a:avLst/>
          </a:prstGeom>
          <a:noFill/>
          <a:ln>
            <a:noFill/>
          </a:ln>
        </p:spPr>
      </p:pic>
      <p:pic>
        <p:nvPicPr>
          <p:cNvPr descr="strategies.png" id="272" name="Google Shape;272;p31"/>
          <p:cNvPicPr preferRelativeResize="0"/>
          <p:nvPr/>
        </p:nvPicPr>
        <p:blipFill rotWithShape="1">
          <a:blip r:embed="rId4">
            <a:alphaModFix/>
          </a:blip>
          <a:srcRect b="0" l="0" r="0" t="0"/>
          <a:stretch/>
        </p:blipFill>
        <p:spPr>
          <a:xfrm>
            <a:off x="4754880" y="1097280"/>
            <a:ext cx="3977639" cy="301752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2"/>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lang="en-GB"/>
              <a:t>Qualitative</a:t>
            </a:r>
            <a:r>
              <a:rPr lang="en-GB"/>
              <a:t> Analysis</a:t>
            </a:r>
            <a:endParaRPr sz="2300"/>
          </a:p>
        </p:txBody>
      </p:sp>
      <p:sp>
        <p:nvSpPr>
          <p:cNvPr id="279" name="Google Shape;279;p32"/>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3 · Empirical study · Under review</a:t>
            </a:r>
            <a:endParaRPr b="0" i="0" spc="0" sz="900" u="none" cap="none" strike="noStrike">
              <a:solidFill>
                <a:schemeClr val="dk1"/>
              </a:solidFill>
              <a:latin typeface="Calibri"/>
              <a:ea typeface="Calibri"/>
              <a:cs typeface="Calibri"/>
              <a:sym typeface="Calibri"/>
            </a:endParaRPr>
          </a:p>
        </p:txBody>
      </p:sp>
      <p:sp>
        <p:nvSpPr>
          <p:cNvPr id="280" name="Google Shape;280;p32"/>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Six mechanisms</a:t>
            </a:r>
            <a:r>
              <a:rPr lang="en-GB">
                <a:solidFill>
                  <a:srgbClr val="1B1F2A"/>
                </a:solidFill>
                <a:latin typeface="Calibri"/>
                <a:ea typeface="Calibri"/>
                <a:cs typeface="Calibri"/>
                <a:sym typeface="Calibri"/>
              </a:rPr>
              <a:t> on qualitative examples</a:t>
            </a:r>
            <a:r>
              <a:rPr b="0" i="0" lang="en-GB" spc="0" sz="1400" u="none" cap="none" strike="noStrike">
                <a:solidFill>
                  <a:srgbClr val="1B1F2A"/>
                </a:solidFill>
                <a:latin typeface="Calibri"/>
                <a:ea typeface="Calibri"/>
                <a:cs typeface="Calibri"/>
                <a:sym typeface="Calibri"/>
              </a:rPr>
              <a:t>, each with a </a:t>
            </a:r>
            <a:r>
              <a:rPr b="1" i="0" lang="en-GB" spc="0" sz="1400" u="none" cap="none" strike="noStrike">
                <a:solidFill>
                  <a:srgbClr val="27348B"/>
                </a:solidFill>
                <a:latin typeface="Calibri"/>
                <a:ea typeface="Calibri"/>
                <a:cs typeface="Calibri"/>
                <a:sym typeface="Calibri"/>
              </a:rPr>
              <a:t>design implication</a:t>
            </a:r>
            <a:r>
              <a:rPr b="0" i="0" lang="en-GB" spc="0" sz="1400" u="none" cap="none" strike="noStrike">
                <a:solidFill>
                  <a:srgbClr val="1B1F2A"/>
                </a:solidFill>
                <a:latin typeface="Calibri"/>
                <a:ea typeface="Calibri"/>
                <a:cs typeface="Calibri"/>
                <a:sym typeface="Calibri"/>
              </a:rPr>
              <a:t>.</a:t>
            </a:r>
            <a:endParaRPr b="0" i="0" spc="0" sz="1400" u="none" cap="none" strike="noStrike">
              <a:solidFill>
                <a:schemeClr val="dk1"/>
              </a:solidFill>
              <a:latin typeface="Calibri"/>
              <a:ea typeface="Calibri"/>
              <a:cs typeface="Calibri"/>
              <a:sym typeface="Calibri"/>
            </a:endParaRPr>
          </a:p>
        </p:txBody>
      </p:sp>
      <p:pic>
        <p:nvPicPr>
          <p:cNvPr descr="Qualitative examples for the six mechanisms" id="281" name="Google Shape;281;p32"/>
          <p:cNvPicPr preferRelativeResize="0"/>
          <p:nvPr/>
        </p:nvPicPr>
        <p:blipFill rotWithShape="1">
          <a:blip r:embed="rId3">
            <a:alphaModFix/>
          </a:blip>
          <a:srcRect b="0" l="0" r="0" t="0"/>
          <a:stretch/>
        </p:blipFill>
        <p:spPr>
          <a:xfrm>
            <a:off x="411480" y="1097280"/>
            <a:ext cx="5838894" cy="3566160"/>
          </a:xfrm>
          <a:prstGeom prst="rect">
            <a:avLst/>
          </a:prstGeom>
          <a:noFill/>
          <a:ln>
            <a:noFill/>
          </a:ln>
        </p:spPr>
      </p:pic>
      <p:sp>
        <p:nvSpPr>
          <p:cNvPr id="282" name="Google Shape;282;p32"/>
          <p:cNvSpPr txBox="1"/>
          <p:nvPr/>
        </p:nvSpPr>
        <p:spPr>
          <a:xfrm>
            <a:off x="6583680" y="1200150"/>
            <a:ext cx="2148611"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DESIGN</a:t>
            </a:r>
            <a:endParaRPr b="0" i="0" spc="0" sz="900" u="none" cap="none" strike="noStrike">
              <a:solidFill>
                <a:schemeClr val="dk1"/>
              </a:solidFill>
              <a:latin typeface="Calibri"/>
              <a:ea typeface="Calibri"/>
              <a:cs typeface="Calibri"/>
              <a:sym typeface="Calibri"/>
            </a:endParaRPr>
          </a:p>
        </p:txBody>
      </p:sp>
      <p:sp>
        <p:nvSpPr>
          <p:cNvPr id="283" name="Google Shape;283;p32"/>
          <p:cNvSpPr txBox="1"/>
          <p:nvPr/>
        </p:nvSpPr>
        <p:spPr>
          <a:xfrm>
            <a:off x="6583680" y="1474470"/>
            <a:ext cx="2148611" cy="8915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200"/>
              <a:buFont typeface="Calibri"/>
              <a:buNone/>
            </a:pPr>
            <a:r>
              <a:rPr b="1" i="0" lang="en-GB" spc="0" sz="1200" u="none" cap="none" strike="noStrike">
                <a:solidFill>
                  <a:srgbClr val="27348B"/>
                </a:solidFill>
                <a:latin typeface="Calibri"/>
                <a:ea typeface="Calibri"/>
                <a:cs typeface="Calibri"/>
                <a:sym typeface="Calibri"/>
              </a:rPr>
              <a:t>Representation</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200"/>
              <a:buFont typeface="Calibri"/>
              <a:buNone/>
            </a:pPr>
            <a:r>
              <a:rPr b="0" i="0" lang="en-GB" spc="0" sz="1200" u="none" cap="none" strike="noStrike">
                <a:solidFill>
                  <a:srgbClr val="1B1F2A"/>
                </a:solidFill>
                <a:latin typeface="Calibri"/>
                <a:ea typeface="Calibri"/>
                <a:cs typeface="Calibri"/>
                <a:sym typeface="Calibri"/>
              </a:rPr>
              <a:t>Add the page image when appearance matters or the text is unreliable</a:t>
            </a:r>
            <a:endParaRPr b="0" i="0" spc="0" sz="1200" u="none" cap="none" strike="noStrike">
              <a:solidFill>
                <a:schemeClr val="dk1"/>
              </a:solidFill>
              <a:latin typeface="Calibri"/>
              <a:ea typeface="Calibri"/>
              <a:cs typeface="Calibri"/>
              <a:sym typeface="Calibri"/>
            </a:endParaRPr>
          </a:p>
        </p:txBody>
      </p:sp>
      <p:sp>
        <p:nvSpPr>
          <p:cNvPr id="284" name="Google Shape;284;p32"/>
          <p:cNvSpPr txBox="1"/>
          <p:nvPr/>
        </p:nvSpPr>
        <p:spPr>
          <a:xfrm>
            <a:off x="6583680" y="2468880"/>
            <a:ext cx="2148611" cy="8915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200"/>
              <a:buFont typeface="Calibri"/>
              <a:buNone/>
            </a:pPr>
            <a:r>
              <a:rPr b="1" i="0" lang="en-GB" spc="0" sz="1200" u="none" cap="none" strike="noStrike">
                <a:solidFill>
                  <a:srgbClr val="27348B"/>
                </a:solidFill>
                <a:latin typeface="Calibri"/>
                <a:ea typeface="Calibri"/>
                <a:cs typeface="Calibri"/>
                <a:sym typeface="Calibri"/>
              </a:rPr>
              <a:t>Selection</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200"/>
              <a:buFont typeface="Calibri"/>
              <a:buNone/>
            </a:pPr>
            <a:r>
              <a:rPr b="0" i="0" lang="en-GB" spc="0" sz="1200" u="none" cap="none" strike="noStrike">
                <a:solidFill>
                  <a:srgbClr val="1B1F2A"/>
                </a:solidFill>
                <a:latin typeface="Calibri"/>
                <a:ea typeface="Calibri"/>
                <a:cs typeface="Calibri"/>
                <a:sym typeface="Calibri"/>
              </a:rPr>
              <a:t>Retrieve broadly, then filter as a set</a:t>
            </a:r>
            <a:endParaRPr b="0" i="0" spc="0" sz="1200" u="none" cap="none" strike="noStrike">
              <a:solidFill>
                <a:schemeClr val="dk1"/>
              </a:solidFill>
              <a:latin typeface="Calibri"/>
              <a:ea typeface="Calibri"/>
              <a:cs typeface="Calibri"/>
              <a:sym typeface="Calibri"/>
            </a:endParaRPr>
          </a:p>
        </p:txBody>
      </p:sp>
      <p:sp>
        <p:nvSpPr>
          <p:cNvPr id="285" name="Google Shape;285;p32"/>
          <p:cNvSpPr txBox="1"/>
          <p:nvPr/>
        </p:nvSpPr>
        <p:spPr>
          <a:xfrm>
            <a:off x="6583680" y="3463290"/>
            <a:ext cx="2148611" cy="8915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200"/>
              <a:buFont typeface="Calibri"/>
              <a:buNone/>
            </a:pPr>
            <a:r>
              <a:rPr b="1" i="0" lang="en-GB" spc="0" sz="1200" u="none" cap="none" strike="noStrike">
                <a:solidFill>
                  <a:srgbClr val="27348B"/>
                </a:solidFill>
                <a:latin typeface="Calibri"/>
                <a:ea typeface="Calibri"/>
                <a:cs typeface="Calibri"/>
                <a:sym typeface="Calibri"/>
              </a:rPr>
              <a:t>Reasoning</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200"/>
              <a:buFont typeface="Calibri"/>
              <a:buNone/>
            </a:pPr>
            <a:r>
              <a:rPr b="0" i="0" lang="en-GB" spc="0" sz="1200" u="none" cap="none" strike="noStrike">
                <a:solidFill>
                  <a:srgbClr val="1B1F2A"/>
                </a:solidFill>
                <a:latin typeface="Calibri"/>
                <a:ea typeface="Calibri"/>
                <a:cs typeface="Calibri"/>
                <a:sym typeface="Calibri"/>
              </a:rPr>
              <a:t>Reason before refusing; match model size to the task</a:t>
            </a:r>
            <a:endParaRPr b="0" i="0" spc="0" sz="1200" u="none" cap="none" strike="noStrike">
              <a:solidFill>
                <a:schemeClr val="dk1"/>
              </a:solidFill>
              <a:latin typeface="Calibri"/>
              <a:ea typeface="Calibri"/>
              <a:cs typeface="Calibri"/>
              <a:sym typeface="Calibri"/>
            </a:endParaRPr>
          </a:p>
        </p:txBody>
      </p:sp>
      <p:sp>
        <p:nvSpPr>
          <p:cNvPr id="286" name="Google Shape;286;p32"/>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3"/>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From Findings to a Simple Method</a:t>
            </a:r>
            <a:endParaRPr sz="2300"/>
          </a:p>
        </p:txBody>
      </p:sp>
      <p:sp>
        <p:nvSpPr>
          <p:cNvPr id="293" name="Google Shape;293;p33"/>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4 · Method &amp; conclusion</a:t>
            </a:r>
            <a:endParaRPr b="0" i="0" spc="0" sz="900" u="none" cap="none" strike="noStrike">
              <a:solidFill>
                <a:schemeClr val="dk1"/>
              </a:solidFill>
              <a:latin typeface="Calibri"/>
              <a:ea typeface="Calibri"/>
              <a:cs typeface="Calibri"/>
              <a:sym typeface="Calibri"/>
            </a:endParaRPr>
          </a:p>
        </p:txBody>
      </p:sp>
      <p:sp>
        <p:nvSpPr>
          <p:cNvPr id="294" name="Google Shape;294;p33"/>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One model, three roles, each grounded in a finding.</a:t>
            </a:r>
            <a:endParaRPr b="0" i="0" spc="0" sz="1400" u="none" cap="none" strike="noStrike">
              <a:solidFill>
                <a:schemeClr val="dk1"/>
              </a:solidFill>
              <a:latin typeface="Calibri"/>
              <a:ea typeface="Calibri"/>
              <a:cs typeface="Calibri"/>
              <a:sym typeface="Calibri"/>
            </a:endParaRPr>
          </a:p>
        </p:txBody>
      </p:sp>
      <p:pic>
        <p:nvPicPr>
          <p:cNvPr descr="Reader, synthesizer and arbiter" id="295" name="Google Shape;295;p33"/>
          <p:cNvPicPr preferRelativeResize="0"/>
          <p:nvPr/>
        </p:nvPicPr>
        <p:blipFill rotWithShape="1">
          <a:blip r:embed="rId3">
            <a:alphaModFix/>
          </a:blip>
          <a:srcRect b="0" l="0" r="0" t="0"/>
          <a:stretch/>
        </p:blipFill>
        <p:spPr>
          <a:xfrm>
            <a:off x="822960" y="1131570"/>
            <a:ext cx="7497851" cy="2276921"/>
          </a:xfrm>
          <a:prstGeom prst="rect">
            <a:avLst/>
          </a:prstGeom>
          <a:noFill/>
          <a:ln>
            <a:noFill/>
          </a:ln>
        </p:spPr>
      </p:pic>
      <p:sp>
        <p:nvSpPr>
          <p:cNvPr id="296" name="Google Shape;296;p33"/>
          <p:cNvSpPr txBox="1"/>
          <p:nvPr/>
        </p:nvSpPr>
        <p:spPr>
          <a:xfrm>
            <a:off x="411480" y="3669030"/>
            <a:ext cx="2545004"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Representation</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Reader sees every page as text + image</a:t>
            </a:r>
            <a:endParaRPr b="0" i="0" spc="0" sz="1400" u="none" cap="none" strike="noStrike">
              <a:solidFill>
                <a:schemeClr val="dk1"/>
              </a:solidFill>
              <a:latin typeface="Calibri"/>
              <a:ea typeface="Calibri"/>
              <a:cs typeface="Calibri"/>
              <a:sym typeface="Calibri"/>
            </a:endParaRPr>
          </a:p>
        </p:txBody>
      </p:sp>
      <p:sp>
        <p:nvSpPr>
          <p:cNvPr id="297" name="Google Shape;297;p33"/>
          <p:cNvSpPr txBox="1"/>
          <p:nvPr/>
        </p:nvSpPr>
        <p:spPr>
          <a:xfrm>
            <a:off x="3299384" y="3669030"/>
            <a:ext cx="2545003"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Selection</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Read broadly, pass on compact records</a:t>
            </a:r>
            <a:endParaRPr b="0" i="0" spc="0" sz="1400" u="none" cap="none" strike="noStrike">
              <a:solidFill>
                <a:schemeClr val="dk1"/>
              </a:solidFill>
              <a:latin typeface="Calibri"/>
              <a:ea typeface="Calibri"/>
              <a:cs typeface="Calibri"/>
              <a:sym typeface="Calibri"/>
            </a:endParaRPr>
          </a:p>
        </p:txBody>
      </p:sp>
      <p:sp>
        <p:nvSpPr>
          <p:cNvPr id="298" name="Google Shape;298;p33"/>
          <p:cNvSpPr txBox="1"/>
          <p:nvPr/>
        </p:nvSpPr>
        <p:spPr>
          <a:xfrm>
            <a:off x="6187288" y="3669030"/>
            <a:ext cx="2545004"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Reasoning</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A separate arbiter judges sufficiency</a:t>
            </a:r>
            <a:endParaRPr b="0" i="0" spc="0" sz="1400" u="none" cap="none" strike="noStrike">
              <a:solidFill>
                <a:schemeClr val="dk1"/>
              </a:solidFill>
              <a:latin typeface="Calibri"/>
              <a:ea typeface="Calibri"/>
              <a:cs typeface="Calibri"/>
              <a:sym typeface="Calibri"/>
            </a:endParaRPr>
          </a:p>
        </p:txBody>
      </p:sp>
      <p:sp>
        <p:nvSpPr>
          <p:cNvPr id="299" name="Google Shape;299;p33"/>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4"/>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Simple Method: Results</a:t>
            </a:r>
            <a:endParaRPr sz="2300"/>
          </a:p>
        </p:txBody>
      </p:sp>
      <p:sp>
        <p:nvSpPr>
          <p:cNvPr id="306" name="Google Shape;306;p34"/>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4 · Method &amp; conclusion</a:t>
            </a:r>
            <a:endParaRPr b="0" i="0" spc="0" sz="900" u="none" cap="none" strike="noStrike">
              <a:solidFill>
                <a:schemeClr val="dk1"/>
              </a:solidFill>
              <a:latin typeface="Calibri"/>
              <a:ea typeface="Calibri"/>
              <a:cs typeface="Calibri"/>
              <a:sym typeface="Calibri"/>
            </a:endParaRPr>
          </a:p>
        </p:txBody>
      </p:sp>
      <p:sp>
        <p:nvSpPr>
          <p:cNvPr id="307" name="Google Shape;307;p34"/>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Best among Qwen3-VL-8B systems, </a:t>
            </a:r>
            <a:r>
              <a:rPr b="1" i="0" lang="en-GB" spc="0" sz="1400" u="none" cap="none" strike="noStrike">
                <a:solidFill>
                  <a:srgbClr val="27348B"/>
                </a:solidFill>
                <a:latin typeface="Calibri"/>
                <a:ea typeface="Calibri"/>
                <a:cs typeface="Calibri"/>
                <a:sym typeface="Calibri"/>
              </a:rPr>
              <a:t>training-free</a:t>
            </a:r>
            <a:r>
              <a:rPr b="0" i="0" lang="en-GB" spc="0" sz="1400" u="none" cap="none" strike="noStrike">
                <a:solidFill>
                  <a:srgbClr val="1B1F2A"/>
                </a:solidFill>
                <a:latin typeface="Calibri"/>
                <a:ea typeface="Calibri"/>
                <a:cs typeface="Calibri"/>
                <a:sym typeface="Calibri"/>
              </a:rPr>
              <a:t> and at 4-bit.</a:t>
            </a:r>
            <a:endParaRPr b="0" i="0" spc="0" sz="1400" u="none" cap="none" strike="noStrike">
              <a:solidFill>
                <a:schemeClr val="dk1"/>
              </a:solidFill>
              <a:latin typeface="Calibri"/>
              <a:ea typeface="Calibri"/>
              <a:cs typeface="Calibri"/>
              <a:sym typeface="Calibri"/>
            </a:endParaRPr>
          </a:p>
        </p:txBody>
      </p:sp>
      <p:pic>
        <p:nvPicPr>
          <p:cNvPr descr="Method results table" id="308" name="Google Shape;308;p34"/>
          <p:cNvPicPr preferRelativeResize="0"/>
          <p:nvPr/>
        </p:nvPicPr>
        <p:blipFill rotWithShape="1">
          <a:blip r:embed="rId3">
            <a:alphaModFix/>
          </a:blip>
          <a:srcRect b="0" l="0" r="0" t="0"/>
          <a:stretch/>
        </p:blipFill>
        <p:spPr>
          <a:xfrm>
            <a:off x="411480" y="1131570"/>
            <a:ext cx="8320811" cy="2661220"/>
          </a:xfrm>
          <a:prstGeom prst="rect">
            <a:avLst/>
          </a:prstGeom>
          <a:noFill/>
          <a:ln>
            <a:noFill/>
          </a:ln>
        </p:spPr>
      </p:pic>
      <p:sp>
        <p:nvSpPr>
          <p:cNvPr id="309" name="Google Shape;309;p34"/>
          <p:cNvSpPr txBox="1"/>
          <p:nvPr/>
        </p:nvSpPr>
        <p:spPr>
          <a:xfrm>
            <a:off x="411480" y="3943350"/>
            <a:ext cx="8320811" cy="6515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1" i="0" lang="en-GB" spc="0" sz="1400" u="none" cap="none" strike="noStrike">
                <a:solidFill>
                  <a:srgbClr val="1B1F2A"/>
                </a:solidFill>
                <a:latin typeface="Calibri"/>
                <a:ea typeface="Calibri"/>
                <a:cs typeface="Calibri"/>
                <a:sym typeface="Calibri"/>
              </a:rPr>
              <a:t>56.5%</a:t>
            </a:r>
            <a:r>
              <a:rPr b="0" i="0" lang="en-GB" spc="0" sz="1400" u="none" cap="none" strike="noStrike">
                <a:solidFill>
                  <a:srgbClr val="1B1F2A"/>
                </a:solidFill>
                <a:latin typeface="Calibri"/>
                <a:ea typeface="Calibri"/>
                <a:cs typeface="Calibri"/>
                <a:sym typeface="Calibri"/>
              </a:rPr>
              <a:t> MMLongBench-Doc  ·  </a:t>
            </a:r>
            <a:r>
              <a:rPr b="1" i="0" lang="en-GB" spc="0" sz="1400" u="none" cap="none" strike="noStrike">
                <a:solidFill>
                  <a:srgbClr val="1B1F2A"/>
                </a:solidFill>
                <a:latin typeface="Calibri"/>
                <a:ea typeface="Calibri"/>
                <a:cs typeface="Calibri"/>
                <a:sym typeface="Calibri"/>
              </a:rPr>
              <a:t>61.3%</a:t>
            </a:r>
            <a:r>
              <a:rPr b="0" i="0" lang="en-GB" spc="0" sz="1400" u="none" cap="none" strike="noStrike">
                <a:solidFill>
                  <a:srgbClr val="1B1F2A"/>
                </a:solidFill>
                <a:latin typeface="Calibri"/>
                <a:ea typeface="Calibri"/>
                <a:cs typeface="Calibri"/>
                <a:sym typeface="Calibri"/>
              </a:rPr>
              <a:t> LongDocURL</a:t>
            </a:r>
            <a:endParaRPr b="0" i="0" spc="0" sz="1400" u="none" cap="none" strike="noStrike">
              <a:solidFill>
                <a:schemeClr val="dk1"/>
              </a:solidFill>
              <a:latin typeface="Calibri"/>
              <a:ea typeface="Calibri"/>
              <a:cs typeface="Calibri"/>
              <a:sym typeface="Calibri"/>
            </a:endParaRPr>
          </a:p>
          <a:p>
            <a:pPr indent="-177800" lvl="0" marL="177800" marR="0" rtl="0" algn="l">
              <a:lnSpc>
                <a:spcPct val="100000"/>
              </a:lnSpc>
              <a:spcBef>
                <a:spcPts val="300"/>
              </a:spcBef>
              <a:spcAft>
                <a:spcPts val="0"/>
              </a:spcAft>
              <a:buClr>
                <a:srgbClr val="1B1F2A"/>
              </a:buClr>
              <a:buSzPts val="1400"/>
              <a:buFont typeface="Calibri"/>
              <a:buChar char="•"/>
            </a:pPr>
            <a:r>
              <a:rPr b="0" i="0" lang="en-GB" spc="0" sz="1400" u="none" cap="none" strike="noStrike">
                <a:solidFill>
                  <a:srgbClr val="1B1F2A"/>
                </a:solidFill>
                <a:latin typeface="Calibri"/>
                <a:ea typeface="Calibri"/>
                <a:cs typeface="Calibri"/>
                <a:sym typeface="Calibri"/>
              </a:rPr>
              <a:t>Trade-off: ~10.8 min per question; multi-page still trails DocTrace (39.2 vs 41.1)</a:t>
            </a:r>
            <a:endParaRPr b="0" i="0" spc="0" sz="1400" u="none" cap="none" strike="noStrike">
              <a:solidFill>
                <a:schemeClr val="dk1"/>
              </a:solidFill>
              <a:latin typeface="Calibri"/>
              <a:ea typeface="Calibri"/>
              <a:cs typeface="Calibri"/>
              <a:sym typeface="Calibri"/>
            </a:endParaRPr>
          </a:p>
        </p:txBody>
      </p:sp>
      <p:sp>
        <p:nvSpPr>
          <p:cNvPr id="310" name="Google Shape;310;p34"/>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5"/>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Conclusion</a:t>
            </a:r>
            <a:endParaRPr sz="2300"/>
          </a:p>
        </p:txBody>
      </p:sp>
      <p:sp>
        <p:nvSpPr>
          <p:cNvPr id="317" name="Google Shape;317;p35"/>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4 · Method &amp; conclusion</a:t>
            </a:r>
            <a:endParaRPr b="0" i="0" spc="0" sz="900" u="none" cap="none" strike="noStrike">
              <a:solidFill>
                <a:schemeClr val="dk1"/>
              </a:solidFill>
              <a:latin typeface="Calibri"/>
              <a:ea typeface="Calibri"/>
              <a:cs typeface="Calibri"/>
              <a:sym typeface="Calibri"/>
            </a:endParaRPr>
          </a:p>
        </p:txBody>
      </p:sp>
      <p:sp>
        <p:nvSpPr>
          <p:cNvPr id="318" name="Google Shape;318;p35"/>
          <p:cNvSpPr txBox="1"/>
          <p:nvPr/>
        </p:nvSpPr>
        <p:spPr>
          <a:xfrm>
            <a:off x="411480" y="925830"/>
            <a:ext cx="68580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1B650"/>
              </a:buClr>
              <a:buSzPts val="1800"/>
              <a:buFont typeface="Calibri"/>
              <a:buNone/>
            </a:pPr>
            <a:r>
              <a:rPr b="1" i="0" lang="en-GB" spc="0" sz="1800" u="none" cap="none" strike="noStrike">
                <a:solidFill>
                  <a:srgbClr val="E1B650"/>
                </a:solidFill>
                <a:latin typeface="Calibri"/>
                <a:ea typeface="Calibri"/>
                <a:cs typeface="Calibri"/>
                <a:sym typeface="Calibri"/>
              </a:rPr>
              <a:t>RQ1</a:t>
            </a:r>
            <a:endParaRPr b="0" i="0" spc="0" sz="1800" u="none" cap="none" strike="noStrike">
              <a:solidFill>
                <a:schemeClr val="dk1"/>
              </a:solidFill>
              <a:latin typeface="Calibri"/>
              <a:ea typeface="Calibri"/>
              <a:cs typeface="Calibri"/>
              <a:sym typeface="Calibri"/>
            </a:endParaRPr>
          </a:p>
        </p:txBody>
      </p:sp>
      <p:sp>
        <p:nvSpPr>
          <p:cNvPr id="319" name="Google Shape;319;p35"/>
          <p:cNvSpPr txBox="1"/>
          <p:nvPr/>
        </p:nvSpPr>
        <p:spPr>
          <a:xfrm>
            <a:off x="1165860" y="953262"/>
            <a:ext cx="7566431"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Multi-page understanding is </a:t>
            </a:r>
            <a:r>
              <a:rPr b="1" i="0" lang="en-GB" spc="0" sz="1500" u="none" cap="none" strike="noStrike">
                <a:solidFill>
                  <a:schemeClr val="accent2"/>
                </a:solidFill>
                <a:latin typeface="Calibri"/>
                <a:ea typeface="Calibri"/>
                <a:cs typeface="Calibri"/>
                <a:sym typeface="Calibri"/>
              </a:rPr>
              <a:t>evidence management</a:t>
            </a:r>
            <a:r>
              <a:rPr b="0" i="0" lang="en-GB" spc="0" sz="1500" u="none" cap="none" strike="noStrike">
                <a:solidFill>
                  <a:schemeClr val="accent2"/>
                </a:solidFill>
                <a:latin typeface="Calibri"/>
                <a:ea typeface="Calibri"/>
                <a:cs typeface="Calibri"/>
                <a:sym typeface="Calibri"/>
              </a:rPr>
              <a:t>,</a:t>
            </a:r>
            <a:r>
              <a:rPr b="0" i="0" lang="en-GB" spc="0" sz="1500" u="none" cap="none" strike="noStrike">
                <a:solidFill>
                  <a:srgbClr val="1B1F2A"/>
                </a:solidFill>
                <a:latin typeface="Calibri"/>
                <a:ea typeface="Calibri"/>
                <a:cs typeface="Calibri"/>
                <a:sym typeface="Calibri"/>
              </a:rPr>
              <a:t> in four families</a:t>
            </a:r>
            <a:r>
              <a:rPr b="0" i="0" lang="en-GB" spc="0" sz="1500" u="none" cap="none" strike="noStrike">
                <a:solidFill>
                  <a:srgbClr val="5A6072"/>
                </a:solidFill>
                <a:latin typeface="Calibri"/>
                <a:ea typeface="Calibri"/>
                <a:cs typeface="Calibri"/>
                <a:sym typeface="Calibri"/>
              </a:rPr>
              <a:t>   EMNLP 2026 Main</a:t>
            </a:r>
            <a:endParaRPr b="0" i="0" spc="0" sz="1500" u="none" cap="none" strike="noStrike">
              <a:solidFill>
                <a:schemeClr val="dk1"/>
              </a:solidFill>
              <a:latin typeface="Calibri"/>
              <a:ea typeface="Calibri"/>
              <a:cs typeface="Calibri"/>
              <a:sym typeface="Calibri"/>
            </a:endParaRPr>
          </a:p>
        </p:txBody>
      </p:sp>
      <p:sp>
        <p:nvSpPr>
          <p:cNvPr id="320" name="Google Shape;320;p35"/>
          <p:cNvSpPr txBox="1"/>
          <p:nvPr/>
        </p:nvSpPr>
        <p:spPr>
          <a:xfrm>
            <a:off x="411480" y="1577340"/>
            <a:ext cx="68580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1B650"/>
              </a:buClr>
              <a:buSzPts val="1800"/>
              <a:buFont typeface="Calibri"/>
              <a:buNone/>
            </a:pPr>
            <a:r>
              <a:rPr b="1" i="0" lang="en-GB" spc="0" sz="1800" u="none" cap="none" strike="noStrike">
                <a:solidFill>
                  <a:srgbClr val="E1B650"/>
                </a:solidFill>
                <a:latin typeface="Calibri"/>
                <a:ea typeface="Calibri"/>
                <a:cs typeface="Calibri"/>
                <a:sym typeface="Calibri"/>
              </a:rPr>
              <a:t>RQ2</a:t>
            </a:r>
            <a:endParaRPr b="0" i="0" spc="0" sz="1800" u="none" cap="none" strike="noStrike">
              <a:solidFill>
                <a:schemeClr val="dk1"/>
              </a:solidFill>
              <a:latin typeface="Calibri"/>
              <a:ea typeface="Calibri"/>
              <a:cs typeface="Calibri"/>
              <a:sym typeface="Calibri"/>
            </a:endParaRPr>
          </a:p>
        </p:txBody>
      </p:sp>
      <p:sp>
        <p:nvSpPr>
          <p:cNvPr id="321" name="Google Shape;321;p35"/>
          <p:cNvSpPr txBox="1"/>
          <p:nvPr/>
        </p:nvSpPr>
        <p:spPr>
          <a:xfrm>
            <a:off x="1165860" y="1604772"/>
            <a:ext cx="7566431"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Failures sit at </a:t>
            </a:r>
            <a:r>
              <a:rPr b="1" i="0" lang="en-GB" spc="0" sz="1500" u="none" cap="none" strike="noStrike">
                <a:solidFill>
                  <a:schemeClr val="accent2"/>
                </a:solidFill>
                <a:latin typeface="Calibri"/>
                <a:ea typeface="Calibri"/>
                <a:cs typeface="Calibri"/>
                <a:sym typeface="Calibri"/>
              </a:rPr>
              <a:t>representation, selection or reasoning</a:t>
            </a:r>
            <a:r>
              <a:rPr b="0" i="0" lang="en-GB" spc="0" sz="1500" u="none" cap="none" strike="noStrike">
                <a:solidFill>
                  <a:schemeClr val="accent2"/>
                </a:solidFill>
                <a:latin typeface="Calibri"/>
                <a:ea typeface="Calibri"/>
                <a:cs typeface="Calibri"/>
                <a:sym typeface="Calibri"/>
              </a:rPr>
              <a:t>,</a:t>
            </a:r>
            <a:r>
              <a:rPr b="0" i="0" lang="en-GB" spc="0" sz="1500" u="none" cap="none" strike="noStrike">
                <a:solidFill>
                  <a:srgbClr val="1B1F2A"/>
                </a:solidFill>
                <a:latin typeface="Calibri"/>
                <a:ea typeface="Calibri"/>
                <a:cs typeface="Calibri"/>
                <a:sym typeface="Calibri"/>
              </a:rPr>
              <a:t> each with its own fix</a:t>
            </a:r>
            <a:r>
              <a:rPr b="0" i="0" lang="en-GB" spc="0" sz="1500" u="none" cap="none" strike="noStrike">
                <a:solidFill>
                  <a:srgbClr val="5A6072"/>
                </a:solidFill>
                <a:latin typeface="Calibri"/>
                <a:ea typeface="Calibri"/>
                <a:cs typeface="Calibri"/>
                <a:sym typeface="Calibri"/>
              </a:rPr>
              <a:t>   Under review</a:t>
            </a:r>
            <a:endParaRPr b="0" i="0" spc="0" sz="1500" u="none" cap="none" strike="noStrike">
              <a:solidFill>
                <a:schemeClr val="dk1"/>
              </a:solidFill>
              <a:latin typeface="Calibri"/>
              <a:ea typeface="Calibri"/>
              <a:cs typeface="Calibri"/>
              <a:sym typeface="Calibri"/>
            </a:endParaRPr>
          </a:p>
        </p:txBody>
      </p:sp>
      <p:sp>
        <p:nvSpPr>
          <p:cNvPr id="322" name="Google Shape;322;p35"/>
          <p:cNvSpPr txBox="1"/>
          <p:nvPr/>
        </p:nvSpPr>
        <p:spPr>
          <a:xfrm>
            <a:off x="411480" y="2228850"/>
            <a:ext cx="68580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1B650"/>
              </a:buClr>
              <a:buSzPts val="1800"/>
              <a:buFont typeface="Calibri"/>
              <a:buNone/>
            </a:pPr>
            <a:r>
              <a:rPr b="1" i="0" lang="en-GB" spc="0" sz="1800" u="none" cap="none" strike="noStrike">
                <a:solidFill>
                  <a:srgbClr val="E1B650"/>
                </a:solidFill>
                <a:latin typeface="Calibri"/>
                <a:ea typeface="Calibri"/>
                <a:cs typeface="Calibri"/>
                <a:sym typeface="Calibri"/>
              </a:rPr>
              <a:t>RQ3</a:t>
            </a:r>
            <a:endParaRPr b="0" i="0" spc="0" sz="1800" u="none" cap="none" strike="noStrike">
              <a:solidFill>
                <a:schemeClr val="dk1"/>
              </a:solidFill>
              <a:latin typeface="Calibri"/>
              <a:ea typeface="Calibri"/>
              <a:cs typeface="Calibri"/>
              <a:sym typeface="Calibri"/>
            </a:endParaRPr>
          </a:p>
        </p:txBody>
      </p:sp>
      <p:sp>
        <p:nvSpPr>
          <p:cNvPr id="323" name="Google Shape;323;p35"/>
          <p:cNvSpPr txBox="1"/>
          <p:nvPr/>
        </p:nvSpPr>
        <p:spPr>
          <a:xfrm>
            <a:off x="1165860" y="2256282"/>
            <a:ext cx="7566431"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A </a:t>
            </a:r>
            <a:r>
              <a:rPr b="1" i="0" lang="en-GB" spc="0" sz="1500" u="none" cap="none" strike="noStrike">
                <a:solidFill>
                  <a:schemeClr val="accent2"/>
                </a:solidFill>
                <a:latin typeface="Calibri"/>
                <a:ea typeface="Calibri"/>
                <a:cs typeface="Calibri"/>
                <a:sym typeface="Calibri"/>
              </a:rPr>
              <a:t>training-free</a:t>
            </a:r>
            <a:r>
              <a:rPr b="0" i="0" lang="en-GB" spc="0" sz="1500" u="none" cap="none" strike="noStrike">
                <a:solidFill>
                  <a:srgbClr val="1B1F2A"/>
                </a:solidFill>
                <a:latin typeface="Calibri"/>
                <a:ea typeface="Calibri"/>
                <a:cs typeface="Calibri"/>
                <a:sym typeface="Calibri"/>
              </a:rPr>
              <a:t> system built on these findings is competitive under a fixed budget</a:t>
            </a:r>
            <a:endParaRPr b="0" i="0" spc="0" sz="1500" u="none" cap="none" strike="noStrike">
              <a:solidFill>
                <a:schemeClr val="dk1"/>
              </a:solidFill>
              <a:latin typeface="Calibri"/>
              <a:ea typeface="Calibri"/>
              <a:cs typeface="Calibri"/>
              <a:sym typeface="Calibri"/>
            </a:endParaRPr>
          </a:p>
        </p:txBody>
      </p:sp>
      <p:sp>
        <p:nvSpPr>
          <p:cNvPr id="324" name="Google Shape;324;p35"/>
          <p:cNvSpPr txBox="1"/>
          <p:nvPr/>
        </p:nvSpPr>
        <p:spPr>
          <a:xfrm>
            <a:off x="411480" y="2948940"/>
            <a:ext cx="8320811"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1" i="0" lang="en-GB" spc="0" sz="1400" u="none" cap="none" strike="noStrike">
                <a:solidFill>
                  <a:srgbClr val="1B1F2A"/>
                </a:solidFill>
                <a:latin typeface="Calibri"/>
                <a:ea typeface="Calibri"/>
                <a:cs typeface="Calibri"/>
                <a:sym typeface="Calibri"/>
              </a:rPr>
              <a:t>Future work: </a:t>
            </a:r>
            <a:r>
              <a:rPr b="0" i="0" lang="en-GB" spc="0" sz="1400" u="none" cap="none" strike="noStrike">
                <a:solidFill>
                  <a:srgbClr val="5A6072"/>
                </a:solidFill>
                <a:latin typeface="Calibri"/>
                <a:ea typeface="Calibri"/>
                <a:cs typeface="Calibri"/>
                <a:sym typeface="Calibri"/>
              </a:rPr>
              <a:t>structure-aware retrieval · calibrated abstention · cost as a first-class metric</a:t>
            </a:r>
            <a:endParaRPr b="0" i="0" spc="0" sz="1400" u="none" cap="none" strike="noStrike">
              <a:solidFill>
                <a:schemeClr val="dk1"/>
              </a:solidFill>
              <a:latin typeface="Calibri"/>
              <a:ea typeface="Calibri"/>
              <a:cs typeface="Calibri"/>
              <a:sym typeface="Calibri"/>
            </a:endParaRPr>
          </a:p>
        </p:txBody>
      </p:sp>
      <p:cxnSp>
        <p:nvCxnSpPr>
          <p:cNvPr id="325" name="Google Shape;325;p35"/>
          <p:cNvCxnSpPr/>
          <p:nvPr/>
        </p:nvCxnSpPr>
        <p:spPr>
          <a:xfrm>
            <a:off x="411480" y="3463290"/>
            <a:ext cx="8320811" cy="0"/>
          </a:xfrm>
          <a:prstGeom prst="straightConnector1">
            <a:avLst/>
          </a:prstGeom>
          <a:noFill/>
          <a:ln cap="flat" cmpd="sng" w="12700">
            <a:solidFill>
              <a:srgbClr val="C9CDD9"/>
            </a:solidFill>
            <a:prstDash val="solid"/>
            <a:round/>
            <a:headEnd len="sm" w="sm" type="none"/>
            <a:tailEnd len="sm" w="sm" type="none"/>
          </a:ln>
        </p:spPr>
      </p:cxnSp>
      <p:sp>
        <p:nvSpPr>
          <p:cNvPr id="326" name="Google Shape;326;p35"/>
          <p:cNvSpPr txBox="1"/>
          <p:nvPr/>
        </p:nvSpPr>
        <p:spPr>
          <a:xfrm>
            <a:off x="411480" y="3634740"/>
            <a:ext cx="5486400" cy="6172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3000"/>
              <a:buFont typeface="Calibri"/>
              <a:buNone/>
            </a:pPr>
            <a:r>
              <a:rPr b="1" i="0" lang="en-GB" spc="0" sz="3000" u="none" cap="none" strike="noStrike">
                <a:solidFill>
                  <a:srgbClr val="27348B"/>
                </a:solidFill>
                <a:latin typeface="Calibri"/>
                <a:ea typeface="Calibri"/>
                <a:cs typeface="Calibri"/>
                <a:sym typeface="Calibri"/>
              </a:rPr>
              <a:t>Thank you  ·  Questions?</a:t>
            </a:r>
            <a:endParaRPr b="0" i="0" spc="0" sz="3000" u="none" cap="none" strike="noStrike">
              <a:solidFill>
                <a:schemeClr val="dk1"/>
              </a:solidFill>
              <a:latin typeface="Calibri"/>
              <a:ea typeface="Calibri"/>
              <a:cs typeface="Calibri"/>
              <a:sym typeface="Calibri"/>
            </a:endParaRPr>
          </a:p>
        </p:txBody>
      </p:sp>
      <p:pic>
        <p:nvPicPr>
          <p:cNvPr descr="emnlp2026_logo.png" id="327" name="Google Shape;327;p35"/>
          <p:cNvPicPr preferRelativeResize="0"/>
          <p:nvPr/>
        </p:nvPicPr>
        <p:blipFill rotWithShape="1">
          <a:blip r:embed="rId3">
            <a:alphaModFix/>
          </a:blip>
          <a:srcRect b="0" l="0" r="0" t="0"/>
          <a:stretch/>
        </p:blipFill>
        <p:spPr>
          <a:xfrm>
            <a:off x="6949211" y="3753760"/>
            <a:ext cx="1783080" cy="310600"/>
          </a:xfrm>
          <a:prstGeom prst="rect">
            <a:avLst/>
          </a:prstGeom>
          <a:noFill/>
          <a:ln>
            <a:noFill/>
          </a:ln>
        </p:spPr>
      </p:pic>
      <p:sp>
        <p:nvSpPr>
          <p:cNvPr id="328" name="Google Shape;328;p35"/>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6"/>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Open Challenges</a:t>
            </a:r>
            <a:endParaRPr sz="2300"/>
          </a:p>
        </p:txBody>
      </p:sp>
      <p:sp>
        <p:nvSpPr>
          <p:cNvPr id="335" name="Google Shape;335;p36"/>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 · EMNLP 2026 Main</a:t>
            </a:r>
            <a:endParaRPr b="0" i="0" spc="0" sz="900" u="none" cap="none" strike="noStrike">
              <a:solidFill>
                <a:schemeClr val="dk1"/>
              </a:solidFill>
              <a:latin typeface="Calibri"/>
              <a:ea typeface="Calibri"/>
              <a:cs typeface="Calibri"/>
              <a:sym typeface="Calibri"/>
            </a:endParaRPr>
          </a:p>
        </p:txBody>
      </p:sp>
      <p:sp>
        <p:nvSpPr>
          <p:cNvPr id="336" name="Google Shape;336;p36"/>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Each design </a:t>
            </a:r>
            <a:r>
              <a:rPr b="1" i="0" lang="en-GB" spc="0" sz="1400" u="none" cap="none" strike="noStrike">
                <a:solidFill>
                  <a:schemeClr val="accent2"/>
                </a:solidFill>
                <a:latin typeface="Calibri"/>
                <a:ea typeface="Calibri"/>
                <a:cs typeface="Calibri"/>
                <a:sym typeface="Calibri"/>
              </a:rPr>
              <a:t>relocates the bottleneck</a:t>
            </a:r>
            <a:r>
              <a:rPr b="0" i="0" lang="en-GB" spc="0" sz="1400" u="none" cap="none" strike="noStrike">
                <a:solidFill>
                  <a:srgbClr val="1B1F2A"/>
                </a:solidFill>
                <a:latin typeface="Calibri"/>
                <a:ea typeface="Calibri"/>
                <a:cs typeface="Calibri"/>
                <a:sym typeface="Calibri"/>
              </a:rPr>
              <a:t> rather than removing it.</a:t>
            </a:r>
            <a:endParaRPr b="0" i="0" spc="0" sz="1400" u="none" cap="none" strike="noStrike">
              <a:solidFill>
                <a:schemeClr val="dk1"/>
              </a:solidFill>
              <a:latin typeface="Calibri"/>
              <a:ea typeface="Calibri"/>
              <a:cs typeface="Calibri"/>
              <a:sym typeface="Calibri"/>
            </a:endParaRPr>
          </a:p>
        </p:txBody>
      </p:sp>
      <p:sp>
        <p:nvSpPr>
          <p:cNvPr id="337" name="Google Shape;337;p36"/>
          <p:cNvSpPr txBox="1"/>
          <p:nvPr/>
        </p:nvSpPr>
        <p:spPr>
          <a:xfrm>
            <a:off x="411476" y="1234450"/>
            <a:ext cx="2949000" cy="3429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27348B"/>
              </a:buClr>
              <a:buSzPts val="1500"/>
              <a:buFont typeface="Calibri"/>
              <a:buChar char="●"/>
            </a:pPr>
            <a:r>
              <a:rPr b="1" i="0" lang="en-GB" spc="0" sz="1500" u="none" cap="none" strike="noStrike">
                <a:solidFill>
                  <a:srgbClr val="27348B"/>
                </a:solidFill>
                <a:latin typeface="Calibri"/>
                <a:ea typeface="Calibri"/>
                <a:cs typeface="Calibri"/>
                <a:sym typeface="Calibri"/>
              </a:rPr>
              <a:t>Evidence pipeline</a:t>
            </a:r>
            <a:endParaRPr b="0" i="0" spc="0" sz="1500" u="none" cap="none" strike="noStrike">
              <a:solidFill>
                <a:schemeClr val="dk1"/>
              </a:solidFill>
              <a:latin typeface="Calibri"/>
              <a:ea typeface="Calibri"/>
              <a:cs typeface="Calibri"/>
              <a:sym typeface="Calibri"/>
            </a:endParaRPr>
          </a:p>
        </p:txBody>
      </p:sp>
      <p:sp>
        <p:nvSpPr>
          <p:cNvPr id="338" name="Google Shape;338;p36"/>
          <p:cNvSpPr txBox="1"/>
          <p:nvPr/>
        </p:nvSpPr>
        <p:spPr>
          <a:xfrm>
            <a:off x="3429000" y="1234440"/>
            <a:ext cx="521208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High-resolution reading vs document-scale aggregation</a:t>
            </a:r>
            <a:endParaRPr b="0" i="0" spc="0" sz="1500" u="none" cap="none" strike="noStrike">
              <a:solidFill>
                <a:schemeClr val="dk1"/>
              </a:solidFill>
              <a:latin typeface="Calibri"/>
              <a:ea typeface="Calibri"/>
              <a:cs typeface="Calibri"/>
              <a:sym typeface="Calibri"/>
            </a:endParaRPr>
          </a:p>
        </p:txBody>
      </p:sp>
      <p:sp>
        <p:nvSpPr>
          <p:cNvPr id="339" name="Google Shape;339;p36"/>
          <p:cNvSpPr txBox="1"/>
          <p:nvPr/>
        </p:nvSpPr>
        <p:spPr>
          <a:xfrm>
            <a:off x="411426" y="1796800"/>
            <a:ext cx="2949000" cy="3429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27348B"/>
              </a:buClr>
              <a:buSzPts val="1500"/>
              <a:buFont typeface="Calibri"/>
              <a:buChar char="●"/>
            </a:pPr>
            <a:r>
              <a:rPr b="1" i="0" lang="en-GB" spc="0" sz="1500" u="none" cap="none" strike="noStrike">
                <a:solidFill>
                  <a:srgbClr val="27348B"/>
                </a:solidFill>
                <a:latin typeface="Calibri"/>
                <a:ea typeface="Calibri"/>
                <a:cs typeface="Calibri"/>
                <a:sym typeface="Calibri"/>
              </a:rPr>
              <a:t>Faithfulness</a:t>
            </a:r>
            <a:endParaRPr b="0" i="0" spc="0" sz="1500" u="none" cap="none" strike="noStrike">
              <a:solidFill>
                <a:schemeClr val="dk1"/>
              </a:solidFill>
              <a:latin typeface="Calibri"/>
              <a:ea typeface="Calibri"/>
              <a:cs typeface="Calibri"/>
              <a:sym typeface="Calibri"/>
            </a:endParaRPr>
          </a:p>
        </p:txBody>
      </p:sp>
      <p:sp>
        <p:nvSpPr>
          <p:cNvPr id="340" name="Google Shape;340;p36"/>
          <p:cNvSpPr txBox="1"/>
          <p:nvPr/>
        </p:nvSpPr>
        <p:spPr>
          <a:xfrm>
            <a:off x="3429000" y="1796796"/>
            <a:ext cx="521208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Few systems abstain or ground answers in evidence</a:t>
            </a:r>
            <a:endParaRPr b="0" i="0" spc="0" sz="1500" u="none" cap="none" strike="noStrike">
              <a:solidFill>
                <a:schemeClr val="dk1"/>
              </a:solidFill>
              <a:latin typeface="Calibri"/>
              <a:ea typeface="Calibri"/>
              <a:cs typeface="Calibri"/>
              <a:sym typeface="Calibri"/>
            </a:endParaRPr>
          </a:p>
        </p:txBody>
      </p:sp>
      <p:sp>
        <p:nvSpPr>
          <p:cNvPr id="341" name="Google Shape;341;p36"/>
          <p:cNvSpPr txBox="1"/>
          <p:nvPr/>
        </p:nvSpPr>
        <p:spPr>
          <a:xfrm>
            <a:off x="411426" y="2359150"/>
            <a:ext cx="2949000" cy="3087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27348B"/>
              </a:buClr>
              <a:buSzPts val="1500"/>
              <a:buFont typeface="Calibri"/>
              <a:buChar char="●"/>
            </a:pPr>
            <a:r>
              <a:rPr b="1" i="0" lang="en-GB" spc="0" sz="1500" u="none" cap="none" strike="noStrike">
                <a:solidFill>
                  <a:srgbClr val="27348B"/>
                </a:solidFill>
                <a:latin typeface="Calibri"/>
                <a:ea typeface="Calibri"/>
                <a:cs typeface="Calibri"/>
                <a:sym typeface="Calibri"/>
              </a:rPr>
              <a:t>Efficiency</a:t>
            </a:r>
            <a:endParaRPr b="0" i="0" spc="0" sz="1500" u="none" cap="none" strike="noStrike">
              <a:solidFill>
                <a:schemeClr val="dk1"/>
              </a:solidFill>
              <a:latin typeface="Calibri"/>
              <a:ea typeface="Calibri"/>
              <a:cs typeface="Calibri"/>
              <a:sym typeface="Calibri"/>
            </a:endParaRPr>
          </a:p>
        </p:txBody>
      </p:sp>
      <p:sp>
        <p:nvSpPr>
          <p:cNvPr id="342" name="Google Shape;342;p36"/>
          <p:cNvSpPr txBox="1"/>
          <p:nvPr/>
        </p:nvSpPr>
        <p:spPr>
          <a:xfrm>
            <a:off x="3429000" y="2359152"/>
            <a:ext cx="521208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Latency and token cost are rarely reported</a:t>
            </a:r>
            <a:endParaRPr b="0" i="0" spc="0" sz="1500" u="none" cap="none" strike="noStrike">
              <a:solidFill>
                <a:schemeClr val="dk1"/>
              </a:solidFill>
              <a:latin typeface="Calibri"/>
              <a:ea typeface="Calibri"/>
              <a:cs typeface="Calibri"/>
              <a:sym typeface="Calibri"/>
            </a:endParaRPr>
          </a:p>
        </p:txBody>
      </p:sp>
      <p:sp>
        <p:nvSpPr>
          <p:cNvPr id="343" name="Google Shape;343;p36"/>
          <p:cNvSpPr txBox="1"/>
          <p:nvPr/>
        </p:nvSpPr>
        <p:spPr>
          <a:xfrm>
            <a:off x="411426" y="2921500"/>
            <a:ext cx="2949000" cy="3429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27348B"/>
              </a:buClr>
              <a:buSzPts val="1500"/>
              <a:buFont typeface="Calibri"/>
              <a:buChar char="●"/>
            </a:pPr>
            <a:r>
              <a:rPr b="1" i="0" lang="en-GB" spc="0" sz="1500" u="none" cap="none" strike="noStrike">
                <a:solidFill>
                  <a:srgbClr val="27348B"/>
                </a:solidFill>
                <a:latin typeface="Calibri"/>
                <a:ea typeface="Calibri"/>
                <a:cs typeface="Calibri"/>
                <a:sym typeface="Calibri"/>
              </a:rPr>
              <a:t>Contamination</a:t>
            </a:r>
            <a:endParaRPr b="0" i="0" spc="0" sz="1500" u="none" cap="none" strike="noStrike">
              <a:solidFill>
                <a:schemeClr val="dk1"/>
              </a:solidFill>
              <a:latin typeface="Calibri"/>
              <a:ea typeface="Calibri"/>
              <a:cs typeface="Calibri"/>
              <a:sym typeface="Calibri"/>
            </a:endParaRPr>
          </a:p>
        </p:txBody>
      </p:sp>
      <p:sp>
        <p:nvSpPr>
          <p:cNvPr id="344" name="Google Shape;344;p36"/>
          <p:cNvSpPr txBox="1"/>
          <p:nvPr/>
        </p:nvSpPr>
        <p:spPr>
          <a:xfrm>
            <a:off x="3429000" y="2921508"/>
            <a:ext cx="521208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Training and test sets share source PDFs</a:t>
            </a:r>
            <a:endParaRPr b="0" i="0" spc="0" sz="1500" u="none" cap="none" strike="noStrike">
              <a:solidFill>
                <a:schemeClr val="dk1"/>
              </a:solidFill>
              <a:latin typeface="Calibri"/>
              <a:ea typeface="Calibri"/>
              <a:cs typeface="Calibri"/>
              <a:sym typeface="Calibri"/>
            </a:endParaRPr>
          </a:p>
        </p:txBody>
      </p:sp>
      <p:sp>
        <p:nvSpPr>
          <p:cNvPr id="345" name="Google Shape;345;p36"/>
          <p:cNvSpPr txBox="1"/>
          <p:nvPr/>
        </p:nvSpPr>
        <p:spPr>
          <a:xfrm>
            <a:off x="411426" y="3483873"/>
            <a:ext cx="2949000" cy="3087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27348B"/>
              </a:buClr>
              <a:buSzPts val="1500"/>
              <a:buFont typeface="Calibri"/>
              <a:buChar char="●"/>
            </a:pPr>
            <a:r>
              <a:rPr b="1" i="0" lang="en-GB" spc="0" sz="1500" u="none" cap="none" strike="noStrike">
                <a:solidFill>
                  <a:srgbClr val="27348B"/>
                </a:solidFill>
                <a:latin typeface="Calibri"/>
                <a:ea typeface="Calibri"/>
                <a:cs typeface="Calibri"/>
                <a:sym typeface="Calibri"/>
              </a:rPr>
              <a:t>Evaluation</a:t>
            </a:r>
            <a:endParaRPr b="0" i="0" spc="0" sz="1500" u="none" cap="none" strike="noStrike">
              <a:solidFill>
                <a:schemeClr val="dk1"/>
              </a:solidFill>
              <a:latin typeface="Calibri"/>
              <a:ea typeface="Calibri"/>
              <a:cs typeface="Calibri"/>
              <a:sym typeface="Calibri"/>
            </a:endParaRPr>
          </a:p>
        </p:txBody>
      </p:sp>
      <p:sp>
        <p:nvSpPr>
          <p:cNvPr id="346" name="Google Shape;346;p36"/>
          <p:cNvSpPr txBox="1"/>
          <p:nvPr/>
        </p:nvSpPr>
        <p:spPr>
          <a:xfrm>
            <a:off x="3429000" y="3483864"/>
            <a:ext cx="521208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Answer-only scores, mostly English VQA</a:t>
            </a:r>
            <a:endParaRPr b="0" i="0" spc="0" sz="1500" u="none" cap="none" strike="noStrike">
              <a:solidFill>
                <a:schemeClr val="dk1"/>
              </a:solidFill>
              <a:latin typeface="Calibri"/>
              <a:ea typeface="Calibri"/>
              <a:cs typeface="Calibri"/>
              <a:sym typeface="Calibri"/>
            </a:endParaRPr>
          </a:p>
        </p:txBody>
      </p:sp>
      <p:sp>
        <p:nvSpPr>
          <p:cNvPr id="347" name="Google Shape;347;p36"/>
          <p:cNvSpPr txBox="1"/>
          <p:nvPr/>
        </p:nvSpPr>
        <p:spPr>
          <a:xfrm>
            <a:off x="411480" y="4149090"/>
            <a:ext cx="8320811"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Missing: an end-to-end account of </a:t>
            </a:r>
            <a:r>
              <a:rPr b="1" i="0" lang="en-GB" spc="0" sz="1500" u="none" cap="none" strike="noStrike">
                <a:solidFill>
                  <a:schemeClr val="accent2"/>
                </a:solidFill>
                <a:latin typeface="Calibri"/>
                <a:ea typeface="Calibri"/>
                <a:cs typeface="Calibri"/>
                <a:sym typeface="Calibri"/>
              </a:rPr>
              <a:t>where systems fail</a:t>
            </a:r>
            <a:r>
              <a:rPr b="0" i="0" lang="en-GB" spc="0" sz="1500" u="none" cap="none" strike="noStrike">
                <a:solidFill>
                  <a:srgbClr val="1B1F2A"/>
                </a:solidFill>
                <a:latin typeface="Calibri"/>
                <a:ea typeface="Calibri"/>
                <a:cs typeface="Calibri"/>
                <a:sym typeface="Calibri"/>
              </a:rPr>
              <a:t>  →  Chapter 3</a:t>
            </a:r>
            <a:endParaRPr b="0" i="0" spc="0" sz="1500" u="none" cap="none" strike="noStrike">
              <a:solidFill>
                <a:schemeClr val="dk1"/>
              </a:solidFill>
              <a:latin typeface="Calibri"/>
              <a:ea typeface="Calibri"/>
              <a:cs typeface="Calibri"/>
              <a:sym typeface="Calibri"/>
            </a:endParaRPr>
          </a:p>
        </p:txBody>
      </p:sp>
      <p:sp>
        <p:nvSpPr>
          <p:cNvPr id="348" name="Google Shape;348;p36"/>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7"/>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Backup · Deployment: Accuracy and Cost</a:t>
            </a:r>
            <a:endParaRPr sz="2300"/>
          </a:p>
        </p:txBody>
      </p:sp>
      <p:sp>
        <p:nvSpPr>
          <p:cNvPr id="355" name="Google Shape;355;p37"/>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Backup</a:t>
            </a:r>
            <a:endParaRPr b="0" i="0" spc="0" sz="900" u="none" cap="none" strike="noStrike">
              <a:solidFill>
                <a:schemeClr val="dk1"/>
              </a:solidFill>
              <a:latin typeface="Calibri"/>
              <a:ea typeface="Calibri"/>
              <a:cs typeface="Calibri"/>
              <a:sym typeface="Calibri"/>
            </a:endParaRPr>
          </a:p>
        </p:txBody>
      </p:sp>
      <p:sp>
        <p:nvSpPr>
          <p:cNvPr id="356" name="Google Shape;356;p37"/>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Every representation, retriever and reasoner choice has a cost side.</a:t>
            </a:r>
            <a:endParaRPr b="0" i="0" spc="0" sz="1400" u="none" cap="none" strike="noStrike">
              <a:solidFill>
                <a:schemeClr val="dk1"/>
              </a:solidFill>
              <a:latin typeface="Calibri"/>
              <a:ea typeface="Calibri"/>
              <a:cs typeface="Calibri"/>
              <a:sym typeface="Calibri"/>
            </a:endParaRPr>
          </a:p>
        </p:txBody>
      </p:sp>
      <p:pic>
        <p:nvPicPr>
          <p:cNvPr descr="tbl_deployment.png" id="357" name="Google Shape;357;p37"/>
          <p:cNvPicPr preferRelativeResize="0"/>
          <p:nvPr/>
        </p:nvPicPr>
        <p:blipFill rotWithShape="1">
          <a:blip r:embed="rId3">
            <a:alphaModFix/>
          </a:blip>
          <a:srcRect b="0" l="0" r="0" t="0"/>
          <a:stretch/>
        </p:blipFill>
        <p:spPr>
          <a:xfrm>
            <a:off x="523105" y="1097280"/>
            <a:ext cx="3430214" cy="3531868"/>
          </a:xfrm>
          <a:prstGeom prst="rect">
            <a:avLst/>
          </a:prstGeom>
          <a:noFill/>
          <a:ln>
            <a:noFill/>
          </a:ln>
        </p:spPr>
      </p:pic>
      <p:sp>
        <p:nvSpPr>
          <p:cNvPr id="358" name="Google Shape;358;p37"/>
          <p:cNvSpPr txBox="1"/>
          <p:nvPr/>
        </p:nvSpPr>
        <p:spPr>
          <a:xfrm>
            <a:off x="4572000" y="1819775"/>
            <a:ext cx="3871800" cy="17580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1B1F2A"/>
              </a:buClr>
              <a:buSzPts val="1500"/>
              <a:buFont typeface="Calibri"/>
              <a:buChar char="●"/>
            </a:pPr>
            <a:r>
              <a:rPr b="1" i="0" lang="en-GB" spc="0" sz="1500" u="none" cap="none" strike="noStrike">
                <a:solidFill>
                  <a:srgbClr val="1B1F2A"/>
                </a:solidFill>
                <a:latin typeface="Calibri"/>
                <a:ea typeface="Calibri"/>
                <a:cs typeface="Calibri"/>
                <a:sym typeface="Calibri"/>
              </a:rPr>
              <a:t>Representation</a:t>
            </a:r>
            <a:r>
              <a:rPr b="0" i="0" lang="en-GB" spc="0" sz="1500" u="none" cap="none" strike="noStrike">
                <a:solidFill>
                  <a:srgbClr val="1B1F2A"/>
                </a:solidFill>
                <a:latin typeface="Calibri"/>
                <a:ea typeface="Calibri"/>
                <a:cs typeface="Calibri"/>
                <a:sym typeface="Calibri"/>
              </a:rPr>
              <a:t>: text + image matches parser text + image with fewer tokens; images cost 26.3 s vs 1.8 s prefill</a:t>
            </a:r>
            <a:endParaRPr b="0" i="0" spc="0" sz="1500" u="none" cap="none" strike="noStrike">
              <a:solidFill>
                <a:schemeClr val="dk1"/>
              </a:solidFill>
              <a:latin typeface="Calibri"/>
              <a:ea typeface="Calibri"/>
              <a:cs typeface="Calibri"/>
              <a:sym typeface="Calibri"/>
            </a:endParaRPr>
          </a:p>
          <a:p>
            <a:pPr indent="-323850" lvl="0" marL="457200" marR="0" rtl="0" algn="l">
              <a:lnSpc>
                <a:spcPct val="100000"/>
              </a:lnSpc>
              <a:spcBef>
                <a:spcPts val="1000"/>
              </a:spcBef>
              <a:spcAft>
                <a:spcPts val="0"/>
              </a:spcAft>
              <a:buClr>
                <a:srgbClr val="1B1F2A"/>
              </a:buClr>
              <a:buSzPts val="1500"/>
              <a:buFont typeface="Calibri"/>
              <a:buChar char="●"/>
            </a:pPr>
            <a:r>
              <a:rPr b="1" i="0" lang="en-GB" spc="0" sz="1500" u="none" cap="none" strike="noStrike">
                <a:solidFill>
                  <a:srgbClr val="1B1F2A"/>
                </a:solidFill>
                <a:latin typeface="Calibri"/>
                <a:ea typeface="Calibri"/>
                <a:cs typeface="Calibri"/>
                <a:sym typeface="Calibri"/>
              </a:rPr>
              <a:t>Retriever</a:t>
            </a:r>
            <a:r>
              <a:rPr b="0" i="0" lang="en-GB" spc="0" sz="1500" u="none" cap="none" strike="noStrike">
                <a:solidFill>
                  <a:srgbClr val="1B1F2A"/>
                </a:solidFill>
                <a:latin typeface="Calibri"/>
                <a:ea typeface="Calibri"/>
                <a:cs typeface="Calibri"/>
                <a:sym typeface="Calibri"/>
              </a:rPr>
              <a:t>: ColQwen3 R@5 81.0% vs BM25 58.1%, but needs a GPU</a:t>
            </a:r>
            <a:endParaRPr b="0" i="0" spc="0" sz="1500" u="none" cap="none" strike="noStrike">
              <a:solidFill>
                <a:schemeClr val="dk1"/>
              </a:solidFill>
              <a:latin typeface="Calibri"/>
              <a:ea typeface="Calibri"/>
              <a:cs typeface="Calibri"/>
              <a:sym typeface="Calibri"/>
            </a:endParaRPr>
          </a:p>
          <a:p>
            <a:pPr indent="-323850" lvl="0" marL="457200" marR="0" rtl="0" algn="l">
              <a:lnSpc>
                <a:spcPct val="100000"/>
              </a:lnSpc>
              <a:spcBef>
                <a:spcPts val="1100"/>
              </a:spcBef>
              <a:spcAft>
                <a:spcPts val="1000"/>
              </a:spcAft>
              <a:buClr>
                <a:srgbClr val="1B1F2A"/>
              </a:buClr>
              <a:buSzPts val="1500"/>
              <a:buFont typeface="Calibri"/>
              <a:buChar char="●"/>
            </a:pPr>
            <a:r>
              <a:rPr b="1" i="0" lang="en-GB" spc="0" sz="1500" u="none" cap="none" strike="noStrike">
                <a:solidFill>
                  <a:srgbClr val="1B1F2A"/>
                </a:solidFill>
                <a:latin typeface="Calibri"/>
                <a:ea typeface="Calibri"/>
                <a:cs typeface="Calibri"/>
                <a:sym typeface="Calibri"/>
              </a:rPr>
              <a:t>Reasoner</a:t>
            </a:r>
            <a:r>
              <a:rPr b="0" i="0" lang="en-GB" spc="0" sz="1500" u="none" cap="none" strike="noStrike">
                <a:solidFill>
                  <a:srgbClr val="1B1F2A"/>
                </a:solidFill>
                <a:latin typeface="Calibri"/>
                <a:ea typeface="Calibri"/>
                <a:cs typeface="Calibri"/>
                <a:sym typeface="Calibri"/>
              </a:rPr>
              <a:t>: 4-bit saves memory, not time</a:t>
            </a:r>
            <a:endParaRPr b="0" i="0" spc="0" sz="1500" u="none" cap="none" strike="noStrike">
              <a:solidFill>
                <a:schemeClr val="dk1"/>
              </a:solidFill>
              <a:latin typeface="Calibri"/>
              <a:ea typeface="Calibri"/>
              <a:cs typeface="Calibri"/>
              <a:sym typeface="Calibri"/>
            </a:endParaRPr>
          </a:p>
        </p:txBody>
      </p:sp>
      <p:sp>
        <p:nvSpPr>
          <p:cNvPr id="359" name="Google Shape;359;p37"/>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Backup · Representative Frameworks</a:t>
            </a:r>
            <a:endParaRPr sz="2300"/>
          </a:p>
        </p:txBody>
      </p:sp>
      <p:sp>
        <p:nvSpPr>
          <p:cNvPr id="366" name="Google Shape;366;p3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Backup</a:t>
            </a:r>
            <a:endParaRPr b="0" i="0" spc="0" sz="900" u="none" cap="none" strike="noStrike">
              <a:solidFill>
                <a:schemeClr val="dk1"/>
              </a:solidFill>
              <a:latin typeface="Calibri"/>
              <a:ea typeface="Calibri"/>
              <a:cs typeface="Calibri"/>
              <a:sym typeface="Calibri"/>
            </a:endParaRPr>
          </a:p>
        </p:txBody>
      </p:sp>
      <p:sp>
        <p:nvSpPr>
          <p:cNvPr id="367" name="Google Shape;367;p38"/>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One representative system per architectural family.</a:t>
            </a:r>
            <a:endParaRPr b="0" i="0" spc="0" sz="1400" u="none" cap="none" strike="noStrike">
              <a:solidFill>
                <a:schemeClr val="dk1"/>
              </a:solidFill>
              <a:latin typeface="Calibri"/>
              <a:ea typeface="Calibri"/>
              <a:cs typeface="Calibri"/>
              <a:sym typeface="Calibri"/>
            </a:endParaRPr>
          </a:p>
        </p:txBody>
      </p:sp>
      <p:pic>
        <p:nvPicPr>
          <p:cNvPr descr="hivt5.png" id="368" name="Google Shape;368;p38"/>
          <p:cNvPicPr preferRelativeResize="0"/>
          <p:nvPr/>
        </p:nvPicPr>
        <p:blipFill rotWithShape="1">
          <a:blip r:embed="rId3">
            <a:alphaModFix/>
          </a:blip>
          <a:srcRect b="0" l="0" r="0" t="0"/>
          <a:stretch/>
        </p:blipFill>
        <p:spPr>
          <a:xfrm>
            <a:off x="805064" y="1097280"/>
            <a:ext cx="3201789" cy="1405890"/>
          </a:xfrm>
          <a:prstGeom prst="rect">
            <a:avLst/>
          </a:prstGeom>
          <a:noFill/>
          <a:ln>
            <a:noFill/>
          </a:ln>
        </p:spPr>
      </p:pic>
      <p:sp>
        <p:nvSpPr>
          <p:cNvPr id="369" name="Google Shape;369;p38"/>
          <p:cNvSpPr txBox="1"/>
          <p:nvPr/>
        </p:nvSpPr>
        <p:spPr>
          <a:xfrm>
            <a:off x="411480" y="2537460"/>
            <a:ext cx="3988956"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348B"/>
              </a:buClr>
              <a:buSzPts val="1000"/>
              <a:buFont typeface="Calibri"/>
              <a:buNone/>
            </a:pPr>
            <a:r>
              <a:rPr b="1" i="0" lang="en-GB" spc="0" sz="1000" u="none" cap="none" strike="noStrike">
                <a:solidFill>
                  <a:srgbClr val="27348B"/>
                </a:solidFill>
                <a:latin typeface="Calibri"/>
                <a:ea typeface="Calibri"/>
                <a:cs typeface="Calibri"/>
                <a:sym typeface="Calibri"/>
              </a:rPr>
              <a:t>Hi-VT5</a:t>
            </a:r>
            <a:r>
              <a:rPr b="0" i="0" lang="en-GB" spc="0" sz="1000" u="none" cap="none" strike="noStrike">
                <a:solidFill>
                  <a:srgbClr val="5A6072"/>
                </a:solidFill>
                <a:latin typeface="Calibri"/>
                <a:ea typeface="Calibri"/>
                <a:cs typeface="Calibri"/>
                <a:sym typeface="Calibri"/>
              </a:rPr>
              <a:t>  Tito et al., Pattern Recognition 2023</a:t>
            </a:r>
            <a:endParaRPr b="0" i="0" spc="0" sz="1000" u="none" cap="none" strike="noStrike">
              <a:solidFill>
                <a:schemeClr val="dk1"/>
              </a:solidFill>
              <a:latin typeface="Calibri"/>
              <a:ea typeface="Calibri"/>
              <a:cs typeface="Calibri"/>
              <a:sym typeface="Calibri"/>
            </a:endParaRPr>
          </a:p>
        </p:txBody>
      </p:sp>
      <p:pic>
        <p:nvPicPr>
          <p:cNvPr descr="docslm.png" id="370" name="Google Shape;370;p38"/>
          <p:cNvPicPr preferRelativeResize="0"/>
          <p:nvPr/>
        </p:nvPicPr>
        <p:blipFill rotWithShape="1">
          <a:blip r:embed="rId4">
            <a:alphaModFix/>
          </a:blip>
          <a:srcRect b="0" l="0" r="0" t="0"/>
          <a:stretch/>
        </p:blipFill>
        <p:spPr>
          <a:xfrm>
            <a:off x="4743336" y="1097280"/>
            <a:ext cx="3988956" cy="1259444"/>
          </a:xfrm>
          <a:prstGeom prst="rect">
            <a:avLst/>
          </a:prstGeom>
          <a:noFill/>
          <a:ln>
            <a:noFill/>
          </a:ln>
        </p:spPr>
      </p:pic>
      <p:sp>
        <p:nvSpPr>
          <p:cNvPr id="371" name="Google Shape;371;p38"/>
          <p:cNvSpPr txBox="1"/>
          <p:nvPr/>
        </p:nvSpPr>
        <p:spPr>
          <a:xfrm>
            <a:off x="4743336" y="2537460"/>
            <a:ext cx="3988956"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348B"/>
              </a:buClr>
              <a:buSzPts val="1000"/>
              <a:buFont typeface="Calibri"/>
              <a:buNone/>
            </a:pPr>
            <a:r>
              <a:rPr b="1" i="0" lang="en-GB" spc="0" sz="1000" u="none" cap="none" strike="noStrike">
                <a:solidFill>
                  <a:srgbClr val="27348B"/>
                </a:solidFill>
                <a:latin typeface="Calibri"/>
                <a:ea typeface="Calibri"/>
                <a:cs typeface="Calibri"/>
                <a:sym typeface="Calibri"/>
              </a:rPr>
              <a:t>DocSLM</a:t>
            </a:r>
            <a:r>
              <a:rPr b="0" i="0" lang="en-GB" spc="0" sz="1000" u="none" cap="none" strike="noStrike">
                <a:solidFill>
                  <a:srgbClr val="5A6072"/>
                </a:solidFill>
                <a:latin typeface="Calibri"/>
                <a:ea typeface="Calibri"/>
                <a:cs typeface="Calibri"/>
                <a:sym typeface="Calibri"/>
              </a:rPr>
              <a:t>  Hannan et al., CVPR 2026 Findings</a:t>
            </a:r>
            <a:endParaRPr b="0" i="0" spc="0" sz="1000" u="none" cap="none" strike="noStrike">
              <a:solidFill>
                <a:schemeClr val="dk1"/>
              </a:solidFill>
              <a:latin typeface="Calibri"/>
              <a:ea typeface="Calibri"/>
              <a:cs typeface="Calibri"/>
              <a:sym typeface="Calibri"/>
            </a:endParaRPr>
          </a:p>
        </p:txBody>
      </p:sp>
      <p:pic>
        <p:nvPicPr>
          <p:cNvPr descr="molorag.png" id="372" name="Google Shape;372;p38"/>
          <p:cNvPicPr preferRelativeResize="0"/>
          <p:nvPr/>
        </p:nvPicPr>
        <p:blipFill rotWithShape="1">
          <a:blip r:embed="rId5">
            <a:alphaModFix/>
          </a:blip>
          <a:srcRect b="0" l="0" r="0" t="0"/>
          <a:stretch/>
        </p:blipFill>
        <p:spPr>
          <a:xfrm>
            <a:off x="750784" y="2880360"/>
            <a:ext cx="3310349" cy="1405890"/>
          </a:xfrm>
          <a:prstGeom prst="rect">
            <a:avLst/>
          </a:prstGeom>
          <a:noFill/>
          <a:ln>
            <a:noFill/>
          </a:ln>
        </p:spPr>
      </p:pic>
      <p:sp>
        <p:nvSpPr>
          <p:cNvPr id="373" name="Google Shape;373;p38"/>
          <p:cNvSpPr txBox="1"/>
          <p:nvPr/>
        </p:nvSpPr>
        <p:spPr>
          <a:xfrm>
            <a:off x="411480" y="4320540"/>
            <a:ext cx="3988956"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348B"/>
              </a:buClr>
              <a:buSzPts val="1000"/>
              <a:buFont typeface="Calibri"/>
              <a:buNone/>
            </a:pPr>
            <a:r>
              <a:rPr b="1" i="0" lang="en-GB" spc="0" sz="1000" u="none" cap="none" strike="noStrike">
                <a:solidFill>
                  <a:srgbClr val="27348B"/>
                </a:solidFill>
                <a:latin typeface="Calibri"/>
                <a:ea typeface="Calibri"/>
                <a:cs typeface="Calibri"/>
                <a:sym typeface="Calibri"/>
              </a:rPr>
              <a:t>MoLoRAG</a:t>
            </a:r>
            <a:r>
              <a:rPr b="0" i="0" lang="en-GB" spc="0" sz="1000" u="none" cap="none" strike="noStrike">
                <a:solidFill>
                  <a:srgbClr val="5A6072"/>
                </a:solidFill>
                <a:latin typeface="Calibri"/>
                <a:ea typeface="Calibri"/>
                <a:cs typeface="Calibri"/>
                <a:sym typeface="Calibri"/>
              </a:rPr>
              <a:t>  Wu et al., EMNLP 2025</a:t>
            </a:r>
            <a:endParaRPr b="0" i="0" spc="0" sz="1000" u="none" cap="none" strike="noStrike">
              <a:solidFill>
                <a:schemeClr val="dk1"/>
              </a:solidFill>
              <a:latin typeface="Calibri"/>
              <a:ea typeface="Calibri"/>
              <a:cs typeface="Calibri"/>
              <a:sym typeface="Calibri"/>
            </a:endParaRPr>
          </a:p>
        </p:txBody>
      </p:sp>
      <p:pic>
        <p:nvPicPr>
          <p:cNvPr descr="simpledoc.png" id="374" name="Google Shape;374;p38"/>
          <p:cNvPicPr preferRelativeResize="0"/>
          <p:nvPr/>
        </p:nvPicPr>
        <p:blipFill rotWithShape="1">
          <a:blip r:embed="rId6">
            <a:alphaModFix/>
          </a:blip>
          <a:srcRect b="0" l="0" r="0" t="0"/>
          <a:stretch/>
        </p:blipFill>
        <p:spPr>
          <a:xfrm>
            <a:off x="5378138" y="2880360"/>
            <a:ext cx="2719352" cy="1405890"/>
          </a:xfrm>
          <a:prstGeom prst="rect">
            <a:avLst/>
          </a:prstGeom>
          <a:noFill/>
          <a:ln>
            <a:noFill/>
          </a:ln>
        </p:spPr>
      </p:pic>
      <p:sp>
        <p:nvSpPr>
          <p:cNvPr id="375" name="Google Shape;375;p38"/>
          <p:cNvSpPr txBox="1"/>
          <p:nvPr/>
        </p:nvSpPr>
        <p:spPr>
          <a:xfrm>
            <a:off x="4743336" y="4320540"/>
            <a:ext cx="3988956"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348B"/>
              </a:buClr>
              <a:buSzPts val="1000"/>
              <a:buFont typeface="Calibri"/>
              <a:buNone/>
            </a:pPr>
            <a:r>
              <a:rPr b="1" i="0" lang="en-GB" spc="0" sz="1000" u="none" cap="none" strike="noStrike">
                <a:solidFill>
                  <a:srgbClr val="27348B"/>
                </a:solidFill>
                <a:latin typeface="Calibri"/>
                <a:ea typeface="Calibri"/>
                <a:cs typeface="Calibri"/>
                <a:sym typeface="Calibri"/>
              </a:rPr>
              <a:t>SimpleDoc</a:t>
            </a:r>
            <a:r>
              <a:rPr b="0" i="0" lang="en-GB" spc="0" sz="1000" u="none" cap="none" strike="noStrike">
                <a:solidFill>
                  <a:srgbClr val="5A6072"/>
                </a:solidFill>
                <a:latin typeface="Calibri"/>
                <a:ea typeface="Calibri"/>
                <a:cs typeface="Calibri"/>
                <a:sym typeface="Calibri"/>
              </a:rPr>
              <a:t>  Jain et al., EMNLP 2025</a:t>
            </a:r>
            <a:endParaRPr b="0" i="0" spc="0" sz="1000" u="none" cap="none" strike="noStrike">
              <a:solidFill>
                <a:schemeClr val="dk1"/>
              </a:solidFill>
              <a:latin typeface="Calibri"/>
              <a:ea typeface="Calibri"/>
              <a:cs typeface="Calibri"/>
              <a:sym typeface="Calibri"/>
            </a:endParaRPr>
          </a:p>
        </p:txBody>
      </p:sp>
      <p:sp>
        <p:nvSpPr>
          <p:cNvPr id="376" name="Google Shape;376;p3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