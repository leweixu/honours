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730CDD-3802-4C82-8A86-9B0C7ECD3550}">
  <a:tblStyle styleId="{D9730CDD-3802-4C82-8A86-9B0C7ECD35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1cf5672674d22b1_3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1cf5672674d22b1_3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Hello everyone, my name is Lewei, and my thesis looks at multi-page document understanding.</a:t>
            </a:r>
            <a:endParaRPr/>
          </a:p>
        </p:txBody>
      </p:sp>
      <p:sp>
        <p:nvSpPr>
          <p:cNvPr id="62" name="Google Shape;62;h1cf5672674d22b1_3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1cf5672674d22b1_3_2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1cf5672674d22b1_3_2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thesis has four chapters. Chapter 2 is our survey, accepted at the EMNLP 2026 main conference. Chapter 3 is our empirical study, currently under review. Chapter 4 turns the findings into a simple working system.</a:t>
            </a:r>
            <a:endParaRPr/>
          </a:p>
        </p:txBody>
      </p:sp>
      <p:sp>
        <p:nvSpPr>
          <p:cNvPr id="73" name="Google Shape;73;h1cf5672674d22b1_3_2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1cf5672674d22b1_3_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1cf5672674d22b1_3_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Documents carry meaning through text, visual content and layout. Multi-page documents add another layer: one answer may need a figure, a table and a passage several pages apart.</a:t>
            </a:r>
            <a:endParaRPr/>
          </a:p>
        </p:txBody>
      </p:sp>
      <p:sp>
        <p:nvSpPr>
          <p:cNvPr id="83" name="Google Shape;83;h1cf5672674d22b1_3_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1cf5672674d22b1_3_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1cf5672674d22b1_3_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Consumer assistants like Claude can read my 100-page thesis by planning, locating and inspecting pages. In industry, privacy, cost and specialisation push organisations to run open-weight models locally, so accuracy and efficiency both matter.</a:t>
            </a:r>
            <a:endParaRPr/>
          </a:p>
        </p:txBody>
      </p:sp>
      <p:sp>
        <p:nvSpPr>
          <p:cNvPr id="110" name="Google Shape;110;h1cf5672674d22b1_3_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1cf5672674d22b1_3_7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h1cf5672674d22b1_3_7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first part of the thesis is our survey, accepted at the EMNLP 2026 main conference. Multi-page systems grew along parallel lines with inconsistent terminology. We bring them together through evidence management.</a:t>
            </a:r>
            <a:endParaRPr/>
          </a:p>
        </p:txBody>
      </p:sp>
      <p:sp>
        <p:nvSpPr>
          <p:cNvPr id="124" name="Google Shape;124;h1cf5672674d22b1_3_7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1cf5672674d22b1_3_9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h1cf5672674d22b1_3_9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Page-to-document encoding models encode each page and connect them; cost grows with page count. MLLM-centric models feed all pages into a pretrained model; they are capped by the context window. Retrieval-augmented pipelines retrieve first; missed evidence cannot be recovered. Adaptive-trajectory pipelines let a controller choose each step; cost is hard to bound.</a:t>
            </a:r>
            <a:endParaRPr/>
          </a:p>
        </p:txBody>
      </p:sp>
      <p:sp>
        <p:nvSpPr>
          <p:cNvPr id="140" name="Google Shape;140;h1cf5672674d22b1_3_9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1cf5672674d22b1_3_1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h1cf5672674d22b1_3_1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This is the main table of the survey. Three things are worth noticing: pipelines are tested with several backbones, encoding models use text, vision and layout while MLLM-centric models are mostly vision only, and search only appears once retrieval is separated from answering.</a:t>
            </a:r>
            <a:endParaRPr/>
          </a:p>
        </p:txBody>
      </p:sp>
      <p:sp>
        <p:nvSpPr>
          <p:cNvPr id="156" name="Google Shape;156;h1cf5672674d22b1_3_1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1cf5672674d22b1_3_1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h1cf5672674d22b1_3_1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Inference-time strategies keep the backbone frozen. Retrieval selects evidence, reasoning strategies work over what was assembled, and agentic methods acquire more evidence during inference.</a:t>
            </a:r>
            <a:endParaRPr/>
          </a:p>
        </p:txBody>
      </p:sp>
      <p:sp>
        <p:nvSpPr>
          <p:cNvPr id="170" name="Google Shape;170;h1cf5672674d22b1_3_1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1cf5672674d22b1_3_1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h1cf5672674d22b1_3_1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Training internalises the inference-time decisions. Retrievers learn alignment, cross-page fusion or logical relevance; reasoners move from trace imitation to GRPO; agents from distillation to RL. Benchmarks keep getting longer.</a:t>
            </a:r>
            <a:endParaRPr/>
          </a:p>
        </p:txBody>
      </p:sp>
      <p:sp>
        <p:nvSpPr>
          <p:cNvPr id="183" name="Google Shape;183;h1cf5672674d22b1_3_1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1cf5672674d22b1_3_14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h1cf5672674d22b1_3_14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Five challenges remain. The last one leads to the second paper: nobody had located, end to end, where these systems actually fail.</a:t>
            </a:r>
            <a:endParaRPr/>
          </a:p>
        </p:txBody>
      </p:sp>
      <p:sp>
        <p:nvSpPr>
          <p:cNvPr id="197" name="Google Shape;197;h1cf5672674d22b1_3_14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1cf5672674d22b1_3_17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h1cf5672674d22b1_3_17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second paper is under review. Prior work shows where accuracy drops but not why, and design claims conflict. We locate failure at three architecture-independent loci, each with two mechanisms.</a:t>
            </a:r>
            <a:endParaRPr/>
          </a:p>
        </p:txBody>
      </p:sp>
      <p:sp>
        <p:nvSpPr>
          <p:cNvPr id="217" name="Google Shape;217;h1cf5672674d22b1_3_17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cf5672674d22b1_3_18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h1cf5672674d22b1_3_18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One deliberately simple pipeline: encode, retrieve, answer in one pass. Each experiment changes one stage. Gold pages let us take retrieval out of the picture.</a:t>
            </a:r>
            <a:endParaRPr/>
          </a:p>
        </p:txBody>
      </p:sp>
      <p:sp>
        <p:nvSpPr>
          <p:cNvPr id="231" name="Google Shape;231;h1cf5672674d22b1_3_18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1cf5672674d22b1_3_2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h1cf5672674d22b1_3_2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Text-only input refuses chart and figure questions far more often. Adding page images brings refusal under 10 percent, but images alone trail text plus images, 42.6 against 49.5. Adding the image also makes accuracy much less sensitive to the parser.</a:t>
            </a:r>
            <a:endParaRPr/>
          </a:p>
        </p:txBody>
      </p:sp>
      <p:sp>
        <p:nvSpPr>
          <p:cNvPr id="258" name="Google Shape;258;h1cf5672674d22b1_3_2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h1cf5672674d22b1_3_22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h1cf5672674d22b1_3_22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Removing just one of the gold pages roughly halves accuracy, and the retriever rank does not tell us which page is safe to lose. Keeping every gold page but adding three distractors drops multi-hop accuracy from 43.9 to 35.1.</a:t>
            </a:r>
            <a:endParaRPr/>
          </a:p>
        </p:txBody>
      </p:sp>
      <p:sp>
        <p:nvSpPr>
          <p:cNvPr id="272" name="Google Shape;272;h1cf5672674d22b1_3_22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1cf5672674d22b1_3_2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h1cf5672674d22b1_3_2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From 2B to 32B, multi-hop accuracy rises from 29 to almost 50 percent, but single-hop rises as much, so the gap stays. An abstain instruction raises correct refusal but also false refusal, from 6.2 to 27.7 percent; reasoning first recovers part of it.</a:t>
            </a:r>
            <a:endParaRPr/>
          </a:p>
        </p:txBody>
      </p:sp>
      <p:sp>
        <p:nvSpPr>
          <p:cNvPr id="286" name="Google Shape;286;h1cf5672674d22b1_3_2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1cf5672674d22b1_3_2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h1cf5672674d22b1_3_2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Each column shows real questions from MMLongBench-Doc: the finding, what the model answered, and the design implication. For example, colour exists only in pixels, an author list split over two pages needs both pages, and each model size breaks a different step of one reasoning chain.</a:t>
            </a:r>
            <a:endParaRPr/>
          </a:p>
        </p:txBody>
      </p:sp>
      <p:sp>
        <p:nvSpPr>
          <p:cNvPr id="299" name="Google Shape;299;h1cf5672674d22b1_3_2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1cf5672674d22b1_3_2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h1cf5672674d22b1_3_2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reader goes through pages in ranked order, reading text and image together. The synthesizer answers from flagged pages and short records. The arbiter cannot answer; it accepts or sends the reader back for more pages.</a:t>
            </a:r>
            <a:endParaRPr/>
          </a:p>
        </p:txBody>
      </p:sp>
      <p:sp>
        <p:nvSpPr>
          <p:cNvPr id="313" name="Google Shape;313;h1cf5672674d22b1_3_2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h1cf5672674d22b1_3_2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h1cf5672674d22b1_3_2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All systems use the same 8B backbone. Ours reaches 56.5 on MMLongBench-Doc and 61.3 on LongDocURL without training. It still trails DocTrace on multi-page questions, and the cost is time: about eleven minutes per question in about eight gigabytes of memory.</a:t>
            </a:r>
            <a:endParaRPr/>
          </a:p>
        </p:txBody>
      </p:sp>
      <p:sp>
        <p:nvSpPr>
          <p:cNvPr id="326" name="Google Shape;326;h1cf5672674d22b1_3_2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1cf5672674d22b1_3_28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h1cf5672674d22b1_3_28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 conclude: the survey organises the field, the empirical study locates failures, and a simple system built on those findings is competitive. Thank you, I am happy to take questions.</a:t>
            </a:r>
            <a:endParaRPr/>
          </a:p>
        </p:txBody>
      </p:sp>
      <p:sp>
        <p:nvSpPr>
          <p:cNvPr id="337" name="Google Shape;337;h1cf5672674d22b1_3_28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h1cf5672674d22b1_3_3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h1cf5672674d22b1_3_3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h1cf5672674d22b1_3_3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1cf5672674d22b1_3_3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h1cf5672674d22b1_3_3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h1cf5672674d22b1_3_3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7348B"/>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3" name="Shape 53"/>
        <p:cNvGrpSpPr/>
        <p:nvPr/>
      </p:nvGrpSpPr>
      <p:grpSpPr>
        <a:xfrm>
          <a:off x="0" y="0"/>
          <a:ext cx="0" cy="0"/>
          <a:chOff x="0" y="0"/>
          <a:chExt cx="0" cy="0"/>
        </a:xfrm>
      </p:grpSpPr>
      <p:pic>
        <p:nvPicPr>
          <p:cNvPr descr="C:\Users\dyh93\Downloads\lewei_thesis\deck2\figures\uwa_logo.jpg" id="54" name="Google Shape;54;p15"/>
          <p:cNvPicPr preferRelativeResize="0"/>
          <p:nvPr/>
        </p:nvPicPr>
        <p:blipFill rotWithShape="1">
          <a:blip r:embed="rId2">
            <a:alphaModFix/>
          </a:blip>
          <a:srcRect b="0" l="0" r="0" t="0"/>
          <a:stretch/>
        </p:blipFill>
        <p:spPr>
          <a:xfrm>
            <a:off x="7540348" y="4651473"/>
            <a:ext cx="941625" cy="376650"/>
          </a:xfrm>
          <a:prstGeom prst="rect">
            <a:avLst/>
          </a:prstGeom>
          <a:noFill/>
          <a:ln>
            <a:noFill/>
          </a:ln>
        </p:spPr>
      </p:pic>
      <p:sp>
        <p:nvSpPr>
          <p:cNvPr id="55" name="Google Shape;55;p15"/>
          <p:cNvSpPr/>
          <p:nvPr/>
        </p:nvSpPr>
        <p:spPr>
          <a:xfrm>
            <a:off x="411475" y="4736909"/>
            <a:ext cx="34290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800"/>
              <a:buFont typeface="Calibri"/>
              <a:buNone/>
            </a:pPr>
            <a:r>
              <a:rPr b="0" i="0" lang="en-GB" sz="800" u="none" cap="none" strike="noStrike">
                <a:solidFill>
                  <a:srgbClr val="5A6072"/>
                </a:solidFill>
                <a:latin typeface="Calibri"/>
                <a:ea typeface="Calibri"/>
                <a:cs typeface="Calibri"/>
                <a:sym typeface="Calibri"/>
              </a:rPr>
              <a:t>Lewei Xu  ·  Honours </a:t>
            </a:r>
            <a:r>
              <a:rPr lang="en-GB" sz="800">
                <a:solidFill>
                  <a:srgbClr val="5A6072"/>
                </a:solidFill>
                <a:latin typeface="Calibri"/>
                <a:ea typeface="Calibri"/>
                <a:cs typeface="Calibri"/>
                <a:sym typeface="Calibri"/>
              </a:rPr>
              <a:t>Project</a:t>
            </a:r>
            <a:endParaRPr b="0" i="0" sz="800" u="none" cap="none" strike="noStrike">
              <a:solidFill>
                <a:schemeClr val="dk1"/>
              </a:solidFill>
              <a:latin typeface="Calibri"/>
              <a:ea typeface="Calibri"/>
              <a:cs typeface="Calibri"/>
              <a:sym typeface="Calibri"/>
            </a:endParaRPr>
          </a:p>
        </p:txBody>
      </p:sp>
      <p:sp>
        <p:nvSpPr>
          <p:cNvPr id="56" name="Google Shape;56;p15"/>
          <p:cNvSpPr txBox="1"/>
          <p:nvPr>
            <p:ph type="title"/>
          </p:nvPr>
        </p:nvSpPr>
        <p:spPr>
          <a:xfrm>
            <a:off x="411480" y="260604"/>
            <a:ext cx="6583680" cy="425196"/>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rgbClr val="27348B"/>
              </a:buClr>
              <a:buSzPts val="2300"/>
              <a:buFont typeface="Calibri"/>
              <a:buNone/>
              <a:defRPr b="1" i="0" sz="2300" u="none" cap="none" strike="noStrike">
                <a:solidFill>
                  <a:srgbClr val="27348B"/>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7" name="Google Shape;57;p15"/>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rgbClr val="5A6072"/>
                </a:solidFill>
                <a:latin typeface="Calibri"/>
                <a:ea typeface="Calibri"/>
                <a:cs typeface="Calibri"/>
                <a:sym typeface="Calibri"/>
              </a:defRPr>
            </a:lvl1pPr>
            <a:lvl2pPr indent="0" lvl="1" marL="0" marR="0" algn="r">
              <a:spcBef>
                <a:spcPts val="0"/>
              </a:spcBef>
              <a:buNone/>
              <a:defRPr b="0" i="0" sz="800" u="none" cap="none" strike="noStrike">
                <a:solidFill>
                  <a:srgbClr val="5A6072"/>
                </a:solidFill>
                <a:latin typeface="Calibri"/>
                <a:ea typeface="Calibri"/>
                <a:cs typeface="Calibri"/>
                <a:sym typeface="Calibri"/>
              </a:defRPr>
            </a:lvl2pPr>
            <a:lvl3pPr indent="0" lvl="2" marL="0" marR="0" algn="r">
              <a:spcBef>
                <a:spcPts val="0"/>
              </a:spcBef>
              <a:buNone/>
              <a:defRPr b="0" i="0" sz="800" u="none" cap="none" strike="noStrike">
                <a:solidFill>
                  <a:srgbClr val="5A6072"/>
                </a:solidFill>
                <a:latin typeface="Calibri"/>
                <a:ea typeface="Calibri"/>
                <a:cs typeface="Calibri"/>
                <a:sym typeface="Calibri"/>
              </a:defRPr>
            </a:lvl3pPr>
            <a:lvl4pPr indent="0" lvl="3" marL="0" marR="0" algn="r">
              <a:spcBef>
                <a:spcPts val="0"/>
              </a:spcBef>
              <a:buNone/>
              <a:defRPr b="0" i="0" sz="800" u="none" cap="none" strike="noStrike">
                <a:solidFill>
                  <a:srgbClr val="5A6072"/>
                </a:solidFill>
                <a:latin typeface="Calibri"/>
                <a:ea typeface="Calibri"/>
                <a:cs typeface="Calibri"/>
                <a:sym typeface="Calibri"/>
              </a:defRPr>
            </a:lvl4pPr>
            <a:lvl5pPr indent="0" lvl="4" marL="0" marR="0" algn="r">
              <a:spcBef>
                <a:spcPts val="0"/>
              </a:spcBef>
              <a:buNone/>
              <a:defRPr b="0" i="0" sz="800" u="none" cap="none" strike="noStrike">
                <a:solidFill>
                  <a:srgbClr val="5A6072"/>
                </a:solidFill>
                <a:latin typeface="Calibri"/>
                <a:ea typeface="Calibri"/>
                <a:cs typeface="Calibri"/>
                <a:sym typeface="Calibri"/>
              </a:defRPr>
            </a:lvl5pPr>
            <a:lvl6pPr indent="0" lvl="5" marL="0" marR="0" algn="r">
              <a:spcBef>
                <a:spcPts val="0"/>
              </a:spcBef>
              <a:buNone/>
              <a:defRPr b="0" i="0" sz="800" u="none" cap="none" strike="noStrike">
                <a:solidFill>
                  <a:srgbClr val="5A6072"/>
                </a:solidFill>
                <a:latin typeface="Calibri"/>
                <a:ea typeface="Calibri"/>
                <a:cs typeface="Calibri"/>
                <a:sym typeface="Calibri"/>
              </a:defRPr>
            </a:lvl6pPr>
            <a:lvl7pPr indent="0" lvl="6" marL="0" marR="0" algn="r">
              <a:spcBef>
                <a:spcPts val="0"/>
              </a:spcBef>
              <a:buNone/>
              <a:defRPr b="0" i="0" sz="800" u="none" cap="none" strike="noStrike">
                <a:solidFill>
                  <a:srgbClr val="5A6072"/>
                </a:solidFill>
                <a:latin typeface="Calibri"/>
                <a:ea typeface="Calibri"/>
                <a:cs typeface="Calibri"/>
                <a:sym typeface="Calibri"/>
              </a:defRPr>
            </a:lvl7pPr>
            <a:lvl8pPr indent="0" lvl="7" marL="0" marR="0" algn="r">
              <a:spcBef>
                <a:spcPts val="0"/>
              </a:spcBef>
              <a:buNone/>
              <a:defRPr b="0" i="0" sz="800" u="none" cap="none" strike="noStrike">
                <a:solidFill>
                  <a:srgbClr val="5A6072"/>
                </a:solidFill>
                <a:latin typeface="Calibri"/>
                <a:ea typeface="Calibri"/>
                <a:cs typeface="Calibri"/>
                <a:sym typeface="Calibri"/>
              </a:defRPr>
            </a:lvl8pPr>
            <a:lvl9pPr indent="0" lvl="8" marL="0" marR="0" algn="r">
              <a:spcBef>
                <a:spcPts val="0"/>
              </a:spcBef>
              <a:buNone/>
              <a:defRPr b="0" i="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800" u="none" cap="none" strike="noStrike">
                <a:solidFill>
                  <a:srgbClr val="5A6072"/>
                </a:solidFill>
                <a:latin typeface="Calibri"/>
                <a:ea typeface="Calibri"/>
                <a:cs typeface="Calibri"/>
                <a:sym typeface="Calibri"/>
              </a:defRPr>
            </a:lvl1pPr>
            <a:lvl2pPr indent="0" lvl="1" marL="0" marR="0" rtl="0" algn="r">
              <a:spcBef>
                <a:spcPts val="0"/>
              </a:spcBef>
              <a:buNone/>
              <a:defRPr b="0" i="0" sz="800" u="none" cap="none" strike="noStrike">
                <a:solidFill>
                  <a:srgbClr val="5A6072"/>
                </a:solidFill>
                <a:latin typeface="Calibri"/>
                <a:ea typeface="Calibri"/>
                <a:cs typeface="Calibri"/>
                <a:sym typeface="Calibri"/>
              </a:defRPr>
            </a:lvl2pPr>
            <a:lvl3pPr indent="0" lvl="2" marL="0" marR="0" rtl="0" algn="r">
              <a:spcBef>
                <a:spcPts val="0"/>
              </a:spcBef>
              <a:buNone/>
              <a:defRPr b="0" i="0" sz="800" u="none" cap="none" strike="noStrike">
                <a:solidFill>
                  <a:srgbClr val="5A6072"/>
                </a:solidFill>
                <a:latin typeface="Calibri"/>
                <a:ea typeface="Calibri"/>
                <a:cs typeface="Calibri"/>
                <a:sym typeface="Calibri"/>
              </a:defRPr>
            </a:lvl3pPr>
            <a:lvl4pPr indent="0" lvl="3" marL="0" marR="0" rtl="0" algn="r">
              <a:spcBef>
                <a:spcPts val="0"/>
              </a:spcBef>
              <a:buNone/>
              <a:defRPr b="0" i="0" sz="800" u="none" cap="none" strike="noStrike">
                <a:solidFill>
                  <a:srgbClr val="5A6072"/>
                </a:solidFill>
                <a:latin typeface="Calibri"/>
                <a:ea typeface="Calibri"/>
                <a:cs typeface="Calibri"/>
                <a:sym typeface="Calibri"/>
              </a:defRPr>
            </a:lvl4pPr>
            <a:lvl5pPr indent="0" lvl="4" marL="0" marR="0" rtl="0" algn="r">
              <a:spcBef>
                <a:spcPts val="0"/>
              </a:spcBef>
              <a:buNone/>
              <a:defRPr b="0" i="0" sz="800" u="none" cap="none" strike="noStrike">
                <a:solidFill>
                  <a:srgbClr val="5A6072"/>
                </a:solidFill>
                <a:latin typeface="Calibri"/>
                <a:ea typeface="Calibri"/>
                <a:cs typeface="Calibri"/>
                <a:sym typeface="Calibri"/>
              </a:defRPr>
            </a:lvl5pPr>
            <a:lvl6pPr indent="0" lvl="5" marL="0" marR="0" rtl="0" algn="r">
              <a:spcBef>
                <a:spcPts val="0"/>
              </a:spcBef>
              <a:buNone/>
              <a:defRPr b="0" i="0" sz="800" u="none" cap="none" strike="noStrike">
                <a:solidFill>
                  <a:srgbClr val="5A6072"/>
                </a:solidFill>
                <a:latin typeface="Calibri"/>
                <a:ea typeface="Calibri"/>
                <a:cs typeface="Calibri"/>
                <a:sym typeface="Calibri"/>
              </a:defRPr>
            </a:lvl6pPr>
            <a:lvl7pPr indent="0" lvl="6" marL="0" marR="0" rtl="0" algn="r">
              <a:spcBef>
                <a:spcPts val="0"/>
              </a:spcBef>
              <a:buNone/>
              <a:defRPr b="0" i="0" sz="800" u="none" cap="none" strike="noStrike">
                <a:solidFill>
                  <a:srgbClr val="5A6072"/>
                </a:solidFill>
                <a:latin typeface="Calibri"/>
                <a:ea typeface="Calibri"/>
                <a:cs typeface="Calibri"/>
                <a:sym typeface="Calibri"/>
              </a:defRPr>
            </a:lvl7pPr>
            <a:lvl8pPr indent="0" lvl="7" marL="0" marR="0" rtl="0" algn="r">
              <a:spcBef>
                <a:spcPts val="0"/>
              </a:spcBef>
              <a:buNone/>
              <a:defRPr b="0" i="0" sz="800" u="none" cap="none" strike="noStrike">
                <a:solidFill>
                  <a:srgbClr val="5A6072"/>
                </a:solidFill>
                <a:latin typeface="Calibri"/>
                <a:ea typeface="Calibri"/>
                <a:cs typeface="Calibri"/>
                <a:sym typeface="Calibri"/>
              </a:defRPr>
            </a:lvl8pPr>
            <a:lvl9pPr indent="0" lvl="8" marL="0" marR="0" rtl="0" algn="r">
              <a:spcBef>
                <a:spcPts val="0"/>
              </a:spcBef>
              <a:buNone/>
              <a:defRPr b="0" i="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9.png"/><Relationship Id="rId6"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e University of Western Australia" id="64" name="Google Shape;64;p17"/>
          <p:cNvPicPr preferRelativeResize="0"/>
          <p:nvPr/>
        </p:nvPicPr>
        <p:blipFill rotWithShape="1">
          <a:blip r:embed="rId3">
            <a:alphaModFix/>
          </a:blip>
          <a:srcRect b="0" l="0" r="0" t="0"/>
          <a:stretch/>
        </p:blipFill>
        <p:spPr>
          <a:xfrm>
            <a:off x="445770" y="377190"/>
            <a:ext cx="1851660" cy="614602"/>
          </a:xfrm>
          <a:prstGeom prst="rect">
            <a:avLst/>
          </a:prstGeom>
          <a:noFill/>
          <a:ln>
            <a:noFill/>
          </a:ln>
        </p:spPr>
      </p:pic>
      <p:sp>
        <p:nvSpPr>
          <p:cNvPr id="65" name="Google Shape;65;p17"/>
          <p:cNvSpPr txBox="1"/>
          <p:nvPr/>
        </p:nvSpPr>
        <p:spPr>
          <a:xfrm>
            <a:off x="445770" y="1508760"/>
            <a:ext cx="548640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1B650"/>
              </a:buClr>
              <a:buSzPts val="1100"/>
              <a:buFont typeface="Calibri"/>
              <a:buNone/>
            </a:pPr>
            <a:r>
              <a:rPr b="1" i="0" lang="en-GB" spc="200" sz="1100" u="none" cap="none" strike="noStrike">
                <a:solidFill>
                  <a:srgbClr val="E1B650"/>
                </a:solidFill>
                <a:latin typeface="Calibri"/>
                <a:ea typeface="Calibri"/>
                <a:cs typeface="Calibri"/>
                <a:sym typeface="Calibri"/>
              </a:rPr>
              <a:t>HONOURS THESIS PRESENTATION</a:t>
            </a:r>
            <a:endParaRPr b="0" i="0" sz="1100" u="none" cap="none" strike="noStrike">
              <a:solidFill>
                <a:schemeClr val="dk1"/>
              </a:solidFill>
              <a:latin typeface="Calibri"/>
              <a:ea typeface="Calibri"/>
              <a:cs typeface="Calibri"/>
              <a:sym typeface="Calibri"/>
            </a:endParaRPr>
          </a:p>
        </p:txBody>
      </p:sp>
      <p:sp>
        <p:nvSpPr>
          <p:cNvPr id="66" name="Google Shape;66;p17"/>
          <p:cNvSpPr txBox="1"/>
          <p:nvPr/>
        </p:nvSpPr>
        <p:spPr>
          <a:xfrm>
            <a:off x="445770" y="1783080"/>
            <a:ext cx="82296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GB" sz="3000" u="none" cap="none" strike="noStrike">
                <a:solidFill>
                  <a:srgbClr val="FFFFFF"/>
                </a:solidFill>
                <a:latin typeface="Calibri"/>
                <a:ea typeface="Calibri"/>
                <a:cs typeface="Calibri"/>
                <a:sym typeface="Calibri"/>
              </a:rPr>
              <a:t>Multi-Page Visually Rich Document Understanding</a:t>
            </a:r>
            <a:endParaRPr b="0" i="0" sz="3000" u="none" cap="none" strike="noStrike">
              <a:solidFill>
                <a:schemeClr val="dk1"/>
              </a:solidFill>
              <a:latin typeface="Calibri"/>
              <a:ea typeface="Calibri"/>
              <a:cs typeface="Calibri"/>
              <a:sym typeface="Calibri"/>
            </a:endParaRPr>
          </a:p>
        </p:txBody>
      </p:sp>
      <p:sp>
        <p:nvSpPr>
          <p:cNvPr id="67" name="Google Shape;67;p17"/>
          <p:cNvSpPr txBox="1"/>
          <p:nvPr/>
        </p:nvSpPr>
        <p:spPr>
          <a:xfrm>
            <a:off x="445770" y="2366010"/>
            <a:ext cx="82296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1B650"/>
              </a:buClr>
              <a:buSzPts val="1800"/>
              <a:buFont typeface="Calibri"/>
              <a:buNone/>
            </a:pPr>
            <a:r>
              <a:rPr b="0" i="0" lang="en-GB" sz="1800" u="none" cap="none" strike="noStrike">
                <a:solidFill>
                  <a:srgbClr val="E1B650"/>
                </a:solidFill>
                <a:latin typeface="Calibri"/>
                <a:ea typeface="Calibri"/>
                <a:cs typeface="Calibri"/>
                <a:sym typeface="Calibri"/>
              </a:rPr>
              <a:t>A Survey of System Design and an Empirical Attribution of Failure</a:t>
            </a:r>
            <a:endParaRPr b="0" i="0" sz="1800" u="none" cap="none" strike="noStrike">
              <a:solidFill>
                <a:schemeClr val="dk1"/>
              </a:solidFill>
              <a:latin typeface="Calibri"/>
              <a:ea typeface="Calibri"/>
              <a:cs typeface="Calibri"/>
              <a:sym typeface="Calibri"/>
            </a:endParaRPr>
          </a:p>
        </p:txBody>
      </p:sp>
      <p:sp>
        <p:nvSpPr>
          <p:cNvPr id="68" name="Google Shape;68;p17"/>
          <p:cNvSpPr txBox="1"/>
          <p:nvPr/>
        </p:nvSpPr>
        <p:spPr>
          <a:xfrm>
            <a:off x="445770" y="3120390"/>
            <a:ext cx="5486400"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GB" sz="1800" u="none" cap="none" strike="noStrike">
                <a:solidFill>
                  <a:srgbClr val="FFFFFF"/>
                </a:solidFill>
                <a:latin typeface="Calibri"/>
                <a:ea typeface="Calibri"/>
                <a:cs typeface="Calibri"/>
                <a:sym typeface="Calibri"/>
              </a:rPr>
              <a:t>Lewei Xu</a:t>
            </a:r>
            <a:endParaRPr b="0" i="0" sz="1800" u="none" cap="none" strike="noStrike">
              <a:solidFill>
                <a:schemeClr val="dk1"/>
              </a:solidFill>
              <a:latin typeface="Calibri"/>
              <a:ea typeface="Calibri"/>
              <a:cs typeface="Calibri"/>
              <a:sym typeface="Calibri"/>
            </a:endParaRPr>
          </a:p>
        </p:txBody>
      </p:sp>
      <p:sp>
        <p:nvSpPr>
          <p:cNvPr id="69" name="Google Shape;69;p17"/>
          <p:cNvSpPr txBox="1"/>
          <p:nvPr/>
        </p:nvSpPr>
        <p:spPr>
          <a:xfrm>
            <a:off x="445770" y="3497580"/>
            <a:ext cx="6858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ADDF0"/>
              </a:buClr>
              <a:buSzPts val="1200"/>
              <a:buFont typeface="Calibri"/>
              <a:buNone/>
            </a:pPr>
            <a:r>
              <a:rPr b="0" i="0" lang="en-GB" sz="1200" u="none" cap="none" strike="noStrike">
                <a:solidFill>
                  <a:srgbClr val="DADDF0"/>
                </a:solidFill>
                <a:latin typeface="Calibri"/>
                <a:ea typeface="Calibri"/>
                <a:cs typeface="Calibri"/>
                <a:sym typeface="Calibri"/>
              </a:rPr>
              <a:t>Supervisors: Dr Yihao Ding · Dr Daochang Liu</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DADDF0"/>
              </a:buClr>
              <a:buSzPts val="1200"/>
              <a:buFont typeface="Calibri"/>
              <a:buNone/>
            </a:pPr>
            <a:r>
              <a:rPr b="0" i="0" lang="en-GB" sz="1200" u="none" cap="none" strike="noStrike">
                <a:solidFill>
                  <a:srgbClr val="DADDF0"/>
                </a:solidFill>
                <a:latin typeface="Calibri"/>
                <a:ea typeface="Calibri"/>
                <a:cs typeface="Calibri"/>
                <a:sym typeface="Calibri"/>
              </a:rPr>
              <a:t>Department of Computer Science and Software Engineering</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DADDF0"/>
              </a:buClr>
              <a:buSzPts val="1200"/>
              <a:buFont typeface="Calibri"/>
              <a:buNone/>
            </a:pPr>
            <a:r>
              <a:rPr b="0" i="0" lang="en-GB" sz="1200" u="none" cap="none" strike="noStrike">
                <a:solidFill>
                  <a:srgbClr val="DADDF0"/>
                </a:solidFill>
                <a:latin typeface="Calibri"/>
                <a:ea typeface="Calibri"/>
                <a:cs typeface="Calibri"/>
                <a:sym typeface="Calibri"/>
              </a:rPr>
              <a:t>School of Physics, Mathematics and Computing · </a:t>
            </a:r>
            <a:r>
              <a:rPr lang="en-GB" sz="1200">
                <a:solidFill>
                  <a:srgbClr val="DADDF0"/>
                </a:solidFill>
                <a:latin typeface="Calibri"/>
                <a:ea typeface="Calibri"/>
                <a:cs typeface="Calibri"/>
                <a:sym typeface="Calibri"/>
              </a:rPr>
              <a:t>October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Thesis Overview</a:t>
            </a:r>
            <a:endParaRPr sz="2300"/>
          </a:p>
        </p:txBody>
      </p:sp>
      <p:sp>
        <p:nvSpPr>
          <p:cNvPr id="76" name="Google Shape;76;p1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1 · Introduction</a:t>
            </a:r>
            <a:endParaRPr b="0" i="0" sz="900" u="none" cap="none" strike="noStrike">
              <a:solidFill>
                <a:schemeClr val="dk1"/>
              </a:solidFill>
              <a:latin typeface="Calibri"/>
              <a:ea typeface="Calibri"/>
              <a:cs typeface="Calibri"/>
              <a:sym typeface="Calibri"/>
            </a:endParaRPr>
          </a:p>
        </p:txBody>
      </p:sp>
      <p:sp>
        <p:nvSpPr>
          <p:cNvPr id="77" name="Google Shape;77;p1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Four chapters, three research questions, two papers.</a:t>
            </a:r>
            <a:endParaRPr b="0" i="0" sz="1400" u="none" cap="none" strike="noStrike">
              <a:solidFill>
                <a:schemeClr val="dk1"/>
              </a:solidFill>
              <a:latin typeface="Calibri"/>
              <a:ea typeface="Calibri"/>
              <a:cs typeface="Calibri"/>
              <a:sym typeface="Calibri"/>
            </a:endParaRPr>
          </a:p>
        </p:txBody>
      </p:sp>
      <p:graphicFrame>
        <p:nvGraphicFramePr>
          <p:cNvPr id="78" name="Google Shape;78;p18"/>
          <p:cNvGraphicFramePr/>
          <p:nvPr/>
        </p:nvGraphicFramePr>
        <p:xfrm>
          <a:off x="422805" y="1345625"/>
          <a:ext cx="3000000" cy="3000000"/>
        </p:xfrm>
        <a:graphic>
          <a:graphicData uri="http://schemas.openxmlformats.org/drawingml/2006/table">
            <a:tbl>
              <a:tblPr>
                <a:noFill/>
                <a:tableStyleId>{D9730CDD-3802-4C82-8A86-9B0C7ECD3550}</a:tableStyleId>
              </a:tblPr>
              <a:tblGrid>
                <a:gridCol w="2057400"/>
                <a:gridCol w="3154675"/>
                <a:gridCol w="3086100"/>
              </a:tblGrid>
              <a:tr h="308600">
                <a:tc>
                  <a:txBody>
                    <a:bodyPr/>
                    <a:lstStyle/>
                    <a:p>
                      <a:pPr indent="0" lvl="0" marL="0" marR="0" rtl="0" algn="l">
                        <a:spcBef>
                          <a:spcPts val="0"/>
                        </a:spcBef>
                        <a:spcAft>
                          <a:spcPts val="0"/>
                        </a:spcAft>
                        <a:buClr>
                          <a:srgbClr val="5A6072"/>
                        </a:buClr>
                        <a:buSzPts val="1000"/>
                        <a:buFont typeface="Calibri"/>
                        <a:buNone/>
                      </a:pPr>
                      <a:r>
                        <a:rPr b="1" lang="en-GB" sz="1000" u="none" cap="none" strike="noStrike">
                          <a:solidFill>
                            <a:schemeClr val="dk1"/>
                          </a:solidFill>
                          <a:latin typeface="Calibri"/>
                          <a:ea typeface="Calibri"/>
                          <a:cs typeface="Calibri"/>
                          <a:sym typeface="Calibri"/>
                        </a:rPr>
                        <a:t>CHAPTER</a:t>
                      </a:r>
                      <a:endParaRPr b="1"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5A6072"/>
                        </a:buClr>
                        <a:buSzPts val="1000"/>
                        <a:buFont typeface="Calibri"/>
                        <a:buNone/>
                      </a:pPr>
                      <a:r>
                        <a:rPr b="1" lang="en-GB" sz="1000" u="none" cap="none" strike="noStrike">
                          <a:solidFill>
                            <a:schemeClr val="dk1"/>
                          </a:solidFill>
                          <a:latin typeface="Calibri"/>
                          <a:ea typeface="Calibri"/>
                          <a:cs typeface="Calibri"/>
                          <a:sym typeface="Calibri"/>
                        </a:rPr>
                        <a:t>QUESTION</a:t>
                      </a:r>
                      <a:endParaRPr b="1"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5A6072"/>
                        </a:buClr>
                        <a:buSzPts val="1000"/>
                        <a:buFont typeface="Calibri"/>
                        <a:buNone/>
                      </a:pPr>
                      <a:r>
                        <a:rPr b="1" lang="en-GB" sz="1000" u="none" cap="none" strike="noStrike">
                          <a:solidFill>
                            <a:schemeClr val="dk1"/>
                          </a:solidFill>
                          <a:latin typeface="Calibri"/>
                          <a:ea typeface="Calibri"/>
                          <a:cs typeface="Calibri"/>
                          <a:sym typeface="Calibri"/>
                        </a:rPr>
                        <a:t>PUBLICATION</a:t>
                      </a:r>
                      <a:endParaRPr b="1"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82925">
                <a:tc>
                  <a:txBody>
                    <a:bodyPr/>
                    <a:lstStyle/>
                    <a:p>
                      <a:pPr indent="0" lvl="0" marL="0" marR="0" rtl="0" algn="l">
                        <a:spcBef>
                          <a:spcPts val="0"/>
                        </a:spcBef>
                        <a:spcAft>
                          <a:spcPts val="0"/>
                        </a:spcAft>
                        <a:buClr>
                          <a:srgbClr val="27348B"/>
                        </a:buClr>
                        <a:buSzPts val="1200"/>
                        <a:buFont typeface="Calibri"/>
                        <a:buNone/>
                      </a:pPr>
                      <a:r>
                        <a:rPr b="1" lang="en-GB" sz="1200" u="none" cap="none" strike="noStrike">
                          <a:solidFill>
                            <a:srgbClr val="27348B"/>
                          </a:solidFill>
                          <a:latin typeface="Calibri"/>
                          <a:ea typeface="Calibri"/>
                          <a:cs typeface="Calibri"/>
                          <a:sym typeface="Calibri"/>
                        </a:rPr>
                        <a:t>1  </a:t>
                      </a:r>
                      <a:r>
                        <a:rPr lang="en-GB" sz="1200" u="none" cap="none" strike="noStrike">
                          <a:solidFill>
                            <a:srgbClr val="1B1F2A"/>
                          </a:solidFill>
                          <a:latin typeface="Calibri"/>
                          <a:ea typeface="Calibri"/>
                          <a:cs typeface="Calibri"/>
                          <a:sym typeface="Calibri"/>
                        </a:rPr>
                        <a:t>Introduction &amp; Background</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B1F2A"/>
                        </a:buClr>
                        <a:buSzPts val="1200"/>
                        <a:buFont typeface="Calibri"/>
                        <a:buNone/>
                      </a:pPr>
                      <a:r>
                        <a:rPr lang="en-GB" sz="1200" u="none" cap="none" strike="noStrike">
                          <a:solidFill>
                            <a:srgbClr val="1B1F2A"/>
                          </a:solidFill>
                          <a:latin typeface="Calibri"/>
                          <a:ea typeface="Calibri"/>
                          <a:cs typeface="Calibri"/>
                          <a:sym typeface="Calibri"/>
                        </a:rPr>
                        <a:t>Why are long documents hard, and why a fixed compute budget?</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5A6072"/>
                        </a:buClr>
                        <a:buSzPts val="1200"/>
                        <a:buFont typeface="Calibri"/>
                        <a:buNone/>
                      </a:pPr>
                      <a:r>
                        <a:rPr lang="en-GB" sz="1200" u="none" cap="none" strike="noStrike">
                          <a:solidFill>
                            <a:srgbClr val="5A6072"/>
                          </a:solidFill>
                          <a:latin typeface="Calibri"/>
                          <a:ea typeface="Calibri"/>
                          <a:cs typeface="Calibri"/>
                          <a:sym typeface="Calibri"/>
                        </a:rPr>
                        <a:t>Thesis chapter</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spcBef>
                          <a:spcPts val="0"/>
                        </a:spcBef>
                        <a:spcAft>
                          <a:spcPts val="0"/>
                        </a:spcAft>
                        <a:buClr>
                          <a:srgbClr val="27348B"/>
                        </a:buClr>
                        <a:buSzPts val="1200"/>
                        <a:buFont typeface="Calibri"/>
                        <a:buNone/>
                      </a:pPr>
                      <a:r>
                        <a:rPr b="1" lang="en-GB" sz="1200" u="none" cap="none" strike="noStrike">
                          <a:solidFill>
                            <a:srgbClr val="27348B"/>
                          </a:solidFill>
                          <a:latin typeface="Calibri"/>
                          <a:ea typeface="Calibri"/>
                          <a:cs typeface="Calibri"/>
                          <a:sym typeface="Calibri"/>
                        </a:rPr>
                        <a:t>2  </a:t>
                      </a:r>
                      <a:r>
                        <a:rPr lang="en-GB" sz="1200" u="none" cap="none" strike="noStrike">
                          <a:solidFill>
                            <a:srgbClr val="1B1F2A"/>
                          </a:solidFill>
                          <a:latin typeface="Calibri"/>
                          <a:ea typeface="Calibri"/>
                          <a:cs typeface="Calibri"/>
                          <a:sym typeface="Calibri"/>
                        </a:rPr>
                        <a:t>Survey</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B1F2A"/>
                        </a:buClr>
                        <a:buSzPts val="1200"/>
                        <a:buFont typeface="Calibri"/>
                        <a:buNone/>
                      </a:pPr>
                      <a:r>
                        <a:rPr b="1" lang="en-GB" sz="1200" u="none" cap="none" strike="noStrike">
                          <a:solidFill>
                            <a:srgbClr val="1B1F2A"/>
                          </a:solidFill>
                          <a:latin typeface="Calibri"/>
                          <a:ea typeface="Calibri"/>
                          <a:cs typeface="Calibri"/>
                          <a:sym typeface="Calibri"/>
                        </a:rPr>
                        <a:t>RQ1  </a:t>
                      </a:r>
                      <a:r>
                        <a:rPr lang="en-GB" sz="1200" u="none" cap="none" strike="noStrike">
                          <a:solidFill>
                            <a:srgbClr val="1B1F2A"/>
                          </a:solidFill>
                          <a:latin typeface="Calibri"/>
                          <a:ea typeface="Calibri"/>
                          <a:cs typeface="Calibri"/>
                          <a:sym typeface="Calibri"/>
                        </a:rPr>
                        <a:t>How are multi-page systems designed?</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B1F2A"/>
                        </a:buClr>
                        <a:buSzPts val="1200"/>
                        <a:buFont typeface="Calibri"/>
                        <a:buNone/>
                      </a:pPr>
                      <a:r>
                        <a:rPr lang="en-GB" sz="1200" u="none" cap="none" strike="noStrike">
                          <a:solidFill>
                            <a:srgbClr val="1B1F2A"/>
                          </a:solidFill>
                          <a:latin typeface="Calibri"/>
                          <a:ea typeface="Calibri"/>
                          <a:cs typeface="Calibri"/>
                          <a:sym typeface="Calibri"/>
                        </a:rPr>
                        <a:t>Managing Evidence at Document Scale: A Survey of MP-VRDU</a:t>
                      </a:r>
                      <a:endParaRPr sz="1200" u="none" cap="none" strike="noStrike">
                        <a:latin typeface="Calibri"/>
                        <a:ea typeface="Calibri"/>
                        <a:cs typeface="Calibri"/>
                        <a:sym typeface="Calibri"/>
                      </a:endParaRPr>
                    </a:p>
                    <a:p>
                      <a:pPr indent="0" lvl="0" marL="0" marR="0" rtl="0" algn="l">
                        <a:spcBef>
                          <a:spcPts val="0"/>
                        </a:spcBef>
                        <a:spcAft>
                          <a:spcPts val="0"/>
                        </a:spcAft>
                        <a:buClr>
                          <a:srgbClr val="27348B"/>
                        </a:buClr>
                        <a:buSzPts val="1200"/>
                        <a:buFont typeface="Calibri"/>
                        <a:buNone/>
                      </a:pPr>
                      <a:r>
                        <a:rPr b="1" lang="en-GB" sz="1200" u="none" cap="none" strike="noStrike">
                          <a:solidFill>
                            <a:schemeClr val="accent2"/>
                          </a:solidFill>
                          <a:latin typeface="Calibri"/>
                          <a:ea typeface="Calibri"/>
                          <a:cs typeface="Calibri"/>
                          <a:sym typeface="Calibri"/>
                        </a:rPr>
                        <a:t>EMNLP 2026, Main Conference</a:t>
                      </a:r>
                      <a:endParaRPr sz="1200" u="none" cap="none" strike="noStrike">
                        <a:solidFill>
                          <a:schemeClr val="accent2"/>
                        </a:solidFill>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spcBef>
                          <a:spcPts val="0"/>
                        </a:spcBef>
                        <a:spcAft>
                          <a:spcPts val="0"/>
                        </a:spcAft>
                        <a:buClr>
                          <a:srgbClr val="27348B"/>
                        </a:buClr>
                        <a:buSzPts val="1200"/>
                        <a:buFont typeface="Calibri"/>
                        <a:buNone/>
                      </a:pPr>
                      <a:r>
                        <a:rPr b="1" lang="en-GB" sz="1200" u="none" cap="none" strike="noStrike">
                          <a:solidFill>
                            <a:srgbClr val="27348B"/>
                          </a:solidFill>
                          <a:latin typeface="Calibri"/>
                          <a:ea typeface="Calibri"/>
                          <a:cs typeface="Calibri"/>
                          <a:sym typeface="Calibri"/>
                        </a:rPr>
                        <a:t>3  </a:t>
                      </a:r>
                      <a:r>
                        <a:rPr lang="en-GB" sz="1200" u="none" cap="none" strike="noStrike">
                          <a:solidFill>
                            <a:srgbClr val="1B1F2A"/>
                          </a:solidFill>
                          <a:latin typeface="Calibri"/>
                          <a:ea typeface="Calibri"/>
                          <a:cs typeface="Calibri"/>
                          <a:sym typeface="Calibri"/>
                        </a:rPr>
                        <a:t>Empirical study</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B1F2A"/>
                        </a:buClr>
                        <a:buSzPts val="1200"/>
                        <a:buFont typeface="Calibri"/>
                        <a:buNone/>
                      </a:pPr>
                      <a:r>
                        <a:rPr b="1" lang="en-GB" sz="1200" u="none" cap="none" strike="noStrike">
                          <a:solidFill>
                            <a:srgbClr val="1B1F2A"/>
                          </a:solidFill>
                          <a:latin typeface="Calibri"/>
                          <a:ea typeface="Calibri"/>
                          <a:cs typeface="Calibri"/>
                          <a:sym typeface="Calibri"/>
                        </a:rPr>
                        <a:t>RQ2  </a:t>
                      </a:r>
                      <a:r>
                        <a:rPr lang="en-GB" sz="1200" u="none" cap="none" strike="noStrike">
                          <a:solidFill>
                            <a:srgbClr val="1B1F2A"/>
                          </a:solidFill>
                          <a:latin typeface="Calibri"/>
                          <a:ea typeface="Calibri"/>
                          <a:cs typeface="Calibri"/>
                          <a:sym typeface="Calibri"/>
                        </a:rPr>
                        <a:t>Where and why do these systems fail?</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B1F2A"/>
                        </a:buClr>
                        <a:buSzPts val="1200"/>
                        <a:buFont typeface="Calibri"/>
                        <a:buNone/>
                      </a:pPr>
                      <a:r>
                        <a:rPr lang="en-GB" sz="1200" u="none" cap="none" strike="noStrike">
                          <a:solidFill>
                            <a:srgbClr val="1B1F2A"/>
                          </a:solidFill>
                          <a:latin typeface="Calibri"/>
                          <a:ea typeface="Calibri"/>
                          <a:cs typeface="Calibri"/>
                          <a:sym typeface="Calibri"/>
                        </a:rPr>
                        <a:t>Locating Failure in MP-VRDU: An Empirical Attribution</a:t>
                      </a:r>
                      <a:endParaRPr sz="1200" u="none" cap="none" strike="noStrike">
                        <a:latin typeface="Calibri"/>
                        <a:ea typeface="Calibri"/>
                        <a:cs typeface="Calibri"/>
                        <a:sym typeface="Calibri"/>
                      </a:endParaRPr>
                    </a:p>
                    <a:p>
                      <a:pPr indent="0" lvl="0" marL="0" marR="0" rtl="0" algn="l">
                        <a:spcBef>
                          <a:spcPts val="0"/>
                        </a:spcBef>
                        <a:spcAft>
                          <a:spcPts val="0"/>
                        </a:spcAft>
                        <a:buClr>
                          <a:srgbClr val="5A6072"/>
                        </a:buClr>
                        <a:buSzPts val="1200"/>
                        <a:buFont typeface="Calibri"/>
                        <a:buNone/>
                      </a:pPr>
                      <a:r>
                        <a:rPr b="1" lang="en-GB" sz="1200">
                          <a:solidFill>
                            <a:srgbClr val="5A6072"/>
                          </a:solidFill>
                          <a:latin typeface="Calibri"/>
                          <a:ea typeface="Calibri"/>
                          <a:cs typeface="Calibri"/>
                          <a:sym typeface="Calibri"/>
                        </a:rPr>
                        <a:t>Submitted to NAACL</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51500">
                <a:tc>
                  <a:txBody>
                    <a:bodyPr/>
                    <a:lstStyle/>
                    <a:p>
                      <a:pPr indent="0" lvl="0" marL="0" marR="0" rtl="0" algn="l">
                        <a:spcBef>
                          <a:spcPts val="0"/>
                        </a:spcBef>
                        <a:spcAft>
                          <a:spcPts val="0"/>
                        </a:spcAft>
                        <a:buClr>
                          <a:srgbClr val="27348B"/>
                        </a:buClr>
                        <a:buSzPts val="1200"/>
                        <a:buFont typeface="Calibri"/>
                        <a:buNone/>
                      </a:pPr>
                      <a:r>
                        <a:rPr b="1" lang="en-GB" sz="1200" u="none" cap="none" strike="noStrike">
                          <a:solidFill>
                            <a:srgbClr val="27348B"/>
                          </a:solidFill>
                          <a:latin typeface="Calibri"/>
                          <a:ea typeface="Calibri"/>
                          <a:cs typeface="Calibri"/>
                          <a:sym typeface="Calibri"/>
                        </a:rPr>
                        <a:t>4  </a:t>
                      </a:r>
                      <a:r>
                        <a:rPr lang="en-GB" sz="1200" u="none" cap="none" strike="noStrike">
                          <a:solidFill>
                            <a:srgbClr val="1B1F2A"/>
                          </a:solidFill>
                          <a:latin typeface="Calibri"/>
                          <a:ea typeface="Calibri"/>
                          <a:cs typeface="Calibri"/>
                          <a:sym typeface="Calibri"/>
                        </a:rPr>
                        <a:t>Method &amp; Conclusion</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B1F2A"/>
                        </a:buClr>
                        <a:buSzPts val="1200"/>
                        <a:buFont typeface="Calibri"/>
                        <a:buNone/>
                      </a:pPr>
                      <a:r>
                        <a:rPr b="1" lang="en-GB" sz="1200" u="none" cap="none" strike="noStrike">
                          <a:solidFill>
                            <a:srgbClr val="1B1F2A"/>
                          </a:solidFill>
                          <a:latin typeface="Calibri"/>
                          <a:ea typeface="Calibri"/>
                          <a:cs typeface="Calibri"/>
                          <a:sym typeface="Calibri"/>
                        </a:rPr>
                        <a:t>RQ3  </a:t>
                      </a:r>
                      <a:r>
                        <a:rPr lang="en-GB" sz="1200" u="none" cap="none" strike="noStrike">
                          <a:solidFill>
                            <a:srgbClr val="1B1F2A"/>
                          </a:solidFill>
                          <a:latin typeface="Calibri"/>
                          <a:ea typeface="Calibri"/>
                          <a:cs typeface="Calibri"/>
                          <a:sym typeface="Calibri"/>
                        </a:rPr>
                        <a:t>Can the findings build a competitive system under a fixed budget?</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5A6072"/>
                        </a:buClr>
                        <a:buSzPts val="1200"/>
                        <a:buFont typeface="Calibri"/>
                        <a:buNone/>
                      </a:pPr>
                      <a:r>
                        <a:rPr lang="en-GB" sz="1200" u="none" cap="none" strike="noStrike">
                          <a:solidFill>
                            <a:srgbClr val="5A6072"/>
                          </a:solidFill>
                          <a:latin typeface="Calibri"/>
                          <a:ea typeface="Calibri"/>
                          <a:cs typeface="Calibri"/>
                          <a:sym typeface="Calibri"/>
                        </a:rPr>
                        <a:t>Thesis chapter: training-free proof of concept</a:t>
                      </a:r>
                      <a:endParaRPr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9" name="Google Shape;79;p1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Multi-Page Visually Rich Documents</a:t>
            </a:r>
            <a:endParaRPr sz="2300"/>
          </a:p>
        </p:txBody>
      </p:sp>
      <p:sp>
        <p:nvSpPr>
          <p:cNvPr id="86" name="Google Shape;86;p1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1 · Introduction</a:t>
            </a:r>
            <a:endParaRPr b="0" i="0" sz="900" u="none" cap="none" strike="noStrike">
              <a:solidFill>
                <a:schemeClr val="dk1"/>
              </a:solidFill>
              <a:latin typeface="Calibri"/>
              <a:ea typeface="Calibri"/>
              <a:cs typeface="Calibri"/>
              <a:sym typeface="Calibri"/>
            </a:endParaRPr>
          </a:p>
        </p:txBody>
      </p:sp>
      <p:sp>
        <p:nvSpPr>
          <p:cNvPr id="87" name="Google Shape;87;p1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Meaning lives in </a:t>
            </a:r>
            <a:r>
              <a:rPr b="1" i="0" lang="en-GB" sz="1400" u="none" cap="none" strike="noStrike">
                <a:solidFill>
                  <a:schemeClr val="accent2"/>
                </a:solidFill>
                <a:latin typeface="Calibri"/>
                <a:ea typeface="Calibri"/>
                <a:cs typeface="Calibri"/>
                <a:sym typeface="Calibri"/>
              </a:rPr>
              <a:t>text</a:t>
            </a:r>
            <a:r>
              <a:rPr b="0" i="0" lang="en-GB" sz="1400" u="none" cap="none" strike="noStrike">
                <a:solidFill>
                  <a:schemeClr val="accent2"/>
                </a:solidFill>
                <a:latin typeface="Calibri"/>
                <a:ea typeface="Calibri"/>
                <a:cs typeface="Calibri"/>
                <a:sym typeface="Calibri"/>
              </a:rPr>
              <a:t>, </a:t>
            </a:r>
            <a:r>
              <a:rPr b="1" i="0" lang="en-GB" sz="1400" u="none" cap="none" strike="noStrike">
                <a:solidFill>
                  <a:schemeClr val="accent2"/>
                </a:solidFill>
                <a:latin typeface="Calibri"/>
                <a:ea typeface="Calibri"/>
                <a:cs typeface="Calibri"/>
                <a:sym typeface="Calibri"/>
              </a:rPr>
              <a:t>visuals</a:t>
            </a:r>
            <a:r>
              <a:rPr b="0" i="0" lang="en-GB" sz="1400" u="none" cap="none" strike="noStrike">
                <a:solidFill>
                  <a:srgbClr val="1B1F2A"/>
                </a:solidFill>
                <a:latin typeface="Calibri"/>
                <a:ea typeface="Calibri"/>
                <a:cs typeface="Calibri"/>
                <a:sym typeface="Calibri"/>
              </a:rPr>
              <a:t> and </a:t>
            </a:r>
            <a:r>
              <a:rPr b="1" i="0" lang="en-GB" sz="1400" u="none" cap="none" strike="noStrike">
                <a:solidFill>
                  <a:schemeClr val="accent2"/>
                </a:solidFill>
                <a:latin typeface="Calibri"/>
                <a:ea typeface="Calibri"/>
                <a:cs typeface="Calibri"/>
                <a:sym typeface="Calibri"/>
              </a:rPr>
              <a:t>layout</a:t>
            </a:r>
            <a:r>
              <a:rPr b="0" i="0" lang="en-GB" sz="1400" u="none" cap="none" strike="noStrike">
                <a:solidFill>
                  <a:schemeClr val="accent2"/>
                </a:solidFill>
                <a:latin typeface="Calibri"/>
                <a:ea typeface="Calibri"/>
                <a:cs typeface="Calibri"/>
                <a:sym typeface="Calibri"/>
              </a:rPr>
              <a:t>,</a:t>
            </a:r>
            <a:r>
              <a:rPr b="0" i="0" lang="en-GB" sz="1400" u="none" cap="none" strike="noStrike">
                <a:solidFill>
                  <a:srgbClr val="1B1F2A"/>
                </a:solidFill>
                <a:latin typeface="Calibri"/>
                <a:ea typeface="Calibri"/>
                <a:cs typeface="Calibri"/>
                <a:sym typeface="Calibri"/>
              </a:rPr>
              <a:t> and often runs across pages.</a:t>
            </a:r>
            <a:endParaRPr b="0" i="0" sz="1400" u="none" cap="none" strike="noStrike">
              <a:solidFill>
                <a:schemeClr val="dk1"/>
              </a:solidFill>
              <a:latin typeface="Calibri"/>
              <a:ea typeface="Calibri"/>
              <a:cs typeface="Calibri"/>
              <a:sym typeface="Calibri"/>
            </a:endParaRPr>
          </a:p>
        </p:txBody>
      </p:sp>
      <p:pic>
        <p:nvPicPr>
          <p:cNvPr descr="Research paper" id="88" name="Google Shape;88;p19"/>
          <p:cNvPicPr preferRelativeResize="0"/>
          <p:nvPr/>
        </p:nvPicPr>
        <p:blipFill rotWithShape="1">
          <a:blip r:embed="rId3">
            <a:alphaModFix/>
          </a:blip>
          <a:srcRect b="0" l="0" r="0" t="0"/>
          <a:stretch/>
        </p:blipFill>
        <p:spPr>
          <a:xfrm>
            <a:off x="411480" y="1165860"/>
            <a:ext cx="1499570" cy="1885950"/>
          </a:xfrm>
          <a:prstGeom prst="rect">
            <a:avLst/>
          </a:prstGeom>
          <a:noFill/>
          <a:ln>
            <a:noFill/>
          </a:ln>
        </p:spPr>
      </p:pic>
      <p:sp>
        <p:nvSpPr>
          <p:cNvPr id="89" name="Google Shape;89;p19"/>
          <p:cNvSpPr/>
          <p:nvPr/>
        </p:nvSpPr>
        <p:spPr>
          <a:xfrm>
            <a:off x="411480" y="1165860"/>
            <a:ext cx="1499700" cy="188580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9"/>
          <p:cNvSpPr txBox="1"/>
          <p:nvPr/>
        </p:nvSpPr>
        <p:spPr>
          <a:xfrm>
            <a:off x="411480" y="3106674"/>
            <a:ext cx="149957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Research paper</a:t>
            </a:r>
            <a:endParaRPr b="0" i="0" sz="900" u="none" cap="none" strike="noStrike">
              <a:solidFill>
                <a:schemeClr val="dk1"/>
              </a:solidFill>
              <a:latin typeface="Calibri"/>
              <a:ea typeface="Calibri"/>
              <a:cs typeface="Calibri"/>
              <a:sym typeface="Calibri"/>
            </a:endParaRPr>
          </a:p>
        </p:txBody>
      </p:sp>
      <p:pic>
        <p:nvPicPr>
          <p:cNvPr descr="Signed form, handwritten" id="91" name="Google Shape;91;p19"/>
          <p:cNvPicPr preferRelativeResize="0"/>
          <p:nvPr/>
        </p:nvPicPr>
        <p:blipFill rotWithShape="1">
          <a:blip r:embed="rId4">
            <a:alphaModFix/>
          </a:blip>
          <a:srcRect b="0" l="0" r="0" t="0"/>
          <a:stretch/>
        </p:blipFill>
        <p:spPr>
          <a:xfrm>
            <a:off x="2116790" y="1165860"/>
            <a:ext cx="1499570" cy="1885950"/>
          </a:xfrm>
          <a:prstGeom prst="rect">
            <a:avLst/>
          </a:prstGeom>
          <a:noFill/>
          <a:ln>
            <a:noFill/>
          </a:ln>
        </p:spPr>
      </p:pic>
      <p:sp>
        <p:nvSpPr>
          <p:cNvPr id="92" name="Google Shape;92;p19"/>
          <p:cNvSpPr/>
          <p:nvPr/>
        </p:nvSpPr>
        <p:spPr>
          <a:xfrm>
            <a:off x="2116790" y="1165860"/>
            <a:ext cx="1499570" cy="188595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9"/>
          <p:cNvSpPr txBox="1"/>
          <p:nvPr/>
        </p:nvSpPr>
        <p:spPr>
          <a:xfrm>
            <a:off x="2116790" y="3106674"/>
            <a:ext cx="149957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Signed form, handwritten</a:t>
            </a:r>
            <a:endParaRPr b="0" i="0" sz="900" u="none" cap="none" strike="noStrike">
              <a:solidFill>
                <a:schemeClr val="dk1"/>
              </a:solidFill>
              <a:latin typeface="Calibri"/>
              <a:ea typeface="Calibri"/>
              <a:cs typeface="Calibri"/>
              <a:sym typeface="Calibri"/>
            </a:endParaRPr>
          </a:p>
        </p:txBody>
      </p:sp>
      <p:pic>
        <p:nvPicPr>
          <p:cNvPr descr="Technical manual" id="94" name="Google Shape;94;p19"/>
          <p:cNvPicPr preferRelativeResize="0"/>
          <p:nvPr/>
        </p:nvPicPr>
        <p:blipFill rotWithShape="1">
          <a:blip r:embed="rId5">
            <a:alphaModFix/>
          </a:blip>
          <a:srcRect b="0" l="0" r="0" t="0"/>
          <a:stretch/>
        </p:blipFill>
        <p:spPr>
          <a:xfrm>
            <a:off x="3822101" y="1165860"/>
            <a:ext cx="1499570" cy="1885950"/>
          </a:xfrm>
          <a:prstGeom prst="rect">
            <a:avLst/>
          </a:prstGeom>
          <a:noFill/>
          <a:ln>
            <a:noFill/>
          </a:ln>
        </p:spPr>
      </p:pic>
      <p:sp>
        <p:nvSpPr>
          <p:cNvPr id="95" name="Google Shape;95;p19"/>
          <p:cNvSpPr/>
          <p:nvPr/>
        </p:nvSpPr>
        <p:spPr>
          <a:xfrm>
            <a:off x="3822101" y="1165860"/>
            <a:ext cx="1499570" cy="188595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9"/>
          <p:cNvSpPr txBox="1"/>
          <p:nvPr/>
        </p:nvSpPr>
        <p:spPr>
          <a:xfrm>
            <a:off x="3822101" y="3106674"/>
            <a:ext cx="149957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Technical manual</a:t>
            </a:r>
            <a:endParaRPr b="0" i="0" sz="900" u="none" cap="none" strike="noStrike">
              <a:solidFill>
                <a:schemeClr val="dk1"/>
              </a:solidFill>
              <a:latin typeface="Calibri"/>
              <a:ea typeface="Calibri"/>
              <a:cs typeface="Calibri"/>
              <a:sym typeface="Calibri"/>
            </a:endParaRPr>
          </a:p>
        </p:txBody>
      </p:sp>
      <p:pic>
        <p:nvPicPr>
          <p:cNvPr descr="Financial report" id="97" name="Google Shape;97;p19"/>
          <p:cNvPicPr preferRelativeResize="0"/>
          <p:nvPr/>
        </p:nvPicPr>
        <p:blipFill rotWithShape="1">
          <a:blip r:embed="rId6">
            <a:alphaModFix/>
          </a:blip>
          <a:srcRect b="0" l="0" r="0" t="0"/>
          <a:stretch/>
        </p:blipFill>
        <p:spPr>
          <a:xfrm>
            <a:off x="5527411" y="1165860"/>
            <a:ext cx="1499570" cy="1885950"/>
          </a:xfrm>
          <a:prstGeom prst="rect">
            <a:avLst/>
          </a:prstGeom>
          <a:noFill/>
          <a:ln>
            <a:noFill/>
          </a:ln>
        </p:spPr>
      </p:pic>
      <p:sp>
        <p:nvSpPr>
          <p:cNvPr id="98" name="Google Shape;98;p19"/>
          <p:cNvSpPr/>
          <p:nvPr/>
        </p:nvSpPr>
        <p:spPr>
          <a:xfrm>
            <a:off x="5527411" y="1165860"/>
            <a:ext cx="1499570" cy="188595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9"/>
          <p:cNvSpPr txBox="1"/>
          <p:nvPr/>
        </p:nvSpPr>
        <p:spPr>
          <a:xfrm>
            <a:off x="5527411" y="3106674"/>
            <a:ext cx="149957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Financial report</a:t>
            </a:r>
            <a:endParaRPr b="0" i="0" sz="900" u="none" cap="none" strike="noStrike">
              <a:solidFill>
                <a:schemeClr val="dk1"/>
              </a:solidFill>
              <a:latin typeface="Calibri"/>
              <a:ea typeface="Calibri"/>
              <a:cs typeface="Calibri"/>
              <a:sym typeface="Calibri"/>
            </a:endParaRPr>
          </a:p>
        </p:txBody>
      </p:sp>
      <p:pic>
        <p:nvPicPr>
          <p:cNvPr descr="Brochure" id="100" name="Google Shape;100;p19"/>
          <p:cNvPicPr preferRelativeResize="0"/>
          <p:nvPr/>
        </p:nvPicPr>
        <p:blipFill rotWithShape="1">
          <a:blip r:embed="rId7">
            <a:alphaModFix/>
          </a:blip>
          <a:srcRect b="0" l="0" r="0" t="0"/>
          <a:stretch/>
        </p:blipFill>
        <p:spPr>
          <a:xfrm>
            <a:off x="7232721" y="1165860"/>
            <a:ext cx="1499570" cy="1885950"/>
          </a:xfrm>
          <a:prstGeom prst="rect">
            <a:avLst/>
          </a:prstGeom>
          <a:noFill/>
          <a:ln>
            <a:noFill/>
          </a:ln>
        </p:spPr>
      </p:pic>
      <p:sp>
        <p:nvSpPr>
          <p:cNvPr id="101" name="Google Shape;101;p19"/>
          <p:cNvSpPr/>
          <p:nvPr/>
        </p:nvSpPr>
        <p:spPr>
          <a:xfrm>
            <a:off x="7232721" y="1165860"/>
            <a:ext cx="1499570" cy="188595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9"/>
          <p:cNvSpPr txBox="1"/>
          <p:nvPr/>
        </p:nvSpPr>
        <p:spPr>
          <a:xfrm>
            <a:off x="7232721" y="3106674"/>
            <a:ext cx="149957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Brochure</a:t>
            </a:r>
            <a:endParaRPr b="0" i="0" sz="900" u="none" cap="none" strike="noStrike">
              <a:solidFill>
                <a:schemeClr val="dk1"/>
              </a:solidFill>
              <a:latin typeface="Calibri"/>
              <a:ea typeface="Calibri"/>
              <a:cs typeface="Calibri"/>
              <a:sym typeface="Calibri"/>
            </a:endParaRPr>
          </a:p>
        </p:txBody>
      </p:sp>
      <p:sp>
        <p:nvSpPr>
          <p:cNvPr id="103" name="Google Shape;103;p19"/>
          <p:cNvSpPr txBox="1"/>
          <p:nvPr/>
        </p:nvSpPr>
        <p:spPr>
          <a:xfrm>
            <a:off x="411480" y="3566160"/>
            <a:ext cx="2545004"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Long</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Exceeds the model’s context window</a:t>
            </a:r>
            <a:endParaRPr b="0" i="0" sz="1400" u="none" cap="none" strike="noStrike">
              <a:solidFill>
                <a:schemeClr val="dk1"/>
              </a:solidFill>
              <a:latin typeface="Calibri"/>
              <a:ea typeface="Calibri"/>
              <a:cs typeface="Calibri"/>
              <a:sym typeface="Calibri"/>
            </a:endParaRPr>
          </a:p>
        </p:txBody>
      </p:sp>
      <p:sp>
        <p:nvSpPr>
          <p:cNvPr id="104" name="Google Shape;104;p19"/>
          <p:cNvSpPr txBox="1"/>
          <p:nvPr/>
        </p:nvSpPr>
        <p:spPr>
          <a:xfrm>
            <a:off x="3299384" y="3566160"/>
            <a:ext cx="2545003"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Sparse</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Evidence is buried among many pages</a:t>
            </a:r>
            <a:endParaRPr b="0" i="0" sz="1400" u="none" cap="none" strike="noStrike">
              <a:solidFill>
                <a:schemeClr val="dk1"/>
              </a:solidFill>
              <a:latin typeface="Calibri"/>
              <a:ea typeface="Calibri"/>
              <a:cs typeface="Calibri"/>
              <a:sym typeface="Calibri"/>
            </a:endParaRPr>
          </a:p>
        </p:txBody>
      </p:sp>
      <p:sp>
        <p:nvSpPr>
          <p:cNvPr id="105" name="Google Shape;105;p19"/>
          <p:cNvSpPr txBox="1"/>
          <p:nvPr/>
        </p:nvSpPr>
        <p:spPr>
          <a:xfrm>
            <a:off x="6187288" y="3566160"/>
            <a:ext cx="2545004"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Structured</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Links cross pages: “see Table 3”</a:t>
            </a:r>
            <a:endParaRPr b="0" i="0" sz="1400" u="none" cap="none" strike="noStrike">
              <a:solidFill>
                <a:schemeClr val="dk1"/>
              </a:solidFill>
              <a:latin typeface="Calibri"/>
              <a:ea typeface="Calibri"/>
              <a:cs typeface="Calibri"/>
              <a:sym typeface="Calibri"/>
            </a:endParaRPr>
          </a:p>
        </p:txBody>
      </p:sp>
      <p:sp>
        <p:nvSpPr>
          <p:cNvPr id="106" name="Google Shape;106;p1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Why a Fixed Compute Budget?</a:t>
            </a:r>
            <a:endParaRPr sz="2300"/>
          </a:p>
        </p:txBody>
      </p:sp>
      <p:sp>
        <p:nvSpPr>
          <p:cNvPr id="113" name="Google Shape;113;p2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1 · Introduction</a:t>
            </a:r>
            <a:endParaRPr b="0" i="0" sz="900" u="none" cap="none" strike="noStrike">
              <a:solidFill>
                <a:schemeClr val="dk1"/>
              </a:solidFill>
              <a:latin typeface="Calibri"/>
              <a:ea typeface="Calibri"/>
              <a:cs typeface="Calibri"/>
              <a:sym typeface="Calibri"/>
            </a:endParaRPr>
          </a:p>
        </p:txBody>
      </p:sp>
      <p:sp>
        <p:nvSpPr>
          <p:cNvPr id="114" name="Google Shape;114;p2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Real deployments need </a:t>
            </a:r>
            <a:r>
              <a:rPr b="1" i="0" lang="en-GB" sz="1400" u="none" cap="none" strike="noStrike">
                <a:solidFill>
                  <a:schemeClr val="accent2"/>
                </a:solidFill>
                <a:latin typeface="Calibri"/>
                <a:ea typeface="Calibri"/>
                <a:cs typeface="Calibri"/>
                <a:sym typeface="Calibri"/>
              </a:rPr>
              <a:t>local, open-weight models</a:t>
            </a:r>
            <a:r>
              <a:rPr b="0" i="0" lang="en-GB" sz="1400" u="none" cap="none" strike="noStrike">
                <a:solidFill>
                  <a:srgbClr val="1B1F2A"/>
                </a:solidFill>
                <a:latin typeface="Calibri"/>
                <a:ea typeface="Calibri"/>
                <a:cs typeface="Calibri"/>
                <a:sym typeface="Calibri"/>
              </a:rPr>
              <a:t> under a fixed compute budget.</a:t>
            </a:r>
            <a:endParaRPr b="0" i="0" sz="1400" u="none" cap="none" strike="noStrike">
              <a:solidFill>
                <a:schemeClr val="dk1"/>
              </a:solidFill>
              <a:latin typeface="Calibri"/>
              <a:ea typeface="Calibri"/>
              <a:cs typeface="Calibri"/>
              <a:sym typeface="Calibri"/>
            </a:endParaRPr>
          </a:p>
        </p:txBody>
      </p:sp>
      <p:pic>
        <p:nvPicPr>
          <p:cNvPr descr="claude_example_2.png" id="115" name="Google Shape;115;p20"/>
          <p:cNvPicPr preferRelativeResize="0"/>
          <p:nvPr/>
        </p:nvPicPr>
        <p:blipFill rotWithShape="1">
          <a:blip r:embed="rId3">
            <a:alphaModFix/>
          </a:blip>
          <a:srcRect b="0" l="0" r="0" t="0"/>
          <a:stretch/>
        </p:blipFill>
        <p:spPr>
          <a:xfrm>
            <a:off x="411480" y="1165860"/>
            <a:ext cx="3909060" cy="2960771"/>
          </a:xfrm>
          <a:prstGeom prst="rect">
            <a:avLst/>
          </a:prstGeom>
          <a:noFill/>
          <a:ln>
            <a:noFill/>
          </a:ln>
        </p:spPr>
      </p:pic>
      <p:sp>
        <p:nvSpPr>
          <p:cNvPr id="116" name="Google Shape;116;p20"/>
          <p:cNvSpPr txBox="1"/>
          <p:nvPr/>
        </p:nvSpPr>
        <p:spPr>
          <a:xfrm>
            <a:off x="411475" y="4195199"/>
            <a:ext cx="4160400" cy="30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1200" u="none" cap="none" strike="noStrike">
                <a:solidFill>
                  <a:srgbClr val="5A6072"/>
                </a:solidFill>
                <a:latin typeface="Calibri"/>
                <a:ea typeface="Calibri"/>
                <a:cs typeface="Calibri"/>
                <a:sym typeface="Calibri"/>
              </a:rPr>
              <a:t>LLM assistants plan, locate and inspect pages before answering.</a:t>
            </a:r>
            <a:endParaRPr b="0" i="0" sz="1200" u="none" cap="none" strike="noStrike">
              <a:solidFill>
                <a:schemeClr val="dk1"/>
              </a:solidFill>
              <a:latin typeface="Calibri"/>
              <a:ea typeface="Calibri"/>
              <a:cs typeface="Calibri"/>
              <a:sym typeface="Calibri"/>
            </a:endParaRPr>
          </a:p>
        </p:txBody>
      </p:sp>
      <p:sp>
        <p:nvSpPr>
          <p:cNvPr id="117" name="Google Shape;117;p20"/>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IN INDUSTRY</a:t>
            </a:r>
            <a:endParaRPr b="0" i="0" sz="900" u="none" cap="none" strike="noStrike">
              <a:solidFill>
                <a:schemeClr val="dk1"/>
              </a:solidFill>
              <a:latin typeface="Calibri"/>
              <a:ea typeface="Calibri"/>
              <a:cs typeface="Calibri"/>
              <a:sym typeface="Calibri"/>
            </a:endParaRPr>
          </a:p>
        </p:txBody>
      </p:sp>
      <p:sp>
        <p:nvSpPr>
          <p:cNvPr id="118" name="Google Shape;118;p20"/>
          <p:cNvSpPr txBox="1"/>
          <p:nvPr/>
        </p:nvSpPr>
        <p:spPr>
          <a:xfrm>
            <a:off x="4732020" y="1474470"/>
            <a:ext cx="397764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1" i="0" lang="en-GB" sz="1400" u="none" cap="none" strike="noStrike">
                <a:solidFill>
                  <a:srgbClr val="1B1F2A"/>
                </a:solidFill>
                <a:latin typeface="Calibri"/>
                <a:ea typeface="Calibri"/>
                <a:cs typeface="Calibri"/>
                <a:sym typeface="Calibri"/>
              </a:rPr>
              <a:t>Privacy</a:t>
            </a:r>
            <a:r>
              <a:rPr b="0" i="0" lang="en-GB" sz="1400" u="none" cap="none" strike="noStrike">
                <a:solidFill>
                  <a:srgbClr val="1B1F2A"/>
                </a:solidFill>
                <a:latin typeface="Calibri"/>
                <a:ea typeface="Calibri"/>
                <a:cs typeface="Calibri"/>
                <a:sym typeface="Calibri"/>
              </a:rPr>
              <a:t>: medical, legal and financial records stay in-house</a:t>
            </a:r>
            <a:endParaRPr b="0" i="0" sz="1400" u="none" cap="none" strike="noStrike">
              <a:solidFill>
                <a:schemeClr val="dk1"/>
              </a:solidFill>
              <a:latin typeface="Calibri"/>
              <a:ea typeface="Calibri"/>
              <a:cs typeface="Calibri"/>
              <a:sym typeface="Calibri"/>
            </a:endParaRPr>
          </a:p>
          <a:p>
            <a:pPr indent="0" lvl="0" marL="0" marR="0" rtl="0" algn="l">
              <a:spcBef>
                <a:spcPts val="900"/>
              </a:spcBef>
              <a:spcAft>
                <a:spcPts val="0"/>
              </a:spcAft>
              <a:buClr>
                <a:srgbClr val="1B1F2A"/>
              </a:buClr>
              <a:buSzPts val="1400"/>
              <a:buFont typeface="Calibri"/>
              <a:buNone/>
            </a:pPr>
            <a:r>
              <a:rPr b="1" i="0" lang="en-GB" sz="1400" u="none" cap="none" strike="noStrike">
                <a:solidFill>
                  <a:srgbClr val="1B1F2A"/>
                </a:solidFill>
                <a:latin typeface="Calibri"/>
                <a:ea typeface="Calibri"/>
                <a:cs typeface="Calibri"/>
                <a:sym typeface="Calibri"/>
              </a:rPr>
              <a:t>Cost</a:t>
            </a:r>
            <a:r>
              <a:rPr b="0" i="0" lang="en-GB" sz="1400" u="none" cap="none" strike="noStrike">
                <a:solidFill>
                  <a:srgbClr val="1B1F2A"/>
                </a:solidFill>
                <a:latin typeface="Calibri"/>
                <a:ea typeface="Calibri"/>
                <a:cs typeface="Calibri"/>
                <a:sym typeface="Calibri"/>
              </a:rPr>
              <a:t>: API fees become prohibitive at millions of documents</a:t>
            </a:r>
            <a:endParaRPr b="0" i="0" sz="1400" u="none" cap="none" strike="noStrike">
              <a:solidFill>
                <a:schemeClr val="dk1"/>
              </a:solidFill>
              <a:latin typeface="Calibri"/>
              <a:ea typeface="Calibri"/>
              <a:cs typeface="Calibri"/>
              <a:sym typeface="Calibri"/>
            </a:endParaRPr>
          </a:p>
          <a:p>
            <a:pPr indent="0" lvl="0" marL="0" marR="0" rtl="0" algn="l">
              <a:spcBef>
                <a:spcPts val="900"/>
              </a:spcBef>
              <a:spcAft>
                <a:spcPts val="0"/>
              </a:spcAft>
              <a:buClr>
                <a:srgbClr val="1B1F2A"/>
              </a:buClr>
              <a:buSzPts val="1400"/>
              <a:buFont typeface="Calibri"/>
              <a:buNone/>
            </a:pPr>
            <a:r>
              <a:rPr b="1" i="0" lang="en-GB" sz="1400" u="none" cap="none" strike="noStrike">
                <a:solidFill>
                  <a:srgbClr val="1B1F2A"/>
                </a:solidFill>
                <a:latin typeface="Calibri"/>
                <a:ea typeface="Calibri"/>
                <a:cs typeface="Calibri"/>
                <a:sym typeface="Calibri"/>
              </a:rPr>
              <a:t>Specialisation</a:t>
            </a:r>
            <a:r>
              <a:rPr b="0" i="0" lang="en-GB" sz="1400" u="none" cap="none" strike="noStrike">
                <a:solidFill>
                  <a:srgbClr val="1B1F2A"/>
                </a:solidFill>
                <a:latin typeface="Calibri"/>
                <a:ea typeface="Calibri"/>
                <a:cs typeface="Calibri"/>
                <a:sym typeface="Calibri"/>
              </a:rPr>
              <a:t>: domain documents need an adapted model</a:t>
            </a:r>
            <a:endParaRPr b="0" i="0" sz="1400" u="none" cap="none" strike="noStrike">
              <a:solidFill>
                <a:schemeClr val="dk1"/>
              </a:solidFill>
              <a:latin typeface="Calibri"/>
              <a:ea typeface="Calibri"/>
              <a:cs typeface="Calibri"/>
              <a:sym typeface="Calibri"/>
            </a:endParaRPr>
          </a:p>
        </p:txBody>
      </p:sp>
      <p:sp>
        <p:nvSpPr>
          <p:cNvPr id="119" name="Google Shape;119;p20"/>
          <p:cNvSpPr txBox="1"/>
          <p:nvPr/>
        </p:nvSpPr>
        <p:spPr>
          <a:xfrm>
            <a:off x="4732020" y="3360420"/>
            <a:ext cx="39776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500"/>
              <a:buFont typeface="Calibri"/>
              <a:buNone/>
            </a:pPr>
            <a:r>
              <a:rPr b="1" i="0" lang="en-GB" sz="1500" u="none" cap="none" strike="noStrike">
                <a:solidFill>
                  <a:schemeClr val="accent2"/>
                </a:solidFill>
                <a:latin typeface="Calibri"/>
                <a:ea typeface="Calibri"/>
                <a:cs typeface="Calibri"/>
                <a:sym typeface="Calibri"/>
              </a:rPr>
              <a:t>Which pages to read, at what resolution, and how many times?</a:t>
            </a:r>
            <a:endParaRPr b="0" i="0" sz="1500" u="none" cap="none" strike="noStrike">
              <a:solidFill>
                <a:schemeClr val="accent2"/>
              </a:solidFill>
              <a:latin typeface="Calibri"/>
              <a:ea typeface="Calibri"/>
              <a:cs typeface="Calibri"/>
              <a:sym typeface="Calibri"/>
            </a:endParaRPr>
          </a:p>
        </p:txBody>
      </p:sp>
      <p:sp>
        <p:nvSpPr>
          <p:cNvPr id="120" name="Google Shape;120;p2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 Managing Evidence at Document Scale</a:t>
            </a:r>
            <a:endParaRPr sz="2300"/>
          </a:p>
        </p:txBody>
      </p:sp>
      <p:sp>
        <p:nvSpPr>
          <p:cNvPr id="127" name="Google Shape;127;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2 · Survey · EMNLP 2026 Main</a:t>
            </a:r>
            <a:endParaRPr b="0" i="0" sz="900" u="none" cap="none" strike="noStrike">
              <a:solidFill>
                <a:schemeClr val="dk1"/>
              </a:solidFill>
              <a:latin typeface="Calibri"/>
              <a:ea typeface="Calibri"/>
              <a:cs typeface="Calibri"/>
              <a:sym typeface="Calibri"/>
            </a:endParaRPr>
          </a:p>
        </p:txBody>
      </p:sp>
      <p:sp>
        <p:nvSpPr>
          <p:cNvPr id="128" name="Google Shape;128;p21"/>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1" lang="en-GB">
                <a:solidFill>
                  <a:srgbClr val="980000"/>
                </a:solidFill>
                <a:latin typeface="Calibri"/>
                <a:ea typeface="Calibri"/>
                <a:cs typeface="Calibri"/>
                <a:sym typeface="Calibri"/>
              </a:rPr>
              <a:t>First-Authored</a:t>
            </a:r>
            <a:r>
              <a:rPr lang="en-GB">
                <a:solidFill>
                  <a:srgbClr val="1B1F2A"/>
                </a:solidFill>
                <a:latin typeface="Calibri"/>
                <a:ea typeface="Calibri"/>
                <a:cs typeface="Calibri"/>
                <a:sym typeface="Calibri"/>
              </a:rPr>
              <a:t> and </a:t>
            </a:r>
            <a:r>
              <a:rPr b="0" i="0" lang="en-GB" sz="1400" u="none" cap="none" strike="noStrike">
                <a:solidFill>
                  <a:srgbClr val="1B1F2A"/>
                </a:solidFill>
                <a:latin typeface="Calibri"/>
                <a:ea typeface="Calibri"/>
                <a:cs typeface="Calibri"/>
                <a:sym typeface="Calibri"/>
              </a:rPr>
              <a:t>Accepted at the </a:t>
            </a:r>
            <a:r>
              <a:rPr b="1" i="0" lang="en-GB" sz="1400" u="none" cap="none" strike="noStrike">
                <a:solidFill>
                  <a:srgbClr val="980000"/>
                </a:solidFill>
                <a:latin typeface="Calibri"/>
                <a:ea typeface="Calibri"/>
                <a:cs typeface="Calibri"/>
                <a:sym typeface="Calibri"/>
              </a:rPr>
              <a:t>EMNLP 2026 Main Conference</a:t>
            </a:r>
            <a:r>
              <a:rPr b="0" i="0" lang="en-GB" sz="1400" u="none" cap="none" strike="noStrike">
                <a:solidFill>
                  <a:srgbClr val="1B1F2A"/>
                </a:solidFill>
                <a:latin typeface="Calibri"/>
                <a:ea typeface="Calibri"/>
                <a:cs typeface="Calibri"/>
                <a:sym typeface="Calibri"/>
              </a:rPr>
              <a:t>, Budapest.</a:t>
            </a:r>
            <a:endParaRPr b="0" i="0" sz="1400" u="none" cap="none" strike="noStrike">
              <a:solidFill>
                <a:schemeClr val="dk1"/>
              </a:solidFill>
              <a:latin typeface="Calibri"/>
              <a:ea typeface="Calibri"/>
              <a:cs typeface="Calibri"/>
              <a:sym typeface="Calibri"/>
            </a:endParaRPr>
          </a:p>
        </p:txBody>
      </p:sp>
      <p:pic>
        <p:nvPicPr>
          <p:cNvPr descr="First page of the survey paper" id="129" name="Google Shape;129;p21"/>
          <p:cNvPicPr preferRelativeResize="0"/>
          <p:nvPr/>
        </p:nvPicPr>
        <p:blipFill rotWithShape="1">
          <a:blip r:embed="rId3">
            <a:alphaModFix/>
          </a:blip>
          <a:srcRect b="14626" l="0" r="0" t="0"/>
          <a:stretch/>
        </p:blipFill>
        <p:spPr>
          <a:xfrm>
            <a:off x="411480" y="1165860"/>
            <a:ext cx="2811780" cy="3394710"/>
          </a:xfrm>
          <a:prstGeom prst="rect">
            <a:avLst/>
          </a:prstGeom>
          <a:noFill/>
          <a:ln>
            <a:noFill/>
          </a:ln>
        </p:spPr>
      </p:pic>
      <p:sp>
        <p:nvSpPr>
          <p:cNvPr id="130" name="Google Shape;130;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emnlp2026_logo.png" id="131" name="Google Shape;131;p21"/>
          <p:cNvPicPr preferRelativeResize="0"/>
          <p:nvPr/>
        </p:nvPicPr>
        <p:blipFill rotWithShape="1">
          <a:blip r:embed="rId4">
            <a:alphaModFix/>
          </a:blip>
          <a:srcRect b="0" l="0" r="0" t="0"/>
          <a:stretch/>
        </p:blipFill>
        <p:spPr>
          <a:xfrm>
            <a:off x="3634740" y="1188979"/>
            <a:ext cx="2057400" cy="358385"/>
          </a:xfrm>
          <a:prstGeom prst="rect">
            <a:avLst/>
          </a:prstGeom>
          <a:noFill/>
          <a:ln>
            <a:noFill/>
          </a:ln>
        </p:spPr>
      </p:pic>
      <p:sp>
        <p:nvSpPr>
          <p:cNvPr id="132" name="Google Shape;132;p21"/>
          <p:cNvSpPr txBox="1"/>
          <p:nvPr/>
        </p:nvSpPr>
        <p:spPr>
          <a:xfrm>
            <a:off x="3634740" y="1783080"/>
            <a:ext cx="5097551"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z="900" u="none" cap="none" strike="noStrike">
              <a:solidFill>
                <a:schemeClr val="dk1"/>
              </a:solidFill>
              <a:latin typeface="Calibri"/>
              <a:ea typeface="Calibri"/>
              <a:cs typeface="Calibri"/>
              <a:sym typeface="Calibri"/>
            </a:endParaRPr>
          </a:p>
        </p:txBody>
      </p:sp>
      <p:sp>
        <p:nvSpPr>
          <p:cNvPr id="133" name="Google Shape;133;p21"/>
          <p:cNvSpPr txBox="1"/>
          <p:nvPr/>
        </p:nvSpPr>
        <p:spPr>
          <a:xfrm>
            <a:off x="3634740" y="2023110"/>
            <a:ext cx="5097551"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Multi-page systems grew along </a:t>
            </a:r>
            <a:r>
              <a:rPr b="1" i="0" lang="en-GB" sz="1400" u="none" cap="none" strike="noStrike">
                <a:solidFill>
                  <a:srgbClr val="27348B"/>
                </a:solidFill>
                <a:latin typeface="Calibri"/>
                <a:ea typeface="Calibri"/>
                <a:cs typeface="Calibri"/>
                <a:sym typeface="Calibri"/>
              </a:rPr>
              <a:t>parallel lines</a:t>
            </a:r>
            <a:r>
              <a:rPr b="0" i="0" lang="en-GB" sz="1400" u="none" cap="none" strike="noStrike">
                <a:solidFill>
                  <a:srgbClr val="1B1F2A"/>
                </a:solidFill>
                <a:latin typeface="Calibri"/>
                <a:ea typeface="Calibri"/>
                <a:cs typeface="Calibri"/>
                <a:sym typeface="Calibri"/>
              </a:rPr>
              <a:t>, with inconsistent terminology and little cross-family comparison.</a:t>
            </a:r>
            <a:endParaRPr b="0" i="0" sz="1400" u="none" cap="none" strike="noStrike">
              <a:solidFill>
                <a:schemeClr val="dk1"/>
              </a:solidFill>
              <a:latin typeface="Calibri"/>
              <a:ea typeface="Calibri"/>
              <a:cs typeface="Calibri"/>
              <a:sym typeface="Calibri"/>
            </a:endParaRPr>
          </a:p>
        </p:txBody>
      </p:sp>
      <p:sp>
        <p:nvSpPr>
          <p:cNvPr id="134" name="Google Shape;134;p21"/>
          <p:cNvSpPr txBox="1"/>
          <p:nvPr/>
        </p:nvSpPr>
        <p:spPr>
          <a:xfrm>
            <a:off x="3634740" y="2743200"/>
            <a:ext cx="5097551"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z="900" u="none" cap="none" strike="noStrike">
              <a:solidFill>
                <a:schemeClr val="dk1"/>
              </a:solidFill>
              <a:latin typeface="Calibri"/>
              <a:ea typeface="Calibri"/>
              <a:cs typeface="Calibri"/>
              <a:sym typeface="Calibri"/>
            </a:endParaRPr>
          </a:p>
        </p:txBody>
      </p:sp>
      <p:sp>
        <p:nvSpPr>
          <p:cNvPr id="135" name="Google Shape;135;p21"/>
          <p:cNvSpPr txBox="1"/>
          <p:nvPr/>
        </p:nvSpPr>
        <p:spPr>
          <a:xfrm>
            <a:off x="3634740" y="2983230"/>
            <a:ext cx="5097551"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The first survey to treat MP-VRDU as a </a:t>
            </a:r>
            <a:r>
              <a:rPr b="1" i="0" lang="en-GB" sz="1400" u="none" cap="none" strike="noStrike">
                <a:solidFill>
                  <a:srgbClr val="27348B"/>
                </a:solidFill>
                <a:latin typeface="Calibri"/>
                <a:ea typeface="Calibri"/>
                <a:cs typeface="Calibri"/>
                <a:sym typeface="Calibri"/>
              </a:rPr>
              <a:t>distinct problem</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A taxonomy of </a:t>
            </a:r>
            <a:r>
              <a:rPr b="1" i="0" lang="en-GB" sz="1400" u="none" cap="none" strike="noStrike">
                <a:solidFill>
                  <a:srgbClr val="27348B"/>
                </a:solidFill>
                <a:latin typeface="Calibri"/>
                <a:ea typeface="Calibri"/>
                <a:cs typeface="Calibri"/>
                <a:sym typeface="Calibri"/>
              </a:rPr>
              <a:t>46 systems</a:t>
            </a:r>
            <a:r>
              <a:rPr b="0" i="0" lang="en-GB" sz="1400" u="none" cap="none" strike="noStrike">
                <a:solidFill>
                  <a:srgbClr val="1B1F2A"/>
                </a:solidFill>
                <a:latin typeface="Calibri"/>
                <a:ea typeface="Calibri"/>
                <a:cs typeface="Calibri"/>
                <a:sym typeface="Calibri"/>
              </a:rPr>
              <a:t>, organised by </a:t>
            </a:r>
            <a:r>
              <a:rPr b="1" i="0" lang="en-GB" sz="1400" u="none" cap="none" strike="noStrike">
                <a:solidFill>
                  <a:srgbClr val="27348B"/>
                </a:solidFill>
                <a:latin typeface="Calibri"/>
                <a:ea typeface="Calibri"/>
                <a:cs typeface="Calibri"/>
                <a:sym typeface="Calibri"/>
              </a:rPr>
              <a:t>evidence management</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47 datasets</a:t>
            </a:r>
            <a:r>
              <a:rPr b="0" i="0" lang="en-GB" sz="1400" u="none" cap="none" strike="noStrike">
                <a:solidFill>
                  <a:srgbClr val="1B1F2A"/>
                </a:solidFill>
                <a:latin typeface="Calibri"/>
                <a:ea typeface="Calibri"/>
                <a:cs typeface="Calibri"/>
                <a:sym typeface="Calibri"/>
              </a:rPr>
              <a:t> consolidated; five open challenges</a:t>
            </a:r>
            <a:endParaRPr b="0" i="0" sz="1400" u="none" cap="none" strike="noStrike">
              <a:solidFill>
                <a:schemeClr val="dk1"/>
              </a:solidFill>
              <a:latin typeface="Calibri"/>
              <a:ea typeface="Calibri"/>
              <a:cs typeface="Calibri"/>
              <a:sym typeface="Calibri"/>
            </a:endParaRPr>
          </a:p>
        </p:txBody>
      </p:sp>
      <p:sp>
        <p:nvSpPr>
          <p:cNvPr id="136" name="Google Shape;136;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Four Architectural Families</a:t>
            </a:r>
            <a:endParaRPr sz="2300"/>
          </a:p>
        </p:txBody>
      </p:sp>
      <p:sp>
        <p:nvSpPr>
          <p:cNvPr id="143" name="Google Shape;143;p2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2 · Survey · EMNLP 2026 Main</a:t>
            </a:r>
            <a:endParaRPr b="0" i="0" sz="900" u="none" cap="none" strike="noStrike">
              <a:solidFill>
                <a:schemeClr val="dk1"/>
              </a:solidFill>
              <a:latin typeface="Calibri"/>
              <a:ea typeface="Calibri"/>
              <a:cs typeface="Calibri"/>
              <a:sym typeface="Calibri"/>
            </a:endParaRPr>
          </a:p>
        </p:txBody>
      </p:sp>
      <p:sp>
        <p:nvSpPr>
          <p:cNvPr id="144" name="Google Shape;144;p2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Each family fixes the previous bottleneck and </a:t>
            </a:r>
            <a:r>
              <a:rPr b="1" i="0" lang="en-GB" sz="1400" u="none" cap="none" strike="noStrike">
                <a:solidFill>
                  <a:srgbClr val="27348B"/>
                </a:solidFill>
                <a:latin typeface="Calibri"/>
                <a:ea typeface="Calibri"/>
                <a:cs typeface="Calibri"/>
                <a:sym typeface="Calibri"/>
              </a:rPr>
              <a:t>relocates</a:t>
            </a:r>
            <a:r>
              <a:rPr b="0" i="0" lang="en-GB" sz="1400" u="none" cap="none" strike="noStrike">
                <a:solidFill>
                  <a:srgbClr val="1B1F2A"/>
                </a:solidFill>
                <a:latin typeface="Calibri"/>
                <a:ea typeface="Calibri"/>
                <a:cs typeface="Calibri"/>
                <a:sym typeface="Calibri"/>
              </a:rPr>
              <a:t> it rather than removing it.</a:t>
            </a:r>
            <a:endParaRPr b="0" i="0" sz="1400" u="none" cap="none" strike="noStrike">
              <a:solidFill>
                <a:schemeClr val="dk1"/>
              </a:solidFill>
              <a:latin typeface="Calibri"/>
              <a:ea typeface="Calibri"/>
              <a:cs typeface="Calibri"/>
              <a:sym typeface="Calibri"/>
            </a:endParaRPr>
          </a:p>
        </p:txBody>
      </p:sp>
      <p:pic>
        <p:nvPicPr>
          <p:cNvPr descr="models_arch.png" id="145" name="Google Shape;145;p22"/>
          <p:cNvPicPr preferRelativeResize="0"/>
          <p:nvPr/>
        </p:nvPicPr>
        <p:blipFill rotWithShape="1">
          <a:blip r:embed="rId3">
            <a:alphaModFix/>
          </a:blip>
          <a:srcRect b="0" l="0" r="0" t="0"/>
          <a:stretch/>
        </p:blipFill>
        <p:spPr>
          <a:xfrm>
            <a:off x="411480" y="1131570"/>
            <a:ext cx="8320811" cy="2419969"/>
          </a:xfrm>
          <a:prstGeom prst="rect">
            <a:avLst/>
          </a:prstGeom>
          <a:noFill/>
          <a:ln>
            <a:noFill/>
          </a:ln>
        </p:spPr>
      </p:pic>
      <p:sp>
        <p:nvSpPr>
          <p:cNvPr id="146" name="Google Shape;146;p22"/>
          <p:cNvSpPr txBox="1"/>
          <p:nvPr/>
        </p:nvSpPr>
        <p:spPr>
          <a:xfrm>
            <a:off x="411480" y="3606403"/>
            <a:ext cx="2080203"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e.g. Hi-VT5, GRAM</a:t>
            </a:r>
            <a:endParaRPr b="0" i="0" sz="1000" u="none" cap="none" strike="noStrike">
              <a:solidFill>
                <a:schemeClr val="dk1"/>
              </a:solidFill>
              <a:latin typeface="Calibri"/>
              <a:ea typeface="Calibri"/>
              <a:cs typeface="Calibri"/>
              <a:sym typeface="Calibri"/>
            </a:endParaRPr>
          </a:p>
        </p:txBody>
      </p:sp>
      <p:sp>
        <p:nvSpPr>
          <p:cNvPr id="147" name="Google Shape;147;p22"/>
          <p:cNvSpPr txBox="1"/>
          <p:nvPr/>
        </p:nvSpPr>
        <p:spPr>
          <a:xfrm>
            <a:off x="2491683" y="3606403"/>
            <a:ext cx="2080203"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e.g. DocSLM, Docopilot</a:t>
            </a:r>
            <a:endParaRPr b="0" i="0" sz="1000" u="none" cap="none" strike="noStrike">
              <a:solidFill>
                <a:schemeClr val="dk1"/>
              </a:solidFill>
              <a:latin typeface="Calibri"/>
              <a:ea typeface="Calibri"/>
              <a:cs typeface="Calibri"/>
              <a:sym typeface="Calibri"/>
            </a:endParaRPr>
          </a:p>
        </p:txBody>
      </p:sp>
      <p:sp>
        <p:nvSpPr>
          <p:cNvPr id="148" name="Google Shape;148;p22"/>
          <p:cNvSpPr txBox="1"/>
          <p:nvPr/>
        </p:nvSpPr>
        <p:spPr>
          <a:xfrm>
            <a:off x="4571886" y="3606403"/>
            <a:ext cx="2080203"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e.g. M3DocRAG, MoLoRAG</a:t>
            </a:r>
            <a:endParaRPr b="0" i="0" sz="1000" u="none" cap="none" strike="noStrike">
              <a:solidFill>
                <a:schemeClr val="dk1"/>
              </a:solidFill>
              <a:latin typeface="Calibri"/>
              <a:ea typeface="Calibri"/>
              <a:cs typeface="Calibri"/>
              <a:sym typeface="Calibri"/>
            </a:endParaRPr>
          </a:p>
        </p:txBody>
      </p:sp>
      <p:sp>
        <p:nvSpPr>
          <p:cNvPr id="149" name="Google Shape;149;p22"/>
          <p:cNvSpPr txBox="1"/>
          <p:nvPr/>
        </p:nvSpPr>
        <p:spPr>
          <a:xfrm>
            <a:off x="6652088" y="3606403"/>
            <a:ext cx="2080203"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e.g. SimpleDoc, DocAgent</a:t>
            </a:r>
            <a:endParaRPr b="0" i="0" sz="1000" u="none" cap="none" strike="noStrike">
              <a:solidFill>
                <a:schemeClr val="dk1"/>
              </a:solidFill>
              <a:latin typeface="Calibri"/>
              <a:ea typeface="Calibri"/>
              <a:cs typeface="Calibri"/>
              <a:sym typeface="Calibri"/>
            </a:endParaRPr>
          </a:p>
        </p:txBody>
      </p:sp>
      <p:sp>
        <p:nvSpPr>
          <p:cNvPr id="150" name="Google Shape;150;p22"/>
          <p:cNvSpPr txBox="1"/>
          <p:nvPr/>
        </p:nvSpPr>
        <p:spPr>
          <a:xfrm>
            <a:off x="411480" y="4011930"/>
            <a:ext cx="416040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Models</a:t>
            </a:r>
            <a:r>
              <a:rPr b="0" i="0" lang="en-GB" sz="1400" u="none" cap="none" strike="noStrike">
                <a:solidFill>
                  <a:srgbClr val="1B1F2A"/>
                </a:solidFill>
                <a:latin typeface="Calibri"/>
                <a:ea typeface="Calibri"/>
                <a:cs typeface="Calibri"/>
                <a:sym typeface="Calibri"/>
              </a:rPr>
              <a:t>: trained end to end, purpose-built components</a:t>
            </a:r>
            <a:endParaRPr b="0" i="0" sz="1400" u="none" cap="none" strike="noStrike">
              <a:solidFill>
                <a:schemeClr val="dk1"/>
              </a:solidFill>
              <a:latin typeface="Calibri"/>
              <a:ea typeface="Calibri"/>
              <a:cs typeface="Calibri"/>
              <a:sym typeface="Calibri"/>
            </a:endParaRPr>
          </a:p>
        </p:txBody>
      </p:sp>
      <p:sp>
        <p:nvSpPr>
          <p:cNvPr id="151" name="Google Shape;151;p22"/>
          <p:cNvSpPr txBox="1"/>
          <p:nvPr/>
        </p:nvSpPr>
        <p:spPr>
          <a:xfrm>
            <a:off x="4571886" y="4011930"/>
            <a:ext cx="416040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Pipelines</a:t>
            </a:r>
            <a:r>
              <a:rPr b="0" i="0" lang="en-GB" sz="1400" u="none" cap="none" strike="noStrike">
                <a:solidFill>
                  <a:srgbClr val="1B1F2A"/>
                </a:solidFill>
                <a:latin typeface="Calibri"/>
                <a:ea typeface="Calibri"/>
                <a:cs typeface="Calibri"/>
                <a:sym typeface="Calibri"/>
              </a:rPr>
              <a:t>: modular, interchangeable backbones</a:t>
            </a:r>
            <a:endParaRPr b="0" i="0" sz="1400" u="none" cap="none" strike="noStrike">
              <a:solidFill>
                <a:schemeClr val="dk1"/>
              </a:solidFill>
              <a:latin typeface="Calibri"/>
              <a:ea typeface="Calibri"/>
              <a:cs typeface="Calibri"/>
              <a:sym typeface="Calibri"/>
            </a:endParaRPr>
          </a:p>
        </p:txBody>
      </p:sp>
      <p:sp>
        <p:nvSpPr>
          <p:cNvPr id="152" name="Google Shape;152;p2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Surveyed Systems at a Glance</a:t>
            </a:r>
            <a:endParaRPr sz="2300"/>
          </a:p>
        </p:txBody>
      </p:sp>
      <p:sp>
        <p:nvSpPr>
          <p:cNvPr id="159" name="Google Shape;159;p2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2 · Survey · EMNLP 2026 Main</a:t>
            </a:r>
            <a:endParaRPr b="0" i="0" sz="900" u="none" cap="none" strike="noStrike">
              <a:solidFill>
                <a:schemeClr val="dk1"/>
              </a:solidFill>
              <a:latin typeface="Calibri"/>
              <a:ea typeface="Calibri"/>
              <a:cs typeface="Calibri"/>
              <a:sym typeface="Calibri"/>
            </a:endParaRPr>
          </a:p>
        </p:txBody>
      </p:sp>
      <p:sp>
        <p:nvSpPr>
          <p:cNvPr id="160" name="Google Shape;160;p2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The survey’s main table: every system, grouped by family.</a:t>
            </a:r>
            <a:endParaRPr b="0" i="0" sz="1400" u="none" cap="none" strike="noStrike">
              <a:solidFill>
                <a:schemeClr val="dk1"/>
              </a:solidFill>
              <a:latin typeface="Calibri"/>
              <a:ea typeface="Calibri"/>
              <a:cs typeface="Calibri"/>
              <a:sym typeface="Calibri"/>
            </a:endParaRPr>
          </a:p>
        </p:txBody>
      </p:sp>
      <p:pic>
        <p:nvPicPr>
          <p:cNvPr descr="Table 1 of the survey" id="161" name="Google Shape;161;p23"/>
          <p:cNvPicPr preferRelativeResize="0"/>
          <p:nvPr/>
        </p:nvPicPr>
        <p:blipFill rotWithShape="1">
          <a:blip r:embed="rId3">
            <a:alphaModFix/>
          </a:blip>
          <a:srcRect b="0" l="0" r="0" t="0"/>
          <a:stretch/>
        </p:blipFill>
        <p:spPr>
          <a:xfrm>
            <a:off x="411480" y="1097280"/>
            <a:ext cx="3747718" cy="3531870"/>
          </a:xfrm>
          <a:prstGeom prst="rect">
            <a:avLst/>
          </a:prstGeom>
          <a:noFill/>
          <a:ln>
            <a:noFill/>
          </a:ln>
        </p:spPr>
      </p:pic>
      <p:sp>
        <p:nvSpPr>
          <p:cNvPr id="162" name="Google Shape;162;p23"/>
          <p:cNvSpPr/>
          <p:nvPr/>
        </p:nvSpPr>
        <p:spPr>
          <a:xfrm>
            <a:off x="411480" y="1097280"/>
            <a:ext cx="3747718" cy="353187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3"/>
          <p:cNvSpPr txBox="1"/>
          <p:nvPr/>
        </p:nvSpPr>
        <p:spPr>
          <a:xfrm>
            <a:off x="4746525" y="1337300"/>
            <a:ext cx="3985800" cy="8229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rgbClr val="27348B"/>
              </a:buClr>
              <a:buSzPts val="1400"/>
              <a:buFont typeface="Calibri"/>
              <a:buChar char="●"/>
            </a:pPr>
            <a:r>
              <a:rPr b="1" i="0" lang="en-GB" sz="1400" u="none" cap="none" strike="noStrike">
                <a:solidFill>
                  <a:srgbClr val="27348B"/>
                </a:solidFill>
                <a:latin typeface="Calibri"/>
                <a:ea typeface="Calibri"/>
                <a:cs typeface="Calibri"/>
                <a:sym typeface="Calibri"/>
              </a:rPr>
              <a:t>Models vs pipelines</a:t>
            </a:r>
            <a:endParaRPr b="0" i="0" sz="1400" u="none" cap="none" strike="noStrike">
              <a:solidFill>
                <a:schemeClr val="dk1"/>
              </a:solidFill>
              <a:latin typeface="Calibri"/>
              <a:ea typeface="Calibri"/>
              <a:cs typeface="Calibri"/>
              <a:sym typeface="Calibri"/>
            </a:endParaRPr>
          </a:p>
          <a:p>
            <a:pPr indent="0" lvl="0" marL="45720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Pipelines are tested with several interchangeable backbones.</a:t>
            </a:r>
            <a:endParaRPr b="0" i="0" sz="1400" u="none" cap="none" strike="noStrike">
              <a:solidFill>
                <a:schemeClr val="dk1"/>
              </a:solidFill>
              <a:latin typeface="Calibri"/>
              <a:ea typeface="Calibri"/>
              <a:cs typeface="Calibri"/>
              <a:sym typeface="Calibri"/>
            </a:endParaRPr>
          </a:p>
        </p:txBody>
      </p:sp>
      <p:sp>
        <p:nvSpPr>
          <p:cNvPr id="164" name="Google Shape;164;p23"/>
          <p:cNvSpPr txBox="1"/>
          <p:nvPr/>
        </p:nvSpPr>
        <p:spPr>
          <a:xfrm>
            <a:off x="4746526" y="2331725"/>
            <a:ext cx="3985800" cy="8229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rgbClr val="27348B"/>
              </a:buClr>
              <a:buSzPts val="1400"/>
              <a:buFont typeface="Calibri"/>
              <a:buChar char="●"/>
            </a:pPr>
            <a:r>
              <a:rPr b="1" i="0" lang="en-GB" sz="1400" u="none" cap="none" strike="noStrike">
                <a:solidFill>
                  <a:srgbClr val="27348B"/>
                </a:solidFill>
                <a:latin typeface="Calibri"/>
                <a:ea typeface="Calibri"/>
                <a:cs typeface="Calibri"/>
                <a:sym typeface="Calibri"/>
              </a:rPr>
              <a:t>Modalities</a:t>
            </a:r>
            <a:endParaRPr b="0" i="0" sz="1400" u="none" cap="none" strike="noStrike">
              <a:solidFill>
                <a:schemeClr val="dk1"/>
              </a:solidFill>
              <a:latin typeface="Calibri"/>
              <a:ea typeface="Calibri"/>
              <a:cs typeface="Calibri"/>
              <a:sym typeface="Calibri"/>
            </a:endParaRPr>
          </a:p>
          <a:p>
            <a:pPr indent="0" lvl="0" marL="45720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Encoding models use text, vision and layout; MLLM-centric models are mostly vision only.</a:t>
            </a:r>
            <a:endParaRPr b="0" i="0" sz="1400" u="none" cap="none" strike="noStrike">
              <a:solidFill>
                <a:schemeClr val="dk1"/>
              </a:solidFill>
              <a:latin typeface="Calibri"/>
              <a:ea typeface="Calibri"/>
              <a:cs typeface="Calibri"/>
              <a:sym typeface="Calibri"/>
            </a:endParaRPr>
          </a:p>
        </p:txBody>
      </p:sp>
      <p:sp>
        <p:nvSpPr>
          <p:cNvPr id="165" name="Google Shape;165;p23"/>
          <p:cNvSpPr txBox="1"/>
          <p:nvPr/>
        </p:nvSpPr>
        <p:spPr>
          <a:xfrm>
            <a:off x="4746526" y="3326125"/>
            <a:ext cx="3985800" cy="8229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rgbClr val="27348B"/>
              </a:buClr>
              <a:buSzPts val="1400"/>
              <a:buFont typeface="Calibri"/>
              <a:buChar char="●"/>
            </a:pPr>
            <a:r>
              <a:rPr b="1" i="0" lang="en-GB" sz="1400" u="none" cap="none" strike="noStrike">
                <a:solidFill>
                  <a:srgbClr val="27348B"/>
                </a:solidFill>
                <a:latin typeface="Calibri"/>
                <a:ea typeface="Calibri"/>
                <a:cs typeface="Calibri"/>
                <a:sym typeface="Calibri"/>
              </a:rPr>
              <a:t>Search</a:t>
            </a:r>
            <a:endParaRPr b="0" i="0" sz="1400" u="none" cap="none" strike="noStrike">
              <a:solidFill>
                <a:schemeClr val="dk1"/>
              </a:solidFill>
              <a:latin typeface="Calibri"/>
              <a:ea typeface="Calibri"/>
              <a:cs typeface="Calibri"/>
              <a:sym typeface="Calibri"/>
            </a:endParaRPr>
          </a:p>
          <a:p>
            <a:pPr indent="0" lvl="0" marL="45720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Appears only once retrieval is separated from answering.</a:t>
            </a:r>
            <a:endParaRPr b="0" i="0" sz="1400" u="none" cap="none" strike="noStrike">
              <a:solidFill>
                <a:schemeClr val="dk1"/>
              </a:solidFill>
              <a:latin typeface="Calibri"/>
              <a:ea typeface="Calibri"/>
              <a:cs typeface="Calibri"/>
              <a:sym typeface="Calibri"/>
            </a:endParaRPr>
          </a:p>
        </p:txBody>
      </p:sp>
      <p:sp>
        <p:nvSpPr>
          <p:cNvPr id="166" name="Google Shape;166;p2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Inference-Time Strategies</a:t>
            </a:r>
            <a:endParaRPr sz="2300"/>
          </a:p>
        </p:txBody>
      </p:sp>
      <p:sp>
        <p:nvSpPr>
          <p:cNvPr id="173" name="Google Shape;173;p2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2 · Survey · EMNLP 2026 Main</a:t>
            </a:r>
            <a:endParaRPr b="0" i="0" sz="900" u="none" cap="none" strike="noStrike">
              <a:solidFill>
                <a:schemeClr val="dk1"/>
              </a:solidFill>
              <a:latin typeface="Calibri"/>
              <a:ea typeface="Calibri"/>
              <a:cs typeface="Calibri"/>
              <a:sym typeface="Calibri"/>
            </a:endParaRPr>
          </a:p>
        </p:txBody>
      </p:sp>
      <p:sp>
        <p:nvSpPr>
          <p:cNvPr id="174" name="Google Shape;174;p2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Reshape the pipeline around a</a:t>
            </a:r>
            <a:r>
              <a:rPr b="0" i="0" lang="en-GB" sz="1400" u="none" cap="none" strike="noStrike">
                <a:solidFill>
                  <a:schemeClr val="accent2"/>
                </a:solidFill>
                <a:latin typeface="Calibri"/>
                <a:ea typeface="Calibri"/>
                <a:cs typeface="Calibri"/>
                <a:sym typeface="Calibri"/>
              </a:rPr>
              <a:t> </a:t>
            </a:r>
            <a:r>
              <a:rPr b="1" i="0" lang="en-GB" sz="1400" u="none" cap="none" strike="noStrike">
                <a:solidFill>
                  <a:schemeClr val="accent2"/>
                </a:solidFill>
                <a:latin typeface="Calibri"/>
                <a:ea typeface="Calibri"/>
                <a:cs typeface="Calibri"/>
                <a:sym typeface="Calibri"/>
              </a:rPr>
              <a:t>frozen MLLM</a:t>
            </a:r>
            <a:r>
              <a:rPr b="0" i="0" lang="en-GB" sz="1400" u="none" cap="none" strike="noStrike">
                <a:solidFill>
                  <a:srgbClr val="1B1F2A"/>
                </a:solidFill>
                <a:latin typeface="Calibri"/>
                <a:ea typeface="Calibri"/>
                <a:cs typeface="Calibri"/>
                <a:sym typeface="Calibri"/>
              </a:rPr>
              <a:t>: select, reason over, or acquire evidence.</a:t>
            </a:r>
            <a:endParaRPr b="0" i="0" sz="1400" u="none" cap="none" strike="noStrike">
              <a:solidFill>
                <a:schemeClr val="dk1"/>
              </a:solidFill>
              <a:latin typeface="Calibri"/>
              <a:ea typeface="Calibri"/>
              <a:cs typeface="Calibri"/>
              <a:sym typeface="Calibri"/>
            </a:endParaRPr>
          </a:p>
        </p:txBody>
      </p:sp>
      <p:pic>
        <p:nvPicPr>
          <p:cNvPr descr="inference_strategies.png" id="175" name="Google Shape;175;p24"/>
          <p:cNvPicPr preferRelativeResize="0"/>
          <p:nvPr/>
        </p:nvPicPr>
        <p:blipFill rotWithShape="1">
          <a:blip r:embed="rId3">
            <a:alphaModFix/>
          </a:blip>
          <a:srcRect b="0" l="0" r="0" t="0"/>
          <a:stretch/>
        </p:blipFill>
        <p:spPr>
          <a:xfrm>
            <a:off x="411480" y="1131570"/>
            <a:ext cx="8320811" cy="3029929"/>
          </a:xfrm>
          <a:prstGeom prst="rect">
            <a:avLst/>
          </a:prstGeom>
          <a:noFill/>
          <a:ln>
            <a:noFill/>
          </a:ln>
        </p:spPr>
      </p:pic>
      <p:sp>
        <p:nvSpPr>
          <p:cNvPr id="176" name="Google Shape;176;p24"/>
          <p:cNvSpPr txBox="1"/>
          <p:nvPr/>
        </p:nvSpPr>
        <p:spPr>
          <a:xfrm>
            <a:off x="411475" y="4243800"/>
            <a:ext cx="2705100" cy="2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100"/>
              <a:buFont typeface="Calibri"/>
              <a:buNone/>
            </a:pPr>
            <a:r>
              <a:rPr b="0" i="0" lang="en-GB" sz="1100" u="none" cap="none" strike="noStrike">
                <a:solidFill>
                  <a:srgbClr val="5A6072"/>
                </a:solidFill>
                <a:latin typeface="Calibri"/>
                <a:ea typeface="Calibri"/>
                <a:cs typeface="Calibri"/>
                <a:sym typeface="Calibri"/>
              </a:rPr>
              <a:t>Relation-aware retrieval finds links similarity misses</a:t>
            </a:r>
            <a:endParaRPr b="0" i="0" sz="1100" u="none" cap="none" strike="noStrike">
              <a:solidFill>
                <a:schemeClr val="dk1"/>
              </a:solidFill>
              <a:latin typeface="Calibri"/>
              <a:ea typeface="Calibri"/>
              <a:cs typeface="Calibri"/>
              <a:sym typeface="Calibri"/>
            </a:endParaRPr>
          </a:p>
        </p:txBody>
      </p:sp>
      <p:sp>
        <p:nvSpPr>
          <p:cNvPr id="177" name="Google Shape;177;p24"/>
          <p:cNvSpPr txBox="1"/>
          <p:nvPr/>
        </p:nvSpPr>
        <p:spPr>
          <a:xfrm>
            <a:off x="3253664" y="4243795"/>
            <a:ext cx="263644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100"/>
              <a:buFont typeface="Calibri"/>
              <a:buNone/>
            </a:pPr>
            <a:r>
              <a:rPr b="0" i="0" lang="en-GB" sz="1100" u="none" cap="none" strike="noStrike">
                <a:solidFill>
                  <a:srgbClr val="5A6072"/>
                </a:solidFill>
                <a:latin typeface="Calibri"/>
                <a:ea typeface="Calibri"/>
                <a:cs typeface="Calibri"/>
                <a:sym typeface="Calibri"/>
              </a:rPr>
              <a:t>A chain cannot recover what retrieval missed</a:t>
            </a:r>
            <a:endParaRPr b="0" i="0" sz="1100" u="none" cap="none" strike="noStrike">
              <a:solidFill>
                <a:schemeClr val="dk1"/>
              </a:solidFill>
              <a:latin typeface="Calibri"/>
              <a:ea typeface="Calibri"/>
              <a:cs typeface="Calibri"/>
              <a:sym typeface="Calibri"/>
            </a:endParaRPr>
          </a:p>
        </p:txBody>
      </p:sp>
      <p:sp>
        <p:nvSpPr>
          <p:cNvPr id="178" name="Google Shape;178;p24"/>
          <p:cNvSpPr txBox="1"/>
          <p:nvPr/>
        </p:nvSpPr>
        <p:spPr>
          <a:xfrm>
            <a:off x="6027268" y="4243795"/>
            <a:ext cx="2636443"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6072"/>
              </a:buClr>
              <a:buSzPts val="1100"/>
              <a:buFont typeface="Calibri"/>
              <a:buNone/>
            </a:pPr>
            <a:r>
              <a:rPr b="0" i="0" lang="en-GB" sz="1100" u="none" cap="none" strike="noStrike">
                <a:solidFill>
                  <a:srgbClr val="5A6072"/>
                </a:solidFill>
                <a:latin typeface="Calibri"/>
                <a:ea typeface="Calibri"/>
                <a:cs typeface="Calibri"/>
                <a:sym typeface="Calibri"/>
              </a:rPr>
              <a:t>Lifts the recall ceiling; cost is hard to bound</a:t>
            </a:r>
            <a:endParaRPr b="0" i="0" sz="1100" u="none" cap="none" strike="noStrike">
              <a:solidFill>
                <a:schemeClr val="dk1"/>
              </a:solidFill>
              <a:latin typeface="Calibri"/>
              <a:ea typeface="Calibri"/>
              <a:cs typeface="Calibri"/>
              <a:sym typeface="Calibri"/>
            </a:endParaRPr>
          </a:p>
        </p:txBody>
      </p:sp>
      <p:sp>
        <p:nvSpPr>
          <p:cNvPr id="179" name="Google Shape;179;p2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Training Strategies &amp; Datasets</a:t>
            </a:r>
            <a:endParaRPr sz="2300"/>
          </a:p>
        </p:txBody>
      </p:sp>
      <p:sp>
        <p:nvSpPr>
          <p:cNvPr id="186" name="Google Shape;186;p2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2 · Survey · EMNLP 2026 Main</a:t>
            </a:r>
            <a:endParaRPr b="0" i="0" sz="900" u="none" cap="none" strike="noStrike">
              <a:solidFill>
                <a:schemeClr val="dk1"/>
              </a:solidFill>
              <a:latin typeface="Calibri"/>
              <a:ea typeface="Calibri"/>
              <a:cs typeface="Calibri"/>
              <a:sym typeface="Calibri"/>
            </a:endParaRPr>
          </a:p>
        </p:txBody>
      </p:sp>
      <p:sp>
        <p:nvSpPr>
          <p:cNvPr id="187" name="Google Shape;187;p25"/>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Pretraining is rare; </a:t>
            </a:r>
            <a:r>
              <a:rPr b="1" i="0" lang="en-GB" sz="1400" u="none" cap="none" strike="noStrike">
                <a:solidFill>
                  <a:srgbClr val="27348B"/>
                </a:solidFill>
                <a:latin typeface="Calibri"/>
                <a:ea typeface="Calibri"/>
                <a:cs typeface="Calibri"/>
                <a:sym typeface="Calibri"/>
              </a:rPr>
              <a:t>fine-tuning carries the weight</a:t>
            </a:r>
            <a:r>
              <a:rPr b="0" i="0" lang="en-GB" sz="1400" u="none" cap="none" strike="noStrike">
                <a:solidFill>
                  <a:srgbClr val="1B1F2A"/>
                </a:solidFill>
                <a:latin typeface="Calibri"/>
                <a:ea typeface="Calibri"/>
                <a:cs typeface="Calibri"/>
                <a:sym typeface="Calibri"/>
              </a:rPr>
              <a:t>, with RL layered on top.</a:t>
            </a:r>
            <a:endParaRPr b="0" i="0" sz="1400" u="none" cap="none" strike="noStrike">
              <a:solidFill>
                <a:schemeClr val="dk1"/>
              </a:solidFill>
              <a:latin typeface="Calibri"/>
              <a:ea typeface="Calibri"/>
              <a:cs typeface="Calibri"/>
              <a:sym typeface="Calibri"/>
            </a:endParaRPr>
          </a:p>
        </p:txBody>
      </p:sp>
      <p:sp>
        <p:nvSpPr>
          <p:cNvPr id="188" name="Google Shape;188;p25"/>
          <p:cNvSpPr txBox="1"/>
          <p:nvPr/>
        </p:nvSpPr>
        <p:spPr>
          <a:xfrm>
            <a:off x="411480" y="1200150"/>
            <a:ext cx="384048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TRAINING</a:t>
            </a:r>
            <a:endParaRPr b="0" i="0" sz="900" u="none" cap="none" strike="noStrike">
              <a:solidFill>
                <a:schemeClr val="dk1"/>
              </a:solidFill>
              <a:latin typeface="Calibri"/>
              <a:ea typeface="Calibri"/>
              <a:cs typeface="Calibri"/>
              <a:sym typeface="Calibri"/>
            </a:endParaRPr>
          </a:p>
        </p:txBody>
      </p:sp>
      <p:sp>
        <p:nvSpPr>
          <p:cNvPr id="189" name="Google Shape;189;p25"/>
          <p:cNvSpPr txBox="1"/>
          <p:nvPr/>
        </p:nvSpPr>
        <p:spPr>
          <a:xfrm>
            <a:off x="411480" y="1474470"/>
            <a:ext cx="3840480" cy="219456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rgbClr val="1B1F2A"/>
              </a:buClr>
              <a:buSzPts val="1400"/>
              <a:buFont typeface="Calibri"/>
              <a:buChar char="●"/>
            </a:pPr>
            <a:r>
              <a:rPr b="1" i="0" lang="en-GB" sz="1400" u="none" cap="none" strike="noStrike">
                <a:solidFill>
                  <a:srgbClr val="1B1F2A"/>
                </a:solidFill>
                <a:latin typeface="Calibri"/>
                <a:ea typeface="Calibri"/>
                <a:cs typeface="Calibri"/>
                <a:sym typeface="Calibri"/>
              </a:rPr>
              <a:t>Retrieval</a:t>
            </a:r>
            <a:r>
              <a:rPr b="0" i="0" lang="en-GB" sz="1400" u="none" cap="none" strike="noStrike">
                <a:solidFill>
                  <a:srgbClr val="1B1F2A"/>
                </a:solidFill>
                <a:latin typeface="Calibri"/>
                <a:ea typeface="Calibri"/>
                <a:cs typeface="Calibri"/>
                <a:sym typeface="Calibri"/>
              </a:rPr>
              <a:t>: alignment, cross-page fusion, logical relevance</a:t>
            </a:r>
            <a:endParaRPr b="0" i="0" sz="1400" u="none" cap="none" strike="noStrike">
              <a:solidFill>
                <a:schemeClr val="dk1"/>
              </a:solidFill>
              <a:latin typeface="Calibri"/>
              <a:ea typeface="Calibri"/>
              <a:cs typeface="Calibri"/>
              <a:sym typeface="Calibri"/>
            </a:endParaRPr>
          </a:p>
          <a:p>
            <a:pPr indent="-317500" lvl="0" marL="457200" marR="0" rtl="0" algn="l">
              <a:spcBef>
                <a:spcPts val="1000"/>
              </a:spcBef>
              <a:spcAft>
                <a:spcPts val="0"/>
              </a:spcAft>
              <a:buClr>
                <a:srgbClr val="1B1F2A"/>
              </a:buClr>
              <a:buSzPts val="1400"/>
              <a:buFont typeface="Calibri"/>
              <a:buChar char="●"/>
            </a:pPr>
            <a:r>
              <a:rPr b="1" i="0" lang="en-GB" sz="1400" u="none" cap="none" strike="noStrike">
                <a:solidFill>
                  <a:srgbClr val="1B1F2A"/>
                </a:solidFill>
                <a:latin typeface="Calibri"/>
                <a:ea typeface="Calibri"/>
                <a:cs typeface="Calibri"/>
                <a:sym typeface="Calibri"/>
              </a:rPr>
              <a:t>Reasoning</a:t>
            </a:r>
            <a:r>
              <a:rPr b="0" i="0" lang="en-GB" sz="1400" u="none" cap="none" strike="noStrike">
                <a:solidFill>
                  <a:srgbClr val="1B1F2A"/>
                </a:solidFill>
                <a:latin typeface="Calibri"/>
                <a:ea typeface="Calibri"/>
                <a:cs typeface="Calibri"/>
                <a:sym typeface="Calibri"/>
              </a:rPr>
              <a:t>: trace imitation, then reward-driven GRPO</a:t>
            </a:r>
            <a:endParaRPr b="0" i="0" sz="1400" u="none" cap="none" strike="noStrike">
              <a:solidFill>
                <a:schemeClr val="dk1"/>
              </a:solidFill>
              <a:latin typeface="Calibri"/>
              <a:ea typeface="Calibri"/>
              <a:cs typeface="Calibri"/>
              <a:sym typeface="Calibri"/>
            </a:endParaRPr>
          </a:p>
          <a:p>
            <a:pPr indent="-317500" lvl="0" marL="457200" marR="0" rtl="0" algn="l">
              <a:spcBef>
                <a:spcPts val="1000"/>
              </a:spcBef>
              <a:spcAft>
                <a:spcPts val="0"/>
              </a:spcAft>
              <a:buClr>
                <a:srgbClr val="1B1F2A"/>
              </a:buClr>
              <a:buSzPts val="1400"/>
              <a:buFont typeface="Calibri"/>
              <a:buChar char="●"/>
            </a:pPr>
            <a:r>
              <a:rPr b="1" i="0" lang="en-GB" sz="1400" u="none" cap="none" strike="noStrike">
                <a:solidFill>
                  <a:srgbClr val="1B1F2A"/>
                </a:solidFill>
                <a:latin typeface="Calibri"/>
                <a:ea typeface="Calibri"/>
                <a:cs typeface="Calibri"/>
                <a:sym typeface="Calibri"/>
              </a:rPr>
              <a:t>Agentic</a:t>
            </a:r>
            <a:r>
              <a:rPr b="0" i="0" lang="en-GB" sz="1400" u="none" cap="none" strike="noStrike">
                <a:solidFill>
                  <a:srgbClr val="1B1F2A"/>
                </a:solidFill>
                <a:latin typeface="Calibri"/>
                <a:ea typeface="Calibri"/>
                <a:cs typeface="Calibri"/>
                <a:sym typeface="Calibri"/>
              </a:rPr>
              <a:t>: trajectory distillation, then RL</a:t>
            </a:r>
            <a:endParaRPr b="0" i="0" sz="1400" u="none" cap="none" strike="noStrike">
              <a:solidFill>
                <a:schemeClr val="dk1"/>
              </a:solidFill>
              <a:latin typeface="Calibri"/>
              <a:ea typeface="Calibri"/>
              <a:cs typeface="Calibri"/>
              <a:sym typeface="Calibri"/>
            </a:endParaRPr>
          </a:p>
          <a:p>
            <a:pPr indent="-317500" lvl="0" marL="457200" marR="0" rtl="0" algn="l">
              <a:spcBef>
                <a:spcPts val="1000"/>
              </a:spcBef>
              <a:spcAft>
                <a:spcPts val="1000"/>
              </a:spcAft>
              <a:buClr>
                <a:srgbClr val="1B1F2A"/>
              </a:buClr>
              <a:buSzPts val="1400"/>
              <a:buFont typeface="Calibri"/>
              <a:buChar char="●"/>
            </a:pPr>
            <a:r>
              <a:rPr b="1" i="0" lang="en-GB" sz="1400" u="none" cap="none" strike="noStrike">
                <a:solidFill>
                  <a:srgbClr val="1B1F2A"/>
                </a:solidFill>
                <a:latin typeface="Calibri"/>
                <a:ea typeface="Calibri"/>
                <a:cs typeface="Calibri"/>
                <a:sym typeface="Calibri"/>
              </a:rPr>
              <a:t>Cross-cutting</a:t>
            </a:r>
            <a:r>
              <a:rPr b="0" i="0" lang="en-GB" sz="1400" u="none" cap="none" strike="noStrike">
                <a:solidFill>
                  <a:srgbClr val="1B1F2A"/>
                </a:solidFill>
                <a:latin typeface="Calibri"/>
                <a:ea typeface="Calibri"/>
                <a:cs typeface="Calibri"/>
                <a:sym typeface="Calibri"/>
              </a:rPr>
              <a:t>: PEFT / LoRA, single- to multi-page curricula</a:t>
            </a:r>
            <a:endParaRPr b="0" i="0" sz="1400" u="none" cap="none" strike="noStrike">
              <a:solidFill>
                <a:schemeClr val="dk1"/>
              </a:solidFill>
              <a:latin typeface="Calibri"/>
              <a:ea typeface="Calibri"/>
              <a:cs typeface="Calibri"/>
              <a:sym typeface="Calibri"/>
            </a:endParaRPr>
          </a:p>
        </p:txBody>
      </p:sp>
      <p:sp>
        <p:nvSpPr>
          <p:cNvPr id="190" name="Google Shape;190;p25"/>
          <p:cNvSpPr txBox="1"/>
          <p:nvPr/>
        </p:nvSpPr>
        <p:spPr>
          <a:xfrm>
            <a:off x="411480" y="3806190"/>
            <a:ext cx="384048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1100"/>
              <a:buFont typeface="Calibri"/>
              <a:buNone/>
            </a:pPr>
            <a:r>
              <a:rPr b="0" i="0" lang="en-GB" sz="1100" u="none" cap="none" strike="noStrike">
                <a:solidFill>
                  <a:srgbClr val="5A6072"/>
                </a:solidFill>
                <a:latin typeface="Calibri"/>
                <a:ea typeface="Calibri"/>
                <a:cs typeface="Calibri"/>
                <a:sym typeface="Calibri"/>
              </a:rPr>
              <a:t>Fine-tuning data is mostly LVLM-synthesised; </a:t>
            </a:r>
            <a:r>
              <a:rPr b="1" i="0" lang="en-GB" sz="1100" u="none" cap="none" strike="noStrike">
                <a:solidFill>
                  <a:srgbClr val="1B1F2A"/>
                </a:solidFill>
                <a:latin typeface="Calibri"/>
                <a:ea typeface="Calibri"/>
                <a:cs typeface="Calibri"/>
                <a:sym typeface="Calibri"/>
              </a:rPr>
              <a:t>16 of 19</a:t>
            </a:r>
            <a:r>
              <a:rPr b="0" i="0" lang="en-GB" sz="1100" u="none" cap="none" strike="noStrike">
                <a:solidFill>
                  <a:srgbClr val="5A6072"/>
                </a:solidFill>
                <a:latin typeface="Calibri"/>
                <a:ea typeface="Calibri"/>
                <a:cs typeface="Calibri"/>
                <a:sym typeface="Calibri"/>
              </a:rPr>
              <a:t> papers that fine-tune on MP-DocVQA also evaluate on it.</a:t>
            </a:r>
            <a:endParaRPr b="0" i="0" sz="1100" u="none" cap="none" strike="noStrike">
              <a:solidFill>
                <a:schemeClr val="dk1"/>
              </a:solidFill>
              <a:latin typeface="Calibri"/>
              <a:ea typeface="Calibri"/>
              <a:cs typeface="Calibri"/>
              <a:sym typeface="Calibri"/>
            </a:endParaRPr>
          </a:p>
        </p:txBody>
      </p:sp>
      <p:sp>
        <p:nvSpPr>
          <p:cNvPr id="191" name="Google Shape;191;p25"/>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BENCHMARKS: AVERAGE PAGES PER DOCUMENT</a:t>
            </a:r>
            <a:endParaRPr b="0" i="0" sz="900" u="none" cap="none" strike="noStrike">
              <a:solidFill>
                <a:schemeClr val="dk1"/>
              </a:solidFill>
              <a:latin typeface="Calibri"/>
              <a:ea typeface="Calibri"/>
              <a:cs typeface="Calibri"/>
              <a:sym typeface="Calibri"/>
            </a:endParaRPr>
          </a:p>
        </p:txBody>
      </p:sp>
      <p:sp>
        <p:nvSpPr>
          <p:cNvPr id="192" name="Google Shape;192;p2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id="193" name="Google Shape;193;p25"/>
          <p:cNvPicPr preferRelativeResize="0"/>
          <p:nvPr/>
        </p:nvPicPr>
        <p:blipFill>
          <a:blip r:embed="rId3">
            <a:alphaModFix/>
          </a:blip>
          <a:stretch>
            <a:fillRect/>
          </a:stretch>
        </p:blipFill>
        <p:spPr>
          <a:xfrm>
            <a:off x="4732027" y="1474473"/>
            <a:ext cx="3411526" cy="2605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Open Challenges</a:t>
            </a:r>
            <a:endParaRPr sz="2300"/>
          </a:p>
        </p:txBody>
      </p:sp>
      <p:sp>
        <p:nvSpPr>
          <p:cNvPr id="200" name="Google Shape;200;p2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2 · Survey · EMNLP 2026 Main</a:t>
            </a:r>
            <a:endParaRPr b="0" i="0" sz="900" u="none" cap="none" strike="noStrike">
              <a:solidFill>
                <a:schemeClr val="dk1"/>
              </a:solidFill>
              <a:latin typeface="Calibri"/>
              <a:ea typeface="Calibri"/>
              <a:cs typeface="Calibri"/>
              <a:sym typeface="Calibri"/>
            </a:endParaRPr>
          </a:p>
        </p:txBody>
      </p:sp>
      <p:sp>
        <p:nvSpPr>
          <p:cNvPr id="201" name="Google Shape;201;p2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Each design </a:t>
            </a:r>
            <a:r>
              <a:rPr b="1" i="0" lang="en-GB" sz="1400" u="none" cap="none" strike="noStrike">
                <a:solidFill>
                  <a:schemeClr val="accent2"/>
                </a:solidFill>
                <a:latin typeface="Calibri"/>
                <a:ea typeface="Calibri"/>
                <a:cs typeface="Calibri"/>
                <a:sym typeface="Calibri"/>
              </a:rPr>
              <a:t>relocates the bottleneck</a:t>
            </a:r>
            <a:r>
              <a:rPr b="0" i="0" lang="en-GB" sz="1400" u="none" cap="none" strike="noStrike">
                <a:solidFill>
                  <a:srgbClr val="1B1F2A"/>
                </a:solidFill>
                <a:latin typeface="Calibri"/>
                <a:ea typeface="Calibri"/>
                <a:cs typeface="Calibri"/>
                <a:sym typeface="Calibri"/>
              </a:rPr>
              <a:t> rather than removing it.</a:t>
            </a:r>
            <a:endParaRPr b="0" i="0" sz="1400" u="none" cap="none" strike="noStrike">
              <a:solidFill>
                <a:schemeClr val="dk1"/>
              </a:solidFill>
              <a:latin typeface="Calibri"/>
              <a:ea typeface="Calibri"/>
              <a:cs typeface="Calibri"/>
              <a:sym typeface="Calibri"/>
            </a:endParaRPr>
          </a:p>
        </p:txBody>
      </p:sp>
      <p:sp>
        <p:nvSpPr>
          <p:cNvPr id="202" name="Google Shape;202;p26"/>
          <p:cNvSpPr txBox="1"/>
          <p:nvPr/>
        </p:nvSpPr>
        <p:spPr>
          <a:xfrm>
            <a:off x="411476" y="1234450"/>
            <a:ext cx="2949000" cy="3429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rgbClr val="27348B"/>
              </a:buClr>
              <a:buSzPts val="1500"/>
              <a:buFont typeface="Calibri"/>
              <a:buChar char="●"/>
            </a:pPr>
            <a:r>
              <a:rPr b="1" i="0" lang="en-GB" sz="1500" u="none" cap="none" strike="noStrike">
                <a:solidFill>
                  <a:srgbClr val="27348B"/>
                </a:solidFill>
                <a:latin typeface="Calibri"/>
                <a:ea typeface="Calibri"/>
                <a:cs typeface="Calibri"/>
                <a:sym typeface="Calibri"/>
              </a:rPr>
              <a:t>Evidence pipeline</a:t>
            </a:r>
            <a:endParaRPr b="0" i="0" sz="1500" u="none" cap="none" strike="noStrike">
              <a:solidFill>
                <a:schemeClr val="dk1"/>
              </a:solidFill>
              <a:latin typeface="Calibri"/>
              <a:ea typeface="Calibri"/>
              <a:cs typeface="Calibri"/>
              <a:sym typeface="Calibri"/>
            </a:endParaRPr>
          </a:p>
        </p:txBody>
      </p:sp>
      <p:sp>
        <p:nvSpPr>
          <p:cNvPr id="203" name="Google Shape;203;p26"/>
          <p:cNvSpPr txBox="1"/>
          <p:nvPr/>
        </p:nvSpPr>
        <p:spPr>
          <a:xfrm>
            <a:off x="3429000" y="1234440"/>
            <a:ext cx="52120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High-resolution reading vs document-scale aggregation</a:t>
            </a:r>
            <a:endParaRPr b="0" i="0" sz="1500" u="none" cap="none" strike="noStrike">
              <a:solidFill>
                <a:schemeClr val="dk1"/>
              </a:solidFill>
              <a:latin typeface="Calibri"/>
              <a:ea typeface="Calibri"/>
              <a:cs typeface="Calibri"/>
              <a:sym typeface="Calibri"/>
            </a:endParaRPr>
          </a:p>
        </p:txBody>
      </p:sp>
      <p:sp>
        <p:nvSpPr>
          <p:cNvPr id="204" name="Google Shape;204;p26"/>
          <p:cNvSpPr txBox="1"/>
          <p:nvPr/>
        </p:nvSpPr>
        <p:spPr>
          <a:xfrm>
            <a:off x="411426" y="1796800"/>
            <a:ext cx="2949000" cy="3429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rgbClr val="27348B"/>
              </a:buClr>
              <a:buSzPts val="1500"/>
              <a:buFont typeface="Calibri"/>
              <a:buChar char="●"/>
            </a:pPr>
            <a:r>
              <a:rPr b="1" i="0" lang="en-GB" sz="1500" u="none" cap="none" strike="noStrike">
                <a:solidFill>
                  <a:srgbClr val="27348B"/>
                </a:solidFill>
                <a:latin typeface="Calibri"/>
                <a:ea typeface="Calibri"/>
                <a:cs typeface="Calibri"/>
                <a:sym typeface="Calibri"/>
              </a:rPr>
              <a:t>Faithfulness</a:t>
            </a:r>
            <a:endParaRPr b="0" i="0" sz="1500" u="none" cap="none" strike="noStrike">
              <a:solidFill>
                <a:schemeClr val="dk1"/>
              </a:solidFill>
              <a:latin typeface="Calibri"/>
              <a:ea typeface="Calibri"/>
              <a:cs typeface="Calibri"/>
              <a:sym typeface="Calibri"/>
            </a:endParaRPr>
          </a:p>
        </p:txBody>
      </p:sp>
      <p:sp>
        <p:nvSpPr>
          <p:cNvPr id="205" name="Google Shape;205;p26"/>
          <p:cNvSpPr txBox="1"/>
          <p:nvPr/>
        </p:nvSpPr>
        <p:spPr>
          <a:xfrm>
            <a:off x="3429000" y="1796796"/>
            <a:ext cx="52120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Few systems abstain or ground answers in evidence</a:t>
            </a:r>
            <a:endParaRPr b="0" i="0" sz="1500" u="none" cap="none" strike="noStrike">
              <a:solidFill>
                <a:schemeClr val="dk1"/>
              </a:solidFill>
              <a:latin typeface="Calibri"/>
              <a:ea typeface="Calibri"/>
              <a:cs typeface="Calibri"/>
              <a:sym typeface="Calibri"/>
            </a:endParaRPr>
          </a:p>
        </p:txBody>
      </p:sp>
      <p:sp>
        <p:nvSpPr>
          <p:cNvPr id="206" name="Google Shape;206;p26"/>
          <p:cNvSpPr txBox="1"/>
          <p:nvPr/>
        </p:nvSpPr>
        <p:spPr>
          <a:xfrm>
            <a:off x="411426" y="2359150"/>
            <a:ext cx="2949000" cy="3087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rgbClr val="27348B"/>
              </a:buClr>
              <a:buSzPts val="1500"/>
              <a:buFont typeface="Calibri"/>
              <a:buChar char="●"/>
            </a:pPr>
            <a:r>
              <a:rPr b="1" i="0" lang="en-GB" sz="1500" u="none" cap="none" strike="noStrike">
                <a:solidFill>
                  <a:srgbClr val="27348B"/>
                </a:solidFill>
                <a:latin typeface="Calibri"/>
                <a:ea typeface="Calibri"/>
                <a:cs typeface="Calibri"/>
                <a:sym typeface="Calibri"/>
              </a:rPr>
              <a:t>Efficiency</a:t>
            </a:r>
            <a:endParaRPr b="0" i="0" sz="1500" u="none" cap="none" strike="noStrike">
              <a:solidFill>
                <a:schemeClr val="dk1"/>
              </a:solidFill>
              <a:latin typeface="Calibri"/>
              <a:ea typeface="Calibri"/>
              <a:cs typeface="Calibri"/>
              <a:sym typeface="Calibri"/>
            </a:endParaRPr>
          </a:p>
        </p:txBody>
      </p:sp>
      <p:sp>
        <p:nvSpPr>
          <p:cNvPr id="207" name="Google Shape;207;p26"/>
          <p:cNvSpPr txBox="1"/>
          <p:nvPr/>
        </p:nvSpPr>
        <p:spPr>
          <a:xfrm>
            <a:off x="3429000" y="2359152"/>
            <a:ext cx="52120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Latency and token cost are rarely reported</a:t>
            </a:r>
            <a:endParaRPr b="0" i="0" sz="1500" u="none" cap="none" strike="noStrike">
              <a:solidFill>
                <a:schemeClr val="dk1"/>
              </a:solidFill>
              <a:latin typeface="Calibri"/>
              <a:ea typeface="Calibri"/>
              <a:cs typeface="Calibri"/>
              <a:sym typeface="Calibri"/>
            </a:endParaRPr>
          </a:p>
        </p:txBody>
      </p:sp>
      <p:sp>
        <p:nvSpPr>
          <p:cNvPr id="208" name="Google Shape;208;p26"/>
          <p:cNvSpPr txBox="1"/>
          <p:nvPr/>
        </p:nvSpPr>
        <p:spPr>
          <a:xfrm>
            <a:off x="411426" y="2921500"/>
            <a:ext cx="2949000" cy="3429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rgbClr val="27348B"/>
              </a:buClr>
              <a:buSzPts val="1500"/>
              <a:buFont typeface="Calibri"/>
              <a:buChar char="●"/>
            </a:pPr>
            <a:r>
              <a:rPr b="1" i="0" lang="en-GB" sz="1500" u="none" cap="none" strike="noStrike">
                <a:solidFill>
                  <a:srgbClr val="27348B"/>
                </a:solidFill>
                <a:latin typeface="Calibri"/>
                <a:ea typeface="Calibri"/>
                <a:cs typeface="Calibri"/>
                <a:sym typeface="Calibri"/>
              </a:rPr>
              <a:t>Contamination</a:t>
            </a:r>
            <a:endParaRPr b="0" i="0" sz="1500" u="none" cap="none" strike="noStrike">
              <a:solidFill>
                <a:schemeClr val="dk1"/>
              </a:solidFill>
              <a:latin typeface="Calibri"/>
              <a:ea typeface="Calibri"/>
              <a:cs typeface="Calibri"/>
              <a:sym typeface="Calibri"/>
            </a:endParaRPr>
          </a:p>
        </p:txBody>
      </p:sp>
      <p:sp>
        <p:nvSpPr>
          <p:cNvPr id="209" name="Google Shape;209;p26"/>
          <p:cNvSpPr txBox="1"/>
          <p:nvPr/>
        </p:nvSpPr>
        <p:spPr>
          <a:xfrm>
            <a:off x="3429000" y="2921508"/>
            <a:ext cx="52120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Training and test sets share source PDFs</a:t>
            </a:r>
            <a:endParaRPr b="0" i="0" sz="1500" u="none" cap="none" strike="noStrike">
              <a:solidFill>
                <a:schemeClr val="dk1"/>
              </a:solidFill>
              <a:latin typeface="Calibri"/>
              <a:ea typeface="Calibri"/>
              <a:cs typeface="Calibri"/>
              <a:sym typeface="Calibri"/>
            </a:endParaRPr>
          </a:p>
        </p:txBody>
      </p:sp>
      <p:sp>
        <p:nvSpPr>
          <p:cNvPr id="210" name="Google Shape;210;p26"/>
          <p:cNvSpPr txBox="1"/>
          <p:nvPr/>
        </p:nvSpPr>
        <p:spPr>
          <a:xfrm>
            <a:off x="411426" y="3483873"/>
            <a:ext cx="2949000" cy="3087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rgbClr val="27348B"/>
              </a:buClr>
              <a:buSzPts val="1500"/>
              <a:buFont typeface="Calibri"/>
              <a:buChar char="●"/>
            </a:pPr>
            <a:r>
              <a:rPr b="1" i="0" lang="en-GB" sz="1500" u="none" cap="none" strike="noStrike">
                <a:solidFill>
                  <a:srgbClr val="27348B"/>
                </a:solidFill>
                <a:latin typeface="Calibri"/>
                <a:ea typeface="Calibri"/>
                <a:cs typeface="Calibri"/>
                <a:sym typeface="Calibri"/>
              </a:rPr>
              <a:t>Evaluation</a:t>
            </a:r>
            <a:endParaRPr b="0" i="0" sz="1500" u="none" cap="none" strike="noStrike">
              <a:solidFill>
                <a:schemeClr val="dk1"/>
              </a:solidFill>
              <a:latin typeface="Calibri"/>
              <a:ea typeface="Calibri"/>
              <a:cs typeface="Calibri"/>
              <a:sym typeface="Calibri"/>
            </a:endParaRPr>
          </a:p>
        </p:txBody>
      </p:sp>
      <p:sp>
        <p:nvSpPr>
          <p:cNvPr id="211" name="Google Shape;211;p26"/>
          <p:cNvSpPr txBox="1"/>
          <p:nvPr/>
        </p:nvSpPr>
        <p:spPr>
          <a:xfrm>
            <a:off x="3429000" y="3483864"/>
            <a:ext cx="52120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Answer-only scores, mostly English VQA</a:t>
            </a:r>
            <a:endParaRPr b="0" i="0" sz="1500" u="none" cap="none" strike="noStrike">
              <a:solidFill>
                <a:schemeClr val="dk1"/>
              </a:solidFill>
              <a:latin typeface="Calibri"/>
              <a:ea typeface="Calibri"/>
              <a:cs typeface="Calibri"/>
              <a:sym typeface="Calibri"/>
            </a:endParaRPr>
          </a:p>
        </p:txBody>
      </p:sp>
      <p:sp>
        <p:nvSpPr>
          <p:cNvPr id="212" name="Google Shape;212;p26"/>
          <p:cNvSpPr txBox="1"/>
          <p:nvPr/>
        </p:nvSpPr>
        <p:spPr>
          <a:xfrm>
            <a:off x="411480" y="4149090"/>
            <a:ext cx="8320811"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Missing: an end-to-end account of </a:t>
            </a:r>
            <a:r>
              <a:rPr b="1" i="0" lang="en-GB" sz="1500" u="none" cap="none" strike="noStrike">
                <a:solidFill>
                  <a:schemeClr val="accent2"/>
                </a:solidFill>
                <a:latin typeface="Calibri"/>
                <a:ea typeface="Calibri"/>
                <a:cs typeface="Calibri"/>
                <a:sym typeface="Calibri"/>
              </a:rPr>
              <a:t>where systems fail</a:t>
            </a:r>
            <a:r>
              <a:rPr b="0" i="0" lang="en-GB" sz="1500" u="none" cap="none" strike="noStrike">
                <a:solidFill>
                  <a:srgbClr val="1B1F2A"/>
                </a:solidFill>
                <a:latin typeface="Calibri"/>
                <a:ea typeface="Calibri"/>
                <a:cs typeface="Calibri"/>
                <a:sym typeface="Calibri"/>
              </a:rPr>
              <a:t>  →  Chapter 3</a:t>
            </a:r>
            <a:endParaRPr b="0" i="0" sz="1500" u="none" cap="none" strike="noStrike">
              <a:solidFill>
                <a:schemeClr val="dk1"/>
              </a:solidFill>
              <a:latin typeface="Calibri"/>
              <a:ea typeface="Calibri"/>
              <a:cs typeface="Calibri"/>
              <a:sym typeface="Calibri"/>
            </a:endParaRPr>
          </a:p>
        </p:txBody>
      </p:sp>
      <p:sp>
        <p:nvSpPr>
          <p:cNvPr id="213" name="Google Shape;213;p2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Empirical Study: Locating Failure in MP-VRDU</a:t>
            </a:r>
            <a:endParaRPr sz="2300"/>
          </a:p>
        </p:txBody>
      </p:sp>
      <p:sp>
        <p:nvSpPr>
          <p:cNvPr id="220" name="Google Shape;220;p2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3 · Empirical study · Under review</a:t>
            </a:r>
            <a:endParaRPr b="0" i="0" sz="900" u="none" cap="none" strike="noStrike">
              <a:solidFill>
                <a:schemeClr val="dk1"/>
              </a:solidFill>
              <a:latin typeface="Calibri"/>
              <a:ea typeface="Calibri"/>
              <a:cs typeface="Calibri"/>
              <a:sym typeface="Calibri"/>
            </a:endParaRPr>
          </a:p>
        </p:txBody>
      </p:sp>
      <p:sp>
        <p:nvSpPr>
          <p:cNvPr id="221" name="Google Shape;221;p2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Under review. Failures at different stages produce the </a:t>
            </a:r>
            <a:r>
              <a:rPr b="1" i="0" lang="en-GB" sz="1400" u="none" cap="none" strike="noStrike">
                <a:solidFill>
                  <a:srgbClr val="27348B"/>
                </a:solidFill>
                <a:latin typeface="Calibri"/>
                <a:ea typeface="Calibri"/>
                <a:cs typeface="Calibri"/>
                <a:sym typeface="Calibri"/>
              </a:rPr>
              <a:t>same wrong answer</a:t>
            </a:r>
            <a:r>
              <a:rPr b="0" i="0" lang="en-GB" sz="1400" u="none" cap="none" strike="noStrike">
                <a:solidFill>
                  <a:srgbClr val="1B1F2A"/>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22" name="Google Shape;222;p27"/>
          <p:cNvSpPr txBox="1"/>
          <p:nvPr/>
        </p:nvSpPr>
        <p:spPr>
          <a:xfrm>
            <a:off x="411480" y="1131570"/>
            <a:ext cx="384048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z="900" u="none" cap="none" strike="noStrike">
              <a:solidFill>
                <a:schemeClr val="dk1"/>
              </a:solidFill>
              <a:latin typeface="Calibri"/>
              <a:ea typeface="Calibri"/>
              <a:cs typeface="Calibri"/>
              <a:sym typeface="Calibri"/>
            </a:endParaRPr>
          </a:p>
        </p:txBody>
      </p:sp>
      <p:sp>
        <p:nvSpPr>
          <p:cNvPr id="223" name="Google Shape;223;p27"/>
          <p:cNvSpPr txBox="1"/>
          <p:nvPr/>
        </p:nvSpPr>
        <p:spPr>
          <a:xfrm>
            <a:off x="411480" y="1371600"/>
            <a:ext cx="384048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Prior studies show </a:t>
            </a:r>
            <a:r>
              <a:rPr b="1" i="0" lang="en-GB" sz="1400" u="none" cap="none" strike="noStrike">
                <a:solidFill>
                  <a:srgbClr val="27348B"/>
                </a:solidFill>
                <a:latin typeface="Calibri"/>
                <a:ea typeface="Calibri"/>
                <a:cs typeface="Calibri"/>
                <a:sym typeface="Calibri"/>
              </a:rPr>
              <a:t>where</a:t>
            </a:r>
            <a:r>
              <a:rPr b="0" i="0" lang="en-GB" sz="1400" u="none" cap="none" strike="noStrike">
                <a:solidFill>
                  <a:srgbClr val="1B1F2A"/>
                </a:solidFill>
                <a:latin typeface="Calibri"/>
                <a:ea typeface="Calibri"/>
                <a:cs typeface="Calibri"/>
                <a:sym typeface="Calibri"/>
              </a:rPr>
              <a:t> accuracy drops, not </a:t>
            </a:r>
            <a:r>
              <a:rPr b="1" i="0" lang="en-GB" sz="1400" u="none" cap="none" strike="noStrike">
                <a:solidFill>
                  <a:srgbClr val="27348B"/>
                </a:solidFill>
                <a:latin typeface="Calibri"/>
                <a:ea typeface="Calibri"/>
                <a:cs typeface="Calibri"/>
                <a:sym typeface="Calibri"/>
              </a:rPr>
              <a:t>why</a:t>
            </a:r>
            <a:r>
              <a:rPr b="0" i="0" lang="en-GB" sz="1400" u="none" cap="none" strike="noStrike">
                <a:solidFill>
                  <a:srgbClr val="1B1F2A"/>
                </a:solidFill>
                <a:latin typeface="Calibri"/>
                <a:ea typeface="Calibri"/>
                <a:cs typeface="Calibri"/>
                <a:sym typeface="Calibri"/>
              </a:rPr>
              <a:t>; design claims conflict.</a:t>
            </a:r>
            <a:endParaRPr b="0" i="0" sz="1400" u="none" cap="none" strike="noStrike">
              <a:solidFill>
                <a:schemeClr val="dk1"/>
              </a:solidFill>
              <a:latin typeface="Calibri"/>
              <a:ea typeface="Calibri"/>
              <a:cs typeface="Calibri"/>
              <a:sym typeface="Calibri"/>
            </a:endParaRPr>
          </a:p>
        </p:txBody>
      </p:sp>
      <p:sp>
        <p:nvSpPr>
          <p:cNvPr id="224" name="Google Shape;224;p27"/>
          <p:cNvSpPr txBox="1"/>
          <p:nvPr/>
        </p:nvSpPr>
        <p:spPr>
          <a:xfrm>
            <a:off x="4594860" y="1131570"/>
            <a:ext cx="41148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z="900" u="none" cap="none" strike="noStrike">
              <a:solidFill>
                <a:schemeClr val="dk1"/>
              </a:solidFill>
              <a:latin typeface="Calibri"/>
              <a:ea typeface="Calibri"/>
              <a:cs typeface="Calibri"/>
              <a:sym typeface="Calibri"/>
            </a:endParaRPr>
          </a:p>
        </p:txBody>
      </p:sp>
      <p:sp>
        <p:nvSpPr>
          <p:cNvPr id="225" name="Google Shape;225;p27"/>
          <p:cNvSpPr txBox="1"/>
          <p:nvPr/>
        </p:nvSpPr>
        <p:spPr>
          <a:xfrm>
            <a:off x="4594860" y="1371600"/>
            <a:ext cx="4114800"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Three </a:t>
            </a:r>
            <a:r>
              <a:rPr b="1" i="0" lang="en-GB" sz="1300" u="none" cap="none" strike="noStrike">
                <a:solidFill>
                  <a:srgbClr val="27348B"/>
                </a:solidFill>
                <a:latin typeface="Calibri"/>
                <a:ea typeface="Calibri"/>
                <a:cs typeface="Calibri"/>
                <a:sym typeface="Calibri"/>
              </a:rPr>
              <a:t>architecture-independent</a:t>
            </a:r>
            <a:r>
              <a:rPr b="0" i="0" lang="en-GB" sz="1300" u="none" cap="none" strike="noStrike">
                <a:solidFill>
                  <a:srgbClr val="1B1F2A"/>
                </a:solidFill>
                <a:latin typeface="Calibri"/>
                <a:ea typeface="Calibri"/>
                <a:cs typeface="Calibri"/>
                <a:sym typeface="Calibri"/>
              </a:rPr>
              <a:t> failure loci</a:t>
            </a:r>
            <a:endParaRPr b="0" i="0" sz="1300" u="none" cap="none" strike="noStrike">
              <a:solidFill>
                <a:schemeClr val="dk1"/>
              </a:solidFill>
              <a:latin typeface="Calibri"/>
              <a:ea typeface="Calibri"/>
              <a:cs typeface="Calibri"/>
              <a:sym typeface="Calibri"/>
            </a:endParaRPr>
          </a:p>
          <a:p>
            <a:pPr indent="-184150" lvl="0" marL="177800" marR="0" rtl="0" algn="l">
              <a:spcBef>
                <a:spcPts val="300"/>
              </a:spcBef>
              <a:spcAft>
                <a:spcPts val="0"/>
              </a:spcAft>
              <a:buClr>
                <a:srgbClr val="1B1F2A"/>
              </a:buClr>
              <a:buSzPts val="1300"/>
              <a:buFont typeface="Calibri"/>
              <a:buChar char="•"/>
            </a:pPr>
            <a:r>
              <a:rPr b="0" i="0" lang="en-GB" sz="1300" u="none" cap="none" strike="noStrike">
                <a:solidFill>
                  <a:srgbClr val="1B1F2A"/>
                </a:solidFill>
                <a:latin typeface="Calibri"/>
                <a:ea typeface="Calibri"/>
                <a:cs typeface="Calibri"/>
                <a:sym typeface="Calibri"/>
              </a:rPr>
              <a:t>Controlled interventions: 2 datasets × </a:t>
            </a:r>
            <a:r>
              <a:rPr lang="en-GB" sz="1300">
                <a:solidFill>
                  <a:srgbClr val="1B1F2A"/>
                </a:solidFill>
                <a:latin typeface="Calibri"/>
                <a:ea typeface="Calibri"/>
                <a:cs typeface="Calibri"/>
                <a:sym typeface="Calibri"/>
              </a:rPr>
              <a:t>multiple</a:t>
            </a:r>
            <a:r>
              <a:rPr b="0" i="0" lang="en-GB" sz="1300" u="none" cap="none" strike="noStrike">
                <a:solidFill>
                  <a:srgbClr val="1B1F2A"/>
                </a:solidFill>
                <a:latin typeface="Calibri"/>
                <a:ea typeface="Calibri"/>
                <a:cs typeface="Calibri"/>
                <a:sym typeface="Calibri"/>
              </a:rPr>
              <a:t> model families</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Guidance for </a:t>
            </a:r>
            <a:r>
              <a:rPr b="1" i="0" lang="en-GB" sz="1300" u="none" cap="none" strike="noStrike">
                <a:solidFill>
                  <a:srgbClr val="27348B"/>
                </a:solidFill>
                <a:latin typeface="Calibri"/>
                <a:ea typeface="Calibri"/>
                <a:cs typeface="Calibri"/>
                <a:sym typeface="Calibri"/>
              </a:rPr>
              <a:t>local deployment</a:t>
            </a:r>
            <a:endParaRPr b="0" i="0" sz="1300" u="none" cap="none" strike="noStrike">
              <a:solidFill>
                <a:schemeClr val="dk1"/>
              </a:solidFill>
              <a:latin typeface="Calibri"/>
              <a:ea typeface="Calibri"/>
              <a:cs typeface="Calibri"/>
              <a:sym typeface="Calibri"/>
            </a:endParaRPr>
          </a:p>
        </p:txBody>
      </p:sp>
      <p:pic>
        <p:nvPicPr>
          <p:cNvPr descr="Attribution framework: three loci, six mechanisms" id="226" name="Google Shape;226;p27"/>
          <p:cNvPicPr preferRelativeResize="0"/>
          <p:nvPr/>
        </p:nvPicPr>
        <p:blipFill rotWithShape="1">
          <a:blip r:embed="rId3">
            <a:alphaModFix/>
          </a:blip>
          <a:srcRect b="0" l="0" r="0" t="0"/>
          <a:stretch/>
        </p:blipFill>
        <p:spPr>
          <a:xfrm>
            <a:off x="826534" y="2366010"/>
            <a:ext cx="7490704" cy="2263140"/>
          </a:xfrm>
          <a:prstGeom prst="rect">
            <a:avLst/>
          </a:prstGeom>
          <a:noFill/>
          <a:ln>
            <a:noFill/>
          </a:ln>
        </p:spPr>
      </p:pic>
      <p:sp>
        <p:nvSpPr>
          <p:cNvPr id="227" name="Google Shape;227;p2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Methodology: Attribution by Construction</a:t>
            </a:r>
            <a:endParaRPr sz="2300"/>
          </a:p>
        </p:txBody>
      </p:sp>
      <p:sp>
        <p:nvSpPr>
          <p:cNvPr id="234" name="Google Shape;234;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3 · Empirical study · Under review</a:t>
            </a:r>
            <a:endParaRPr b="0" i="0" sz="900" u="none" cap="none" strike="noStrike">
              <a:solidFill>
                <a:schemeClr val="dk1"/>
              </a:solidFill>
              <a:latin typeface="Calibri"/>
              <a:ea typeface="Calibri"/>
              <a:cs typeface="Calibri"/>
              <a:sym typeface="Calibri"/>
            </a:endParaRPr>
          </a:p>
        </p:txBody>
      </p:sp>
      <p:sp>
        <p:nvSpPr>
          <p:cNvPr id="235" name="Google Shape;235;p2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Change one stage</a:t>
            </a:r>
            <a:r>
              <a:rPr b="0" i="0" lang="en-GB" sz="1400" u="none" cap="none" strike="noStrike">
                <a:solidFill>
                  <a:srgbClr val="1B1F2A"/>
                </a:solidFill>
                <a:latin typeface="Calibri"/>
                <a:ea typeface="Calibri"/>
                <a:cs typeface="Calibri"/>
                <a:sym typeface="Calibri"/>
              </a:rPr>
              <a:t>, hold the other two fixed.</a:t>
            </a:r>
            <a:endParaRPr b="0" i="0" sz="1400" u="none" cap="none" strike="noStrike">
              <a:solidFill>
                <a:schemeClr val="dk1"/>
              </a:solidFill>
              <a:latin typeface="Calibri"/>
              <a:ea typeface="Calibri"/>
              <a:cs typeface="Calibri"/>
              <a:sym typeface="Calibri"/>
            </a:endParaRPr>
          </a:p>
        </p:txBody>
      </p:sp>
      <p:sp>
        <p:nvSpPr>
          <p:cNvPr id="236" name="Google Shape;236;p28"/>
          <p:cNvSpPr/>
          <p:nvPr/>
        </p:nvSpPr>
        <p:spPr>
          <a:xfrm>
            <a:off x="411480" y="1200150"/>
            <a:ext cx="2331720" cy="58293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8"/>
          <p:cNvSpPr txBox="1"/>
          <p:nvPr/>
        </p:nvSpPr>
        <p:spPr>
          <a:xfrm>
            <a:off x="548640" y="1200150"/>
            <a:ext cx="20574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GB" sz="1800" u="none" cap="none" strike="noStrike">
                <a:solidFill>
                  <a:schemeClr val="dk1"/>
                </a:solidFill>
                <a:latin typeface="Calibri"/>
                <a:ea typeface="Calibri"/>
                <a:cs typeface="Calibri"/>
                <a:sym typeface="Calibri"/>
              </a:rPr>
              <a:t>Encode</a:t>
            </a:r>
            <a:r>
              <a:rPr b="0" i="0" lang="en-GB" sz="1100" u="none" cap="none" strike="noStrike">
                <a:solidFill>
                  <a:schemeClr val="dk1"/>
                </a:solidFill>
                <a:latin typeface="Calibri"/>
                <a:ea typeface="Calibri"/>
                <a:cs typeface="Calibri"/>
                <a:sym typeface="Calibri"/>
              </a:rPr>
              <a:t> </a:t>
            </a:r>
            <a:r>
              <a:rPr b="0" i="0" lang="en-GB" sz="1100" u="none" cap="none" strike="noStrike">
                <a:solidFill>
                  <a:srgbClr val="5A6072"/>
                </a:solidFill>
                <a:latin typeface="Calibri"/>
                <a:ea typeface="Calibri"/>
                <a:cs typeface="Calibri"/>
                <a:sym typeface="Calibri"/>
              </a:rPr>
              <a:t>  Representation</a:t>
            </a:r>
            <a:endParaRPr b="0" i="0" sz="1800" u="none" cap="none" strike="noStrike">
              <a:solidFill>
                <a:srgbClr val="5A6072"/>
              </a:solidFill>
              <a:latin typeface="Calibri"/>
              <a:ea typeface="Calibri"/>
              <a:cs typeface="Calibri"/>
              <a:sym typeface="Calibri"/>
            </a:endParaRPr>
          </a:p>
        </p:txBody>
      </p:sp>
      <p:sp>
        <p:nvSpPr>
          <p:cNvPr id="238" name="Google Shape;238;p28"/>
          <p:cNvSpPr txBox="1"/>
          <p:nvPr/>
        </p:nvSpPr>
        <p:spPr>
          <a:xfrm>
            <a:off x="548640" y="1885950"/>
            <a:ext cx="20574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T · TL · TLV · V</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3 parsers · 3 resolutions</a:t>
            </a:r>
            <a:endParaRPr b="0" i="0" sz="1400" u="none" cap="none" strike="noStrike">
              <a:solidFill>
                <a:schemeClr val="dk1"/>
              </a:solidFill>
              <a:latin typeface="Calibri"/>
              <a:ea typeface="Calibri"/>
              <a:cs typeface="Calibri"/>
              <a:sym typeface="Calibri"/>
            </a:endParaRPr>
          </a:p>
        </p:txBody>
      </p:sp>
      <p:sp>
        <p:nvSpPr>
          <p:cNvPr id="239" name="Google Shape;239;p28"/>
          <p:cNvSpPr/>
          <p:nvPr/>
        </p:nvSpPr>
        <p:spPr>
          <a:xfrm>
            <a:off x="2903163" y="1371600"/>
            <a:ext cx="342900" cy="240030"/>
          </a:xfrm>
          <a:prstGeom prst="rightArrow">
            <a:avLst>
              <a:gd fmla="val 50000" name="adj1"/>
              <a:gd fmla="val 50000" name="adj2"/>
            </a:avLst>
          </a:prstGeom>
          <a:solidFill>
            <a:srgbClr val="E1B6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8"/>
          <p:cNvSpPr/>
          <p:nvPr/>
        </p:nvSpPr>
        <p:spPr>
          <a:xfrm>
            <a:off x="3406026" y="1200150"/>
            <a:ext cx="2331720" cy="58293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28"/>
          <p:cNvSpPr txBox="1"/>
          <p:nvPr/>
        </p:nvSpPr>
        <p:spPr>
          <a:xfrm>
            <a:off x="3543186" y="1200150"/>
            <a:ext cx="20574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GB" sz="1800" u="none" cap="none" strike="noStrike">
                <a:solidFill>
                  <a:schemeClr val="dk1"/>
                </a:solidFill>
                <a:latin typeface="Calibri"/>
                <a:ea typeface="Calibri"/>
                <a:cs typeface="Calibri"/>
                <a:sym typeface="Calibri"/>
              </a:rPr>
              <a:t>Retrieve</a:t>
            </a:r>
            <a:r>
              <a:rPr b="0" i="0" lang="en-GB" sz="1100" u="none" cap="none" strike="noStrike">
                <a:solidFill>
                  <a:schemeClr val="dk1"/>
                </a:solidFill>
                <a:latin typeface="Calibri"/>
                <a:ea typeface="Calibri"/>
                <a:cs typeface="Calibri"/>
                <a:sym typeface="Calibri"/>
              </a:rPr>
              <a:t> </a:t>
            </a:r>
            <a:r>
              <a:rPr b="0" i="0" lang="en-GB" sz="1100" u="none" cap="none" strike="noStrike">
                <a:solidFill>
                  <a:srgbClr val="5A6072"/>
                </a:solidFill>
                <a:latin typeface="Calibri"/>
                <a:ea typeface="Calibri"/>
                <a:cs typeface="Calibri"/>
                <a:sym typeface="Calibri"/>
              </a:rPr>
              <a:t>  Selection</a:t>
            </a:r>
            <a:endParaRPr b="0" i="0" sz="1800" u="none" cap="none" strike="noStrike">
              <a:solidFill>
                <a:srgbClr val="5A6072"/>
              </a:solidFill>
              <a:latin typeface="Calibri"/>
              <a:ea typeface="Calibri"/>
              <a:cs typeface="Calibri"/>
              <a:sym typeface="Calibri"/>
            </a:endParaRPr>
          </a:p>
        </p:txBody>
      </p:sp>
      <p:sp>
        <p:nvSpPr>
          <p:cNvPr id="242" name="Google Shape;242;p28"/>
          <p:cNvSpPr txBox="1"/>
          <p:nvPr/>
        </p:nvSpPr>
        <p:spPr>
          <a:xfrm>
            <a:off x="3543186" y="1885950"/>
            <a:ext cx="20574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Gold pages, or</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drop one · add k distractors</a:t>
            </a:r>
            <a:endParaRPr b="0" i="0" sz="1400" u="none" cap="none" strike="noStrike">
              <a:solidFill>
                <a:schemeClr val="dk1"/>
              </a:solidFill>
              <a:latin typeface="Calibri"/>
              <a:ea typeface="Calibri"/>
              <a:cs typeface="Calibri"/>
              <a:sym typeface="Calibri"/>
            </a:endParaRPr>
          </a:p>
        </p:txBody>
      </p:sp>
      <p:sp>
        <p:nvSpPr>
          <p:cNvPr id="243" name="Google Shape;243;p28"/>
          <p:cNvSpPr/>
          <p:nvPr/>
        </p:nvSpPr>
        <p:spPr>
          <a:xfrm>
            <a:off x="5897708" y="1371600"/>
            <a:ext cx="342900" cy="240030"/>
          </a:xfrm>
          <a:prstGeom prst="rightArrow">
            <a:avLst>
              <a:gd fmla="val 50000" name="adj1"/>
              <a:gd fmla="val 50000" name="adj2"/>
            </a:avLst>
          </a:prstGeom>
          <a:solidFill>
            <a:srgbClr val="E1B6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8"/>
          <p:cNvSpPr/>
          <p:nvPr/>
        </p:nvSpPr>
        <p:spPr>
          <a:xfrm>
            <a:off x="6400571" y="1200150"/>
            <a:ext cx="2331720" cy="58293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5" name="Google Shape;245;p28"/>
          <p:cNvSpPr txBox="1"/>
          <p:nvPr/>
        </p:nvSpPr>
        <p:spPr>
          <a:xfrm>
            <a:off x="6537731" y="1200150"/>
            <a:ext cx="20574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GB" sz="1800" u="none" cap="none" strike="noStrike">
                <a:solidFill>
                  <a:schemeClr val="dk1"/>
                </a:solidFill>
                <a:latin typeface="Calibri"/>
                <a:ea typeface="Calibri"/>
                <a:cs typeface="Calibri"/>
                <a:sym typeface="Calibri"/>
              </a:rPr>
              <a:t>Answer</a:t>
            </a:r>
            <a:r>
              <a:rPr b="0" i="0" lang="en-GB" sz="1100" u="none" cap="none" strike="noStrike">
                <a:solidFill>
                  <a:schemeClr val="dk1"/>
                </a:solidFill>
                <a:latin typeface="Calibri"/>
                <a:ea typeface="Calibri"/>
                <a:cs typeface="Calibri"/>
                <a:sym typeface="Calibri"/>
              </a:rPr>
              <a:t> </a:t>
            </a:r>
            <a:r>
              <a:rPr b="0" i="0" lang="en-GB" sz="1100" u="none" cap="none" strike="noStrike">
                <a:solidFill>
                  <a:srgbClr val="5A6072"/>
                </a:solidFill>
                <a:latin typeface="Calibri"/>
                <a:ea typeface="Calibri"/>
                <a:cs typeface="Calibri"/>
                <a:sym typeface="Calibri"/>
              </a:rPr>
              <a:t>  Reasoning</a:t>
            </a:r>
            <a:endParaRPr b="0" i="0" sz="1800" u="none" cap="none" strike="noStrike">
              <a:solidFill>
                <a:srgbClr val="5A6072"/>
              </a:solidFill>
              <a:latin typeface="Calibri"/>
              <a:ea typeface="Calibri"/>
              <a:cs typeface="Calibri"/>
              <a:sym typeface="Calibri"/>
            </a:endParaRPr>
          </a:p>
        </p:txBody>
      </p:sp>
      <p:sp>
        <p:nvSpPr>
          <p:cNvPr id="246" name="Google Shape;246;p28"/>
          <p:cNvSpPr txBox="1"/>
          <p:nvPr/>
        </p:nvSpPr>
        <p:spPr>
          <a:xfrm>
            <a:off x="6537731" y="1885950"/>
            <a:ext cx="20574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Qwen3-VL 2B → 32B</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4 prompt modes</a:t>
            </a:r>
            <a:endParaRPr b="0" i="0" sz="1400" u="none" cap="none" strike="noStrike">
              <a:solidFill>
                <a:schemeClr val="dk1"/>
              </a:solidFill>
              <a:latin typeface="Calibri"/>
              <a:ea typeface="Calibri"/>
              <a:cs typeface="Calibri"/>
              <a:sym typeface="Calibri"/>
            </a:endParaRPr>
          </a:p>
        </p:txBody>
      </p:sp>
      <p:sp>
        <p:nvSpPr>
          <p:cNvPr id="247" name="Google Shape;247;p28"/>
          <p:cNvSpPr txBox="1"/>
          <p:nvPr/>
        </p:nvSpPr>
        <p:spPr>
          <a:xfrm>
            <a:off x="411480" y="2571750"/>
            <a:ext cx="8320811"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1000"/>
              <a:buFont typeface="Calibri"/>
              <a:buNone/>
            </a:pPr>
            <a:r>
              <a:rPr b="0" i="1" lang="en-GB" sz="1200" u="none" cap="none" strike="noStrike">
                <a:solidFill>
                  <a:srgbClr val="5A6072"/>
                </a:solidFill>
                <a:latin typeface="Calibri"/>
                <a:ea typeface="Calibri"/>
                <a:cs typeface="Calibri"/>
                <a:sym typeface="Calibri"/>
              </a:rPr>
              <a:t>T embedded text · TL parser text · V page image · TLV parser text + image (default)</a:t>
            </a:r>
            <a:endParaRPr b="0" i="1" sz="1200" u="none" cap="none" strike="noStrike">
              <a:solidFill>
                <a:schemeClr val="dk1"/>
              </a:solidFill>
              <a:latin typeface="Calibri"/>
              <a:ea typeface="Calibri"/>
              <a:cs typeface="Calibri"/>
              <a:sym typeface="Calibri"/>
            </a:endParaRPr>
          </a:p>
        </p:txBody>
      </p:sp>
      <p:sp>
        <p:nvSpPr>
          <p:cNvPr id="248" name="Google Shape;248;p28"/>
          <p:cNvSpPr txBox="1"/>
          <p:nvPr/>
        </p:nvSpPr>
        <p:spPr>
          <a:xfrm>
            <a:off x="411480" y="3120390"/>
            <a:ext cx="2545004"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DATA</a:t>
            </a:r>
            <a:endParaRPr b="0" i="0" sz="900" u="none" cap="none" strike="noStrike">
              <a:solidFill>
                <a:schemeClr val="dk1"/>
              </a:solidFill>
              <a:latin typeface="Calibri"/>
              <a:ea typeface="Calibri"/>
              <a:cs typeface="Calibri"/>
              <a:sym typeface="Calibri"/>
            </a:endParaRPr>
          </a:p>
        </p:txBody>
      </p:sp>
      <p:sp>
        <p:nvSpPr>
          <p:cNvPr id="249" name="Google Shape;249;p28"/>
          <p:cNvSpPr txBox="1"/>
          <p:nvPr/>
        </p:nvSpPr>
        <p:spPr>
          <a:xfrm>
            <a:off x="411480" y="3360420"/>
            <a:ext cx="2545004"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300"/>
              <a:buFont typeface="Calibri"/>
              <a:buNone/>
            </a:pPr>
            <a:r>
              <a:rPr b="1" i="0" lang="en-GB" sz="1300" u="none" cap="none" strike="noStrike">
                <a:solidFill>
                  <a:srgbClr val="27348B"/>
                </a:solidFill>
                <a:latin typeface="Calibri"/>
                <a:ea typeface="Calibri"/>
                <a:cs typeface="Calibri"/>
                <a:sym typeface="Calibri"/>
              </a:rPr>
              <a:t>MMLongBench-Doc</a:t>
            </a:r>
            <a:r>
              <a:rPr b="0" i="0" lang="en-GB" sz="1300" u="none" cap="none" strike="noStrike">
                <a:solidFill>
                  <a:srgbClr val="1B1F2A"/>
                </a:solidFill>
                <a:latin typeface="Calibri"/>
                <a:ea typeface="Calibri"/>
                <a:cs typeface="Calibri"/>
                <a:sym typeface="Calibri"/>
              </a:rPr>
              <a:t>: 135 documents with evidence pages, sources, answerability. LongDocURL: 396 born-digital documents.</a:t>
            </a:r>
            <a:endParaRPr b="0" i="0" sz="1300" u="none" cap="none" strike="noStrike">
              <a:solidFill>
                <a:schemeClr val="dk1"/>
              </a:solidFill>
              <a:latin typeface="Calibri"/>
              <a:ea typeface="Calibri"/>
              <a:cs typeface="Calibri"/>
              <a:sym typeface="Calibri"/>
            </a:endParaRPr>
          </a:p>
        </p:txBody>
      </p:sp>
      <p:sp>
        <p:nvSpPr>
          <p:cNvPr id="250" name="Google Shape;250;p28"/>
          <p:cNvSpPr txBox="1"/>
          <p:nvPr/>
        </p:nvSpPr>
        <p:spPr>
          <a:xfrm>
            <a:off x="3299384" y="3120390"/>
            <a:ext cx="2545003"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MODELS</a:t>
            </a:r>
            <a:endParaRPr b="0" i="0" sz="900" u="none" cap="none" strike="noStrike">
              <a:solidFill>
                <a:schemeClr val="dk1"/>
              </a:solidFill>
              <a:latin typeface="Calibri"/>
              <a:ea typeface="Calibri"/>
              <a:cs typeface="Calibri"/>
              <a:sym typeface="Calibri"/>
            </a:endParaRPr>
          </a:p>
        </p:txBody>
      </p:sp>
      <p:sp>
        <p:nvSpPr>
          <p:cNvPr id="251" name="Google Shape;251;p28"/>
          <p:cNvSpPr txBox="1"/>
          <p:nvPr/>
        </p:nvSpPr>
        <p:spPr>
          <a:xfrm>
            <a:off x="3299384" y="3360420"/>
            <a:ext cx="2545003"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Qwen3-VL (Alibaba) and </a:t>
            </a:r>
            <a:r>
              <a:rPr b="1" i="0" lang="en-GB" sz="1300" u="none" cap="none" strike="noStrike">
                <a:solidFill>
                  <a:srgbClr val="27348B"/>
                </a:solidFill>
                <a:latin typeface="Calibri"/>
                <a:ea typeface="Calibri"/>
                <a:cs typeface="Calibri"/>
                <a:sym typeface="Calibri"/>
              </a:rPr>
              <a:t>Gemma-3</a:t>
            </a:r>
            <a:r>
              <a:rPr b="0" i="0" lang="en-GB" sz="1300" u="none" cap="none" strike="noStrike">
                <a:solidFill>
                  <a:srgbClr val="1B1F2A"/>
                </a:solidFill>
                <a:latin typeface="Calibri"/>
                <a:ea typeface="Calibri"/>
                <a:cs typeface="Calibri"/>
                <a:sym typeface="Calibri"/>
              </a:rPr>
              <a:t> (Google), developed independently</a:t>
            </a:r>
            <a:endParaRPr b="0" i="0" sz="1300" u="none" cap="none" strike="noStrike">
              <a:solidFill>
                <a:schemeClr val="dk1"/>
              </a:solidFill>
              <a:latin typeface="Calibri"/>
              <a:ea typeface="Calibri"/>
              <a:cs typeface="Calibri"/>
              <a:sym typeface="Calibri"/>
            </a:endParaRPr>
          </a:p>
        </p:txBody>
      </p:sp>
      <p:sp>
        <p:nvSpPr>
          <p:cNvPr id="252" name="Google Shape;252;p28"/>
          <p:cNvSpPr txBox="1"/>
          <p:nvPr/>
        </p:nvSpPr>
        <p:spPr>
          <a:xfrm>
            <a:off x="6187288" y="3120390"/>
            <a:ext cx="2545004"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EVALUATION</a:t>
            </a:r>
            <a:endParaRPr b="0" i="0" sz="900" u="none" cap="none" strike="noStrike">
              <a:solidFill>
                <a:schemeClr val="dk1"/>
              </a:solidFill>
              <a:latin typeface="Calibri"/>
              <a:ea typeface="Calibri"/>
              <a:cs typeface="Calibri"/>
              <a:sym typeface="Calibri"/>
            </a:endParaRPr>
          </a:p>
        </p:txBody>
      </p:sp>
      <p:sp>
        <p:nvSpPr>
          <p:cNvPr id="253" name="Google Shape;253;p28"/>
          <p:cNvSpPr txBox="1"/>
          <p:nvPr/>
        </p:nvSpPr>
        <p:spPr>
          <a:xfrm>
            <a:off x="6187288" y="3360420"/>
            <a:ext cx="2545004"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Gemini-2.5-Flash judge: </a:t>
            </a:r>
            <a:r>
              <a:rPr b="1" i="0" lang="en-GB" sz="1300" u="none" cap="none" strike="noStrike">
                <a:solidFill>
                  <a:srgbClr val="27348B"/>
                </a:solidFill>
                <a:latin typeface="Calibri"/>
                <a:ea typeface="Calibri"/>
                <a:cs typeface="Calibri"/>
                <a:sym typeface="Calibri"/>
              </a:rPr>
              <a:t>98.3%</a:t>
            </a:r>
            <a:r>
              <a:rPr b="0" i="0" lang="en-GB" sz="1300" u="none" cap="none" strike="noStrike">
                <a:solidFill>
                  <a:srgbClr val="1B1F2A"/>
                </a:solidFill>
                <a:latin typeface="Calibri"/>
                <a:ea typeface="Calibri"/>
                <a:cs typeface="Calibri"/>
                <a:sym typeface="Calibri"/>
              </a:rPr>
              <a:t> agreement with a human annotator</a:t>
            </a:r>
            <a:endParaRPr b="0" i="0" sz="1300" u="none" cap="none" strike="noStrike">
              <a:solidFill>
                <a:schemeClr val="dk1"/>
              </a:solidFill>
              <a:latin typeface="Calibri"/>
              <a:ea typeface="Calibri"/>
              <a:cs typeface="Calibri"/>
              <a:sym typeface="Calibri"/>
            </a:endParaRPr>
          </a:p>
        </p:txBody>
      </p:sp>
      <p:sp>
        <p:nvSpPr>
          <p:cNvPr id="254" name="Google Shape;254;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Finding 1 · Representation</a:t>
            </a:r>
            <a:endParaRPr sz="2300"/>
          </a:p>
        </p:txBody>
      </p:sp>
      <p:sp>
        <p:nvSpPr>
          <p:cNvPr id="261" name="Google Shape;261;p2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3 · Empirical study · Under review</a:t>
            </a:r>
            <a:endParaRPr b="0" i="0" sz="900" u="none" cap="none" strike="noStrike">
              <a:solidFill>
                <a:schemeClr val="dk1"/>
              </a:solidFill>
              <a:latin typeface="Calibri"/>
              <a:ea typeface="Calibri"/>
              <a:cs typeface="Calibri"/>
              <a:sym typeface="Calibri"/>
            </a:endParaRPr>
          </a:p>
        </p:txBody>
      </p:sp>
      <p:sp>
        <p:nvSpPr>
          <p:cNvPr id="262" name="Google Shape;262;p2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Text and vision are complementary</a:t>
            </a:r>
            <a:r>
              <a:rPr b="0" i="0" lang="en-GB" sz="1400" u="none" cap="none" strike="noStrike">
                <a:solidFill>
                  <a:srgbClr val="1B1F2A"/>
                </a:solidFill>
                <a:latin typeface="Calibri"/>
                <a:ea typeface="Calibri"/>
                <a:cs typeface="Calibri"/>
                <a:sym typeface="Calibri"/>
              </a:rPr>
              <a:t>: neither alone is enough.</a:t>
            </a:r>
            <a:endParaRPr b="0" i="0" sz="1400" u="none" cap="none" strike="noStrike">
              <a:solidFill>
                <a:schemeClr val="dk1"/>
              </a:solidFill>
              <a:latin typeface="Calibri"/>
              <a:ea typeface="Calibri"/>
              <a:cs typeface="Calibri"/>
              <a:sym typeface="Calibri"/>
            </a:endParaRPr>
          </a:p>
        </p:txBody>
      </p:sp>
      <p:pic>
        <p:nvPicPr>
          <p:cNvPr descr="Abstention and accuracy by evidence source and representation" id="263" name="Google Shape;263;p29"/>
          <p:cNvPicPr preferRelativeResize="0"/>
          <p:nvPr/>
        </p:nvPicPr>
        <p:blipFill rotWithShape="1">
          <a:blip r:embed="rId3">
            <a:alphaModFix/>
          </a:blip>
          <a:srcRect b="0" l="0" r="0" t="0"/>
          <a:stretch/>
        </p:blipFill>
        <p:spPr>
          <a:xfrm>
            <a:off x="411480" y="1131570"/>
            <a:ext cx="3747416" cy="3120390"/>
          </a:xfrm>
          <a:prstGeom prst="rect">
            <a:avLst/>
          </a:prstGeom>
          <a:noFill/>
          <a:ln>
            <a:noFill/>
          </a:ln>
        </p:spPr>
      </p:pic>
      <p:sp>
        <p:nvSpPr>
          <p:cNvPr id="264" name="Google Shape;264;p29"/>
          <p:cNvSpPr txBox="1"/>
          <p:nvPr/>
        </p:nvSpPr>
        <p:spPr>
          <a:xfrm>
            <a:off x="411480" y="4306824"/>
            <a:ext cx="3747416"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Modality ceiling: refusal and accuracy by evidence type</a:t>
            </a:r>
            <a:endParaRPr b="0" i="0" sz="900" u="none" cap="none" strike="noStrike">
              <a:solidFill>
                <a:schemeClr val="dk1"/>
              </a:solidFill>
              <a:latin typeface="Calibri"/>
              <a:ea typeface="Calibri"/>
              <a:cs typeface="Calibri"/>
              <a:sym typeface="Calibri"/>
            </a:endParaRPr>
          </a:p>
        </p:txBody>
      </p:sp>
      <p:pic>
        <p:nvPicPr>
          <p:cNvPr descr="Conversion fidelity by parser and resolution" id="265" name="Google Shape;265;p29"/>
          <p:cNvPicPr preferRelativeResize="0"/>
          <p:nvPr/>
        </p:nvPicPr>
        <p:blipFill rotWithShape="1">
          <a:blip r:embed="rId4">
            <a:alphaModFix/>
          </a:blip>
          <a:srcRect b="0" l="0" r="0" t="0"/>
          <a:stretch/>
        </p:blipFill>
        <p:spPr>
          <a:xfrm>
            <a:off x="5402533" y="1131570"/>
            <a:ext cx="2808063" cy="2503170"/>
          </a:xfrm>
          <a:prstGeom prst="rect">
            <a:avLst/>
          </a:prstGeom>
          <a:noFill/>
          <a:ln>
            <a:noFill/>
          </a:ln>
        </p:spPr>
      </p:pic>
      <p:sp>
        <p:nvSpPr>
          <p:cNvPr id="266" name="Google Shape;266;p29"/>
          <p:cNvSpPr txBox="1"/>
          <p:nvPr/>
        </p:nvSpPr>
        <p:spPr>
          <a:xfrm>
            <a:off x="5402533" y="3689604"/>
            <a:ext cx="2808063"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Conversion fidelity: accuracy by parser and resolution</a:t>
            </a:r>
            <a:endParaRPr b="0" i="0" sz="900" u="none" cap="none" strike="noStrike">
              <a:solidFill>
                <a:schemeClr val="dk1"/>
              </a:solidFill>
              <a:latin typeface="Calibri"/>
              <a:ea typeface="Calibri"/>
              <a:cs typeface="Calibri"/>
              <a:sym typeface="Calibri"/>
            </a:endParaRPr>
          </a:p>
        </p:txBody>
      </p:sp>
      <p:sp>
        <p:nvSpPr>
          <p:cNvPr id="267" name="Google Shape;267;p29"/>
          <p:cNvSpPr txBox="1"/>
          <p:nvPr/>
        </p:nvSpPr>
        <p:spPr>
          <a:xfrm>
            <a:off x="4903470" y="4011930"/>
            <a:ext cx="380619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Chart refusal: </a:t>
            </a:r>
            <a:r>
              <a:rPr b="1" i="0" lang="en-GB" sz="1300" u="none" cap="none" strike="noStrike">
                <a:solidFill>
                  <a:srgbClr val="1B1F2A"/>
                </a:solidFill>
                <a:latin typeface="Calibri"/>
                <a:ea typeface="Calibri"/>
                <a:cs typeface="Calibri"/>
                <a:sym typeface="Calibri"/>
              </a:rPr>
              <a:t>32.6% → 7.3%</a:t>
            </a:r>
            <a:r>
              <a:rPr b="0" i="0" lang="en-GB" sz="1300" u="none" cap="none" strike="noStrike">
                <a:solidFill>
                  <a:srgbClr val="1B1F2A"/>
                </a:solidFill>
                <a:latin typeface="Calibri"/>
                <a:ea typeface="Calibri"/>
                <a:cs typeface="Calibri"/>
                <a:sym typeface="Calibri"/>
              </a:rPr>
              <a:t> with page images</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Parser spread: </a:t>
            </a:r>
            <a:r>
              <a:rPr b="1" i="0" lang="en-GB" sz="1300" u="none" cap="none" strike="noStrike">
                <a:solidFill>
                  <a:srgbClr val="1B1F2A"/>
                </a:solidFill>
                <a:latin typeface="Calibri"/>
                <a:ea typeface="Calibri"/>
                <a:cs typeface="Calibri"/>
                <a:sym typeface="Calibri"/>
              </a:rPr>
              <a:t>15.7 → 4.2 pts</a:t>
            </a:r>
            <a:r>
              <a:rPr b="0" i="0" lang="en-GB" sz="1300" u="none" cap="none" strike="noStrike">
                <a:solidFill>
                  <a:srgbClr val="1B1F2A"/>
                </a:solidFill>
                <a:latin typeface="Calibri"/>
                <a:ea typeface="Calibri"/>
                <a:cs typeface="Calibri"/>
                <a:sym typeface="Calibri"/>
              </a:rPr>
              <a:t> once the image is added</a:t>
            </a:r>
            <a:endParaRPr b="0" i="0" sz="1300" u="none" cap="none" strike="noStrike">
              <a:solidFill>
                <a:schemeClr val="dk1"/>
              </a:solidFill>
              <a:latin typeface="Calibri"/>
              <a:ea typeface="Calibri"/>
              <a:cs typeface="Calibri"/>
              <a:sym typeface="Calibri"/>
            </a:endParaRPr>
          </a:p>
        </p:txBody>
      </p:sp>
      <p:sp>
        <p:nvSpPr>
          <p:cNvPr id="268" name="Google Shape;268;p2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Finding 2 · Selection</a:t>
            </a:r>
            <a:endParaRPr sz="2300"/>
          </a:p>
        </p:txBody>
      </p:sp>
      <p:sp>
        <p:nvSpPr>
          <p:cNvPr id="275" name="Google Shape;275;p3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3 · Empirical study · Under review</a:t>
            </a:r>
            <a:endParaRPr b="0" i="0" sz="900" u="none" cap="none" strike="noStrike">
              <a:solidFill>
                <a:schemeClr val="dk1"/>
              </a:solidFill>
              <a:latin typeface="Calibri"/>
              <a:ea typeface="Calibri"/>
              <a:cs typeface="Calibri"/>
              <a:sym typeface="Calibri"/>
            </a:endParaRPr>
          </a:p>
        </p:txBody>
      </p:sp>
      <p:sp>
        <p:nvSpPr>
          <p:cNvPr id="276" name="Google Shape;276;p3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Select evidence </a:t>
            </a:r>
            <a:r>
              <a:rPr b="1" i="0" lang="en-GB" sz="1400" u="none" cap="none" strike="noStrike">
                <a:solidFill>
                  <a:srgbClr val="27348B"/>
                </a:solidFill>
                <a:latin typeface="Calibri"/>
                <a:ea typeface="Calibri"/>
                <a:cs typeface="Calibri"/>
                <a:sym typeface="Calibri"/>
              </a:rPr>
              <a:t>as a set</a:t>
            </a:r>
            <a:r>
              <a:rPr b="0" i="0" lang="en-GB" sz="1400" u="none" cap="none" strike="noStrike">
                <a:solidFill>
                  <a:srgbClr val="1B1F2A"/>
                </a:solidFill>
                <a:latin typeface="Calibri"/>
                <a:ea typeface="Calibri"/>
                <a:cs typeface="Calibri"/>
                <a:sym typeface="Calibri"/>
              </a:rPr>
              <a:t>, not page by page.</a:t>
            </a:r>
            <a:endParaRPr b="0" i="0" sz="1400" u="none" cap="none" strike="noStrike">
              <a:solidFill>
                <a:schemeClr val="dk1"/>
              </a:solidFill>
              <a:latin typeface="Calibri"/>
              <a:ea typeface="Calibri"/>
              <a:cs typeface="Calibri"/>
              <a:sym typeface="Calibri"/>
            </a:endParaRPr>
          </a:p>
        </p:txBody>
      </p:sp>
      <p:pic>
        <p:nvPicPr>
          <p:cNvPr descr="Evidence coverage" id="277" name="Google Shape;277;p30"/>
          <p:cNvPicPr preferRelativeResize="0"/>
          <p:nvPr/>
        </p:nvPicPr>
        <p:blipFill rotWithShape="1">
          <a:blip r:embed="rId3">
            <a:alphaModFix/>
          </a:blip>
          <a:srcRect b="0" l="0" r="0" t="0"/>
          <a:stretch/>
        </p:blipFill>
        <p:spPr>
          <a:xfrm>
            <a:off x="411480" y="1200150"/>
            <a:ext cx="4320540" cy="2128609"/>
          </a:xfrm>
          <a:prstGeom prst="rect">
            <a:avLst/>
          </a:prstGeom>
          <a:noFill/>
          <a:ln>
            <a:noFill/>
          </a:ln>
        </p:spPr>
      </p:pic>
      <p:sp>
        <p:nvSpPr>
          <p:cNvPr id="278" name="Google Shape;278;p30"/>
          <p:cNvSpPr txBox="1"/>
          <p:nvPr/>
        </p:nvSpPr>
        <p:spPr>
          <a:xfrm>
            <a:off x="411480" y="3383623"/>
            <a:ext cx="43205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Evidence coverage: removing one gold page</a:t>
            </a:r>
            <a:endParaRPr b="0" i="0" sz="900" u="none" cap="none" strike="noStrike">
              <a:solidFill>
                <a:schemeClr val="dk1"/>
              </a:solidFill>
              <a:latin typeface="Calibri"/>
              <a:ea typeface="Calibri"/>
              <a:cs typeface="Calibri"/>
              <a:sym typeface="Calibri"/>
            </a:endParaRPr>
          </a:p>
        </p:txBody>
      </p:sp>
      <p:sp>
        <p:nvSpPr>
          <p:cNvPr id="279" name="Google Shape;279;p30"/>
          <p:cNvSpPr txBox="1"/>
          <p:nvPr/>
        </p:nvSpPr>
        <p:spPr>
          <a:xfrm>
            <a:off x="411480" y="3737610"/>
            <a:ext cx="4320540" cy="7543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300"/>
              <a:buFont typeface="Calibri"/>
              <a:buNone/>
            </a:pPr>
            <a:r>
              <a:rPr b="0" i="0" lang="en-GB" sz="1300" u="none" cap="none" strike="noStrike">
                <a:solidFill>
                  <a:srgbClr val="1B1F2A"/>
                </a:solidFill>
                <a:latin typeface="Calibri"/>
                <a:ea typeface="Calibri"/>
                <a:cs typeface="Calibri"/>
                <a:sym typeface="Calibri"/>
              </a:rPr>
              <a:t>All gold pages </a:t>
            </a:r>
            <a:r>
              <a:rPr b="1" i="0" lang="en-GB" sz="1300" u="none" cap="none" strike="noStrike">
                <a:solidFill>
                  <a:srgbClr val="1B1F2A"/>
                </a:solidFill>
                <a:latin typeface="Calibri"/>
                <a:ea typeface="Calibri"/>
                <a:cs typeface="Calibri"/>
                <a:sym typeface="Calibri"/>
              </a:rPr>
              <a:t>38.6%</a:t>
            </a:r>
            <a:r>
              <a:rPr b="0" i="0" lang="en-GB" sz="1300" u="none" cap="none" strike="noStrike">
                <a:solidFill>
                  <a:srgbClr val="1B1F2A"/>
                </a:solidFill>
                <a:latin typeface="Calibri"/>
                <a:ea typeface="Calibri"/>
                <a:cs typeface="Calibri"/>
                <a:sym typeface="Calibri"/>
              </a:rPr>
              <a:t> → drop one </a:t>
            </a:r>
            <a:r>
              <a:rPr b="1" i="0" lang="en-GB" sz="1300" u="none" cap="none" strike="noStrike">
                <a:solidFill>
                  <a:srgbClr val="1B1F2A"/>
                </a:solidFill>
                <a:latin typeface="Calibri"/>
                <a:ea typeface="Calibri"/>
                <a:cs typeface="Calibri"/>
                <a:sym typeface="Calibri"/>
              </a:rPr>
              <a:t>18.4%</a:t>
            </a:r>
            <a:endParaRPr b="0" i="0" sz="1300" u="none" cap="none" strike="noStrike">
              <a:solidFill>
                <a:schemeClr val="dk1"/>
              </a:solidFill>
              <a:latin typeface="Calibri"/>
              <a:ea typeface="Calibri"/>
              <a:cs typeface="Calibri"/>
              <a:sym typeface="Calibri"/>
            </a:endParaRPr>
          </a:p>
          <a:p>
            <a:pPr indent="-184150" lvl="0" marL="177800" marR="0" rtl="0" algn="l">
              <a:spcBef>
                <a:spcPts val="300"/>
              </a:spcBef>
              <a:spcAft>
                <a:spcPts val="0"/>
              </a:spcAft>
              <a:buClr>
                <a:srgbClr val="1B1F2A"/>
              </a:buClr>
              <a:buSzPts val="1300"/>
              <a:buFont typeface="Calibri"/>
              <a:buChar char="•"/>
            </a:pPr>
            <a:r>
              <a:rPr b="0" i="0" lang="en-GB" sz="1300" u="none" cap="none" strike="noStrike">
                <a:solidFill>
                  <a:srgbClr val="1B1F2A"/>
                </a:solidFill>
                <a:latin typeface="Calibri"/>
                <a:ea typeface="Calibri"/>
                <a:cs typeface="Calibri"/>
                <a:sym typeface="Calibri"/>
              </a:rPr>
              <a:t>Retrieval rank does not predict which page is safe to lose</a:t>
            </a:r>
            <a:endParaRPr b="0" i="0" sz="1300" u="none" cap="none" strike="noStrike">
              <a:solidFill>
                <a:schemeClr val="dk1"/>
              </a:solidFill>
              <a:latin typeface="Calibri"/>
              <a:ea typeface="Calibri"/>
              <a:cs typeface="Calibri"/>
              <a:sym typeface="Calibri"/>
            </a:endParaRPr>
          </a:p>
        </p:txBody>
      </p:sp>
      <p:pic>
        <p:nvPicPr>
          <p:cNvPr descr="Distractor exposure" id="280" name="Google Shape;280;p30"/>
          <p:cNvPicPr preferRelativeResize="0"/>
          <p:nvPr/>
        </p:nvPicPr>
        <p:blipFill rotWithShape="1">
          <a:blip r:embed="rId4">
            <a:alphaModFix/>
          </a:blip>
          <a:srcRect b="0" l="0" r="0" t="0"/>
          <a:stretch/>
        </p:blipFill>
        <p:spPr>
          <a:xfrm>
            <a:off x="5077133" y="1097280"/>
            <a:ext cx="3561736" cy="3154680"/>
          </a:xfrm>
          <a:prstGeom prst="rect">
            <a:avLst/>
          </a:prstGeom>
          <a:noFill/>
          <a:ln>
            <a:noFill/>
          </a:ln>
        </p:spPr>
      </p:pic>
      <p:sp>
        <p:nvSpPr>
          <p:cNvPr id="281" name="Google Shape;281;p30"/>
          <p:cNvSpPr txBox="1"/>
          <p:nvPr/>
        </p:nvSpPr>
        <p:spPr>
          <a:xfrm>
            <a:off x="5077133" y="4306824"/>
            <a:ext cx="3561736"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Distractor exposure: +3 pages, multi-hop </a:t>
            </a:r>
            <a:r>
              <a:rPr b="1" i="0" lang="en-GB" sz="1000" u="none" cap="none" strike="noStrike">
                <a:solidFill>
                  <a:srgbClr val="1B1F2A"/>
                </a:solidFill>
                <a:latin typeface="Calibri"/>
                <a:ea typeface="Calibri"/>
                <a:cs typeface="Calibri"/>
                <a:sym typeface="Calibri"/>
              </a:rPr>
              <a:t>43.9% → 35.1%</a:t>
            </a:r>
            <a:endParaRPr b="0" i="0" sz="1000" u="none" cap="none" strike="noStrike">
              <a:solidFill>
                <a:schemeClr val="dk1"/>
              </a:solidFill>
              <a:latin typeface="Calibri"/>
              <a:ea typeface="Calibri"/>
              <a:cs typeface="Calibri"/>
              <a:sym typeface="Calibri"/>
            </a:endParaRPr>
          </a:p>
        </p:txBody>
      </p:sp>
      <p:sp>
        <p:nvSpPr>
          <p:cNvPr id="282" name="Google Shape;282;p3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Finding 3 · Reasoning</a:t>
            </a:r>
            <a:endParaRPr sz="2300"/>
          </a:p>
        </p:txBody>
      </p:sp>
      <p:sp>
        <p:nvSpPr>
          <p:cNvPr id="289" name="Google Shape;289;p3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3 · Empirical study · Under review</a:t>
            </a:r>
            <a:endParaRPr b="0" i="0" sz="900" u="none" cap="none" strike="noStrike">
              <a:solidFill>
                <a:schemeClr val="dk1"/>
              </a:solidFill>
              <a:latin typeface="Calibri"/>
              <a:ea typeface="Calibri"/>
              <a:cs typeface="Calibri"/>
              <a:sym typeface="Calibri"/>
            </a:endParaRPr>
          </a:p>
        </p:txBody>
      </p:sp>
      <p:sp>
        <p:nvSpPr>
          <p:cNvPr id="290" name="Google Shape;290;p31"/>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Scale helps everything, but </a:t>
            </a:r>
            <a:r>
              <a:rPr b="1" i="0" lang="en-GB" sz="1400" u="none" cap="none" strike="noStrike">
                <a:solidFill>
                  <a:srgbClr val="27348B"/>
                </a:solidFill>
                <a:latin typeface="Calibri"/>
                <a:ea typeface="Calibri"/>
                <a:cs typeface="Calibri"/>
                <a:sym typeface="Calibri"/>
              </a:rPr>
              <a:t>does not close the multi-hop gap</a:t>
            </a:r>
            <a:r>
              <a:rPr b="0" i="0" lang="en-GB" sz="1400" u="none" cap="none" strike="noStrike">
                <a:solidFill>
                  <a:srgbClr val="1B1F2A"/>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pic>
        <p:nvPicPr>
          <p:cNvPr descr="Evidence integration across model sizes" id="291" name="Google Shape;291;p31"/>
          <p:cNvPicPr preferRelativeResize="0"/>
          <p:nvPr/>
        </p:nvPicPr>
        <p:blipFill rotWithShape="1">
          <a:blip r:embed="rId3">
            <a:alphaModFix/>
          </a:blip>
          <a:srcRect b="0" l="0" r="0" t="0"/>
          <a:stretch/>
        </p:blipFill>
        <p:spPr>
          <a:xfrm>
            <a:off x="411480" y="1097280"/>
            <a:ext cx="3762388" cy="3086100"/>
          </a:xfrm>
          <a:prstGeom prst="rect">
            <a:avLst/>
          </a:prstGeom>
          <a:noFill/>
          <a:ln>
            <a:noFill/>
          </a:ln>
        </p:spPr>
      </p:pic>
      <p:sp>
        <p:nvSpPr>
          <p:cNvPr id="292" name="Google Shape;292;p31"/>
          <p:cNvSpPr txBox="1"/>
          <p:nvPr/>
        </p:nvSpPr>
        <p:spPr>
          <a:xfrm>
            <a:off x="411480" y="4251960"/>
            <a:ext cx="41148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Evidence integration: multi-hop </a:t>
            </a:r>
            <a:r>
              <a:rPr b="1" i="0" lang="en-GB" sz="1000" u="none" cap="none" strike="noStrike">
                <a:solidFill>
                  <a:srgbClr val="1B1F2A"/>
                </a:solidFill>
                <a:latin typeface="Calibri"/>
                <a:ea typeface="Calibri"/>
                <a:cs typeface="Calibri"/>
                <a:sym typeface="Calibri"/>
              </a:rPr>
              <a:t>29.0% → 49.9%</a:t>
            </a:r>
            <a:r>
              <a:rPr b="0" i="0" lang="en-GB" sz="1000" u="none" cap="none" strike="noStrike">
                <a:solidFill>
                  <a:srgbClr val="5A6072"/>
                </a:solidFill>
                <a:latin typeface="Calibri"/>
                <a:ea typeface="Calibri"/>
                <a:cs typeface="Calibri"/>
                <a:sym typeface="Calibri"/>
              </a:rPr>
              <a:t>, gap persists</a:t>
            </a:r>
            <a:endParaRPr b="0" i="0" sz="1000" u="none" cap="none" strike="noStrike">
              <a:solidFill>
                <a:schemeClr val="dk1"/>
              </a:solidFill>
              <a:latin typeface="Calibri"/>
              <a:ea typeface="Calibri"/>
              <a:cs typeface="Calibri"/>
              <a:sym typeface="Calibri"/>
            </a:endParaRPr>
          </a:p>
        </p:txBody>
      </p:sp>
      <p:pic>
        <p:nvPicPr>
          <p:cNvPr descr="Response calibration by prompt mode" id="293" name="Google Shape;293;p31"/>
          <p:cNvPicPr preferRelativeResize="0"/>
          <p:nvPr/>
        </p:nvPicPr>
        <p:blipFill rotWithShape="1">
          <a:blip r:embed="rId4">
            <a:alphaModFix/>
          </a:blip>
          <a:srcRect b="0" l="0" r="0" t="0"/>
          <a:stretch/>
        </p:blipFill>
        <p:spPr>
          <a:xfrm>
            <a:off x="4732020" y="1097280"/>
            <a:ext cx="3977640" cy="2921079"/>
          </a:xfrm>
          <a:prstGeom prst="rect">
            <a:avLst/>
          </a:prstGeom>
          <a:noFill/>
          <a:ln>
            <a:noFill/>
          </a:ln>
        </p:spPr>
      </p:pic>
      <p:sp>
        <p:nvSpPr>
          <p:cNvPr id="294" name="Google Shape;294;p31"/>
          <p:cNvSpPr txBox="1"/>
          <p:nvPr/>
        </p:nvSpPr>
        <p:spPr>
          <a:xfrm>
            <a:off x="4732020" y="4086940"/>
            <a:ext cx="39776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1000"/>
              <a:buFont typeface="Calibri"/>
              <a:buNone/>
            </a:pPr>
            <a:r>
              <a:rPr b="0" i="0" lang="en-GB" sz="1000" u="none" cap="none" strike="noStrike">
                <a:solidFill>
                  <a:srgbClr val="5A6072"/>
                </a:solidFill>
                <a:latin typeface="Calibri"/>
                <a:ea typeface="Calibri"/>
                <a:cs typeface="Calibri"/>
                <a:sym typeface="Calibri"/>
              </a:rPr>
              <a:t>Response calibration: abstain prompt, false refusal </a:t>
            </a:r>
            <a:r>
              <a:rPr b="1" i="0" lang="en-GB" sz="1000" u="none" cap="none" strike="noStrike">
                <a:solidFill>
                  <a:srgbClr val="1B1F2A"/>
                </a:solidFill>
                <a:latin typeface="Calibri"/>
                <a:ea typeface="Calibri"/>
                <a:cs typeface="Calibri"/>
                <a:sym typeface="Calibri"/>
              </a:rPr>
              <a:t>6.2% → 27.7%</a:t>
            </a:r>
            <a:endParaRPr b="0" i="0" sz="1000" u="none" cap="none" strike="noStrike">
              <a:solidFill>
                <a:schemeClr val="dk1"/>
              </a:solidFill>
              <a:latin typeface="Calibri"/>
              <a:ea typeface="Calibri"/>
              <a:cs typeface="Calibri"/>
              <a:sym typeface="Calibri"/>
            </a:endParaRPr>
          </a:p>
        </p:txBody>
      </p:sp>
      <p:sp>
        <p:nvSpPr>
          <p:cNvPr id="295" name="Google Shape;295;p3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Real Failures to Design</a:t>
            </a:r>
            <a:endParaRPr sz="2300"/>
          </a:p>
        </p:txBody>
      </p:sp>
      <p:sp>
        <p:nvSpPr>
          <p:cNvPr id="302" name="Google Shape;302;p3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3 · Empirical study · Under review</a:t>
            </a:r>
            <a:endParaRPr b="0" i="0" sz="900" u="none" cap="none" strike="noStrike">
              <a:solidFill>
                <a:schemeClr val="dk1"/>
              </a:solidFill>
              <a:latin typeface="Calibri"/>
              <a:ea typeface="Calibri"/>
              <a:cs typeface="Calibri"/>
              <a:sym typeface="Calibri"/>
            </a:endParaRPr>
          </a:p>
        </p:txBody>
      </p:sp>
      <p:sp>
        <p:nvSpPr>
          <p:cNvPr id="303" name="Google Shape;303;p3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Six mechanisms on real questions, each with a </a:t>
            </a:r>
            <a:r>
              <a:rPr b="1" i="0" lang="en-GB" sz="1400" u="none" cap="none" strike="noStrike">
                <a:solidFill>
                  <a:srgbClr val="27348B"/>
                </a:solidFill>
                <a:latin typeface="Calibri"/>
                <a:ea typeface="Calibri"/>
                <a:cs typeface="Calibri"/>
                <a:sym typeface="Calibri"/>
              </a:rPr>
              <a:t>design implication</a:t>
            </a:r>
            <a:r>
              <a:rPr b="0" i="0" lang="en-GB" sz="1400" u="none" cap="none" strike="noStrike">
                <a:solidFill>
                  <a:srgbClr val="1B1F2A"/>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pic>
        <p:nvPicPr>
          <p:cNvPr descr="Qualitative examples for the six mechanisms" id="304" name="Google Shape;304;p32"/>
          <p:cNvPicPr preferRelativeResize="0"/>
          <p:nvPr/>
        </p:nvPicPr>
        <p:blipFill rotWithShape="1">
          <a:blip r:embed="rId3">
            <a:alphaModFix/>
          </a:blip>
          <a:srcRect b="0" l="0" r="0" t="0"/>
          <a:stretch/>
        </p:blipFill>
        <p:spPr>
          <a:xfrm>
            <a:off x="411480" y="1097280"/>
            <a:ext cx="5838894" cy="3566160"/>
          </a:xfrm>
          <a:prstGeom prst="rect">
            <a:avLst/>
          </a:prstGeom>
          <a:noFill/>
          <a:ln>
            <a:noFill/>
          </a:ln>
        </p:spPr>
      </p:pic>
      <p:sp>
        <p:nvSpPr>
          <p:cNvPr id="305" name="Google Shape;305;p32"/>
          <p:cNvSpPr txBox="1"/>
          <p:nvPr/>
        </p:nvSpPr>
        <p:spPr>
          <a:xfrm>
            <a:off x="6583680" y="1200150"/>
            <a:ext cx="2148611"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DESIGN</a:t>
            </a:r>
            <a:endParaRPr b="0" i="0" sz="900" u="none" cap="none" strike="noStrike">
              <a:solidFill>
                <a:schemeClr val="dk1"/>
              </a:solidFill>
              <a:latin typeface="Calibri"/>
              <a:ea typeface="Calibri"/>
              <a:cs typeface="Calibri"/>
              <a:sym typeface="Calibri"/>
            </a:endParaRPr>
          </a:p>
        </p:txBody>
      </p:sp>
      <p:sp>
        <p:nvSpPr>
          <p:cNvPr id="306" name="Google Shape;306;p32"/>
          <p:cNvSpPr txBox="1"/>
          <p:nvPr/>
        </p:nvSpPr>
        <p:spPr>
          <a:xfrm>
            <a:off x="6583680" y="1474470"/>
            <a:ext cx="2148611"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200"/>
              <a:buFont typeface="Calibri"/>
              <a:buNone/>
            </a:pPr>
            <a:r>
              <a:rPr b="1" i="0" lang="en-GB" sz="1200" u="none" cap="none" strike="noStrike">
                <a:solidFill>
                  <a:srgbClr val="27348B"/>
                </a:solidFill>
                <a:latin typeface="Calibri"/>
                <a:ea typeface="Calibri"/>
                <a:cs typeface="Calibri"/>
                <a:sym typeface="Calibri"/>
              </a:rPr>
              <a:t>Representation</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200"/>
              <a:buFont typeface="Calibri"/>
              <a:buNone/>
            </a:pPr>
            <a:r>
              <a:rPr b="0" i="0" lang="en-GB" sz="1200" u="none" cap="none" strike="noStrike">
                <a:solidFill>
                  <a:srgbClr val="1B1F2A"/>
                </a:solidFill>
                <a:latin typeface="Calibri"/>
                <a:ea typeface="Calibri"/>
                <a:cs typeface="Calibri"/>
                <a:sym typeface="Calibri"/>
              </a:rPr>
              <a:t>Add the page image when appearance matters or the text is unreliable</a:t>
            </a:r>
            <a:endParaRPr b="0" i="0" sz="1200" u="none" cap="none" strike="noStrike">
              <a:solidFill>
                <a:schemeClr val="dk1"/>
              </a:solidFill>
              <a:latin typeface="Calibri"/>
              <a:ea typeface="Calibri"/>
              <a:cs typeface="Calibri"/>
              <a:sym typeface="Calibri"/>
            </a:endParaRPr>
          </a:p>
        </p:txBody>
      </p:sp>
      <p:sp>
        <p:nvSpPr>
          <p:cNvPr id="307" name="Google Shape;307;p32"/>
          <p:cNvSpPr txBox="1"/>
          <p:nvPr/>
        </p:nvSpPr>
        <p:spPr>
          <a:xfrm>
            <a:off x="6583680" y="2468880"/>
            <a:ext cx="2148611"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200"/>
              <a:buFont typeface="Calibri"/>
              <a:buNone/>
            </a:pPr>
            <a:r>
              <a:rPr b="1" i="0" lang="en-GB" sz="1200" u="none" cap="none" strike="noStrike">
                <a:solidFill>
                  <a:srgbClr val="27348B"/>
                </a:solidFill>
                <a:latin typeface="Calibri"/>
                <a:ea typeface="Calibri"/>
                <a:cs typeface="Calibri"/>
                <a:sym typeface="Calibri"/>
              </a:rPr>
              <a:t>Selection</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200"/>
              <a:buFont typeface="Calibri"/>
              <a:buNone/>
            </a:pPr>
            <a:r>
              <a:rPr b="0" i="0" lang="en-GB" sz="1200" u="none" cap="none" strike="noStrike">
                <a:solidFill>
                  <a:srgbClr val="1B1F2A"/>
                </a:solidFill>
                <a:latin typeface="Calibri"/>
                <a:ea typeface="Calibri"/>
                <a:cs typeface="Calibri"/>
                <a:sym typeface="Calibri"/>
              </a:rPr>
              <a:t>Retrieve broadly, then filter as a set</a:t>
            </a:r>
            <a:endParaRPr b="0" i="0" sz="1200" u="none" cap="none" strike="noStrike">
              <a:solidFill>
                <a:schemeClr val="dk1"/>
              </a:solidFill>
              <a:latin typeface="Calibri"/>
              <a:ea typeface="Calibri"/>
              <a:cs typeface="Calibri"/>
              <a:sym typeface="Calibri"/>
            </a:endParaRPr>
          </a:p>
        </p:txBody>
      </p:sp>
      <p:sp>
        <p:nvSpPr>
          <p:cNvPr id="308" name="Google Shape;308;p32"/>
          <p:cNvSpPr txBox="1"/>
          <p:nvPr/>
        </p:nvSpPr>
        <p:spPr>
          <a:xfrm>
            <a:off x="6583680" y="3463290"/>
            <a:ext cx="2148611"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200"/>
              <a:buFont typeface="Calibri"/>
              <a:buNone/>
            </a:pPr>
            <a:r>
              <a:rPr b="1" i="0" lang="en-GB" sz="1200" u="none" cap="none" strike="noStrike">
                <a:solidFill>
                  <a:srgbClr val="27348B"/>
                </a:solidFill>
                <a:latin typeface="Calibri"/>
                <a:ea typeface="Calibri"/>
                <a:cs typeface="Calibri"/>
                <a:sym typeface="Calibri"/>
              </a:rPr>
              <a:t>Reasoning</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200"/>
              <a:buFont typeface="Calibri"/>
              <a:buNone/>
            </a:pPr>
            <a:r>
              <a:rPr b="0" i="0" lang="en-GB" sz="1200" u="none" cap="none" strike="noStrike">
                <a:solidFill>
                  <a:srgbClr val="1B1F2A"/>
                </a:solidFill>
                <a:latin typeface="Calibri"/>
                <a:ea typeface="Calibri"/>
                <a:cs typeface="Calibri"/>
                <a:sym typeface="Calibri"/>
              </a:rPr>
              <a:t>Reason before refusing; match model size to the task</a:t>
            </a:r>
            <a:endParaRPr b="0" i="0" sz="1200" u="none" cap="none" strike="noStrike">
              <a:solidFill>
                <a:schemeClr val="dk1"/>
              </a:solidFill>
              <a:latin typeface="Calibri"/>
              <a:ea typeface="Calibri"/>
              <a:cs typeface="Calibri"/>
              <a:sym typeface="Calibri"/>
            </a:endParaRPr>
          </a:p>
        </p:txBody>
      </p:sp>
      <p:sp>
        <p:nvSpPr>
          <p:cNvPr id="309" name="Google Shape;309;p3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Findings to a Simple Method</a:t>
            </a:r>
            <a:endParaRPr sz="2300"/>
          </a:p>
        </p:txBody>
      </p:sp>
      <p:sp>
        <p:nvSpPr>
          <p:cNvPr id="316" name="Google Shape;316;p3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4 · Method &amp; conclusion</a:t>
            </a:r>
            <a:endParaRPr b="0" i="0" sz="900" u="none" cap="none" strike="noStrike">
              <a:solidFill>
                <a:schemeClr val="dk1"/>
              </a:solidFill>
              <a:latin typeface="Calibri"/>
              <a:ea typeface="Calibri"/>
              <a:cs typeface="Calibri"/>
              <a:sym typeface="Calibri"/>
            </a:endParaRPr>
          </a:p>
        </p:txBody>
      </p:sp>
      <p:sp>
        <p:nvSpPr>
          <p:cNvPr id="317" name="Google Shape;317;p3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One model, three roles, each grounded in a finding.</a:t>
            </a:r>
            <a:endParaRPr b="0" i="0" sz="1400" u="none" cap="none" strike="noStrike">
              <a:solidFill>
                <a:schemeClr val="dk1"/>
              </a:solidFill>
              <a:latin typeface="Calibri"/>
              <a:ea typeface="Calibri"/>
              <a:cs typeface="Calibri"/>
              <a:sym typeface="Calibri"/>
            </a:endParaRPr>
          </a:p>
        </p:txBody>
      </p:sp>
      <p:pic>
        <p:nvPicPr>
          <p:cNvPr descr="Reader, synthesizer and arbiter" id="318" name="Google Shape;318;p33"/>
          <p:cNvPicPr preferRelativeResize="0"/>
          <p:nvPr/>
        </p:nvPicPr>
        <p:blipFill rotWithShape="1">
          <a:blip r:embed="rId3">
            <a:alphaModFix/>
          </a:blip>
          <a:srcRect b="0" l="0" r="0" t="0"/>
          <a:stretch/>
        </p:blipFill>
        <p:spPr>
          <a:xfrm>
            <a:off x="822960" y="1131570"/>
            <a:ext cx="7497851" cy="2276921"/>
          </a:xfrm>
          <a:prstGeom prst="rect">
            <a:avLst/>
          </a:prstGeom>
          <a:noFill/>
          <a:ln>
            <a:noFill/>
          </a:ln>
        </p:spPr>
      </p:pic>
      <p:sp>
        <p:nvSpPr>
          <p:cNvPr id="319" name="Google Shape;319;p33"/>
          <p:cNvSpPr txBox="1"/>
          <p:nvPr/>
        </p:nvSpPr>
        <p:spPr>
          <a:xfrm>
            <a:off x="411480" y="3669030"/>
            <a:ext cx="2545004"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Representation</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Reader sees every page as text + image</a:t>
            </a:r>
            <a:endParaRPr b="0" i="0" sz="1400" u="none" cap="none" strike="noStrike">
              <a:solidFill>
                <a:schemeClr val="dk1"/>
              </a:solidFill>
              <a:latin typeface="Calibri"/>
              <a:ea typeface="Calibri"/>
              <a:cs typeface="Calibri"/>
              <a:sym typeface="Calibri"/>
            </a:endParaRPr>
          </a:p>
        </p:txBody>
      </p:sp>
      <p:sp>
        <p:nvSpPr>
          <p:cNvPr id="320" name="Google Shape;320;p33"/>
          <p:cNvSpPr txBox="1"/>
          <p:nvPr/>
        </p:nvSpPr>
        <p:spPr>
          <a:xfrm>
            <a:off x="3299384" y="3669030"/>
            <a:ext cx="2545003"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Selection</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Read broadly, pass on compact records</a:t>
            </a:r>
            <a:endParaRPr b="0" i="0" sz="1400" u="none" cap="none" strike="noStrike">
              <a:solidFill>
                <a:schemeClr val="dk1"/>
              </a:solidFill>
              <a:latin typeface="Calibri"/>
              <a:ea typeface="Calibri"/>
              <a:cs typeface="Calibri"/>
              <a:sym typeface="Calibri"/>
            </a:endParaRPr>
          </a:p>
        </p:txBody>
      </p:sp>
      <p:sp>
        <p:nvSpPr>
          <p:cNvPr id="321" name="Google Shape;321;p33"/>
          <p:cNvSpPr txBox="1"/>
          <p:nvPr/>
        </p:nvSpPr>
        <p:spPr>
          <a:xfrm>
            <a:off x="6187288" y="3669030"/>
            <a:ext cx="2545004"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1400"/>
              <a:buFont typeface="Calibri"/>
              <a:buNone/>
            </a:pPr>
            <a:r>
              <a:rPr b="1" i="0" lang="en-GB" sz="1400" u="none" cap="none" strike="noStrike">
                <a:solidFill>
                  <a:srgbClr val="27348B"/>
                </a:solidFill>
                <a:latin typeface="Calibri"/>
                <a:ea typeface="Calibri"/>
                <a:cs typeface="Calibri"/>
                <a:sym typeface="Calibri"/>
              </a:rPr>
              <a:t>Reasoning</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A separate arbiter judges sufficiency</a:t>
            </a:r>
            <a:endParaRPr b="0" i="0" sz="1400" u="none" cap="none" strike="noStrike">
              <a:solidFill>
                <a:schemeClr val="dk1"/>
              </a:solidFill>
              <a:latin typeface="Calibri"/>
              <a:ea typeface="Calibri"/>
              <a:cs typeface="Calibri"/>
              <a:sym typeface="Calibri"/>
            </a:endParaRPr>
          </a:p>
        </p:txBody>
      </p:sp>
      <p:sp>
        <p:nvSpPr>
          <p:cNvPr id="322" name="Google Shape;322;p3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Simple Method: Results</a:t>
            </a:r>
            <a:endParaRPr sz="2300"/>
          </a:p>
        </p:txBody>
      </p:sp>
      <p:sp>
        <p:nvSpPr>
          <p:cNvPr id="329" name="Google Shape;329;p3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4 · Method &amp; conclusion</a:t>
            </a:r>
            <a:endParaRPr b="0" i="0" sz="900" u="none" cap="none" strike="noStrike">
              <a:solidFill>
                <a:schemeClr val="dk1"/>
              </a:solidFill>
              <a:latin typeface="Calibri"/>
              <a:ea typeface="Calibri"/>
              <a:cs typeface="Calibri"/>
              <a:sym typeface="Calibri"/>
            </a:endParaRPr>
          </a:p>
        </p:txBody>
      </p:sp>
      <p:sp>
        <p:nvSpPr>
          <p:cNvPr id="330" name="Google Shape;330;p3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Best among Qwen3-VL-8B systems, </a:t>
            </a:r>
            <a:r>
              <a:rPr b="1" i="0" lang="en-GB" sz="1400" u="none" cap="none" strike="noStrike">
                <a:solidFill>
                  <a:srgbClr val="27348B"/>
                </a:solidFill>
                <a:latin typeface="Calibri"/>
                <a:ea typeface="Calibri"/>
                <a:cs typeface="Calibri"/>
                <a:sym typeface="Calibri"/>
              </a:rPr>
              <a:t>training-free</a:t>
            </a:r>
            <a:r>
              <a:rPr b="0" i="0" lang="en-GB" sz="1400" u="none" cap="none" strike="noStrike">
                <a:solidFill>
                  <a:srgbClr val="1B1F2A"/>
                </a:solidFill>
                <a:latin typeface="Calibri"/>
                <a:ea typeface="Calibri"/>
                <a:cs typeface="Calibri"/>
                <a:sym typeface="Calibri"/>
              </a:rPr>
              <a:t> and at 4-bit.</a:t>
            </a:r>
            <a:endParaRPr b="0" i="0" sz="1400" u="none" cap="none" strike="noStrike">
              <a:solidFill>
                <a:schemeClr val="dk1"/>
              </a:solidFill>
              <a:latin typeface="Calibri"/>
              <a:ea typeface="Calibri"/>
              <a:cs typeface="Calibri"/>
              <a:sym typeface="Calibri"/>
            </a:endParaRPr>
          </a:p>
        </p:txBody>
      </p:sp>
      <p:pic>
        <p:nvPicPr>
          <p:cNvPr descr="Method results table" id="331" name="Google Shape;331;p34"/>
          <p:cNvPicPr preferRelativeResize="0"/>
          <p:nvPr/>
        </p:nvPicPr>
        <p:blipFill rotWithShape="1">
          <a:blip r:embed="rId3">
            <a:alphaModFix/>
          </a:blip>
          <a:srcRect b="0" l="0" r="0" t="0"/>
          <a:stretch/>
        </p:blipFill>
        <p:spPr>
          <a:xfrm>
            <a:off x="411480" y="1131570"/>
            <a:ext cx="8320811" cy="2661220"/>
          </a:xfrm>
          <a:prstGeom prst="rect">
            <a:avLst/>
          </a:prstGeom>
          <a:noFill/>
          <a:ln>
            <a:noFill/>
          </a:ln>
        </p:spPr>
      </p:pic>
      <p:sp>
        <p:nvSpPr>
          <p:cNvPr id="332" name="Google Shape;332;p34"/>
          <p:cNvSpPr txBox="1"/>
          <p:nvPr/>
        </p:nvSpPr>
        <p:spPr>
          <a:xfrm>
            <a:off x="411480" y="3943350"/>
            <a:ext cx="8320811"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1" i="0" lang="en-GB" sz="1400" u="none" cap="none" strike="noStrike">
                <a:solidFill>
                  <a:srgbClr val="1B1F2A"/>
                </a:solidFill>
                <a:latin typeface="Calibri"/>
                <a:ea typeface="Calibri"/>
                <a:cs typeface="Calibri"/>
                <a:sym typeface="Calibri"/>
              </a:rPr>
              <a:t>56.5%</a:t>
            </a:r>
            <a:r>
              <a:rPr b="0" i="0" lang="en-GB" sz="1400" u="none" cap="none" strike="noStrike">
                <a:solidFill>
                  <a:srgbClr val="1B1F2A"/>
                </a:solidFill>
                <a:latin typeface="Calibri"/>
                <a:ea typeface="Calibri"/>
                <a:cs typeface="Calibri"/>
                <a:sym typeface="Calibri"/>
              </a:rPr>
              <a:t> MMLongBench-Doc  ·  </a:t>
            </a:r>
            <a:r>
              <a:rPr b="1" i="0" lang="en-GB" sz="1400" u="none" cap="none" strike="noStrike">
                <a:solidFill>
                  <a:srgbClr val="1B1F2A"/>
                </a:solidFill>
                <a:latin typeface="Calibri"/>
                <a:ea typeface="Calibri"/>
                <a:cs typeface="Calibri"/>
                <a:sym typeface="Calibri"/>
              </a:rPr>
              <a:t>61.3%</a:t>
            </a:r>
            <a:r>
              <a:rPr b="0" i="0" lang="en-GB" sz="1400" u="none" cap="none" strike="noStrike">
                <a:solidFill>
                  <a:srgbClr val="1B1F2A"/>
                </a:solidFill>
                <a:latin typeface="Calibri"/>
                <a:ea typeface="Calibri"/>
                <a:cs typeface="Calibri"/>
                <a:sym typeface="Calibri"/>
              </a:rPr>
              <a:t> LongDocURL</a:t>
            </a:r>
            <a:endParaRPr b="0" i="0" sz="1400" u="none" cap="none" strike="noStrike">
              <a:solidFill>
                <a:schemeClr val="dk1"/>
              </a:solidFill>
              <a:latin typeface="Calibri"/>
              <a:ea typeface="Calibri"/>
              <a:cs typeface="Calibri"/>
              <a:sym typeface="Calibri"/>
            </a:endParaRPr>
          </a:p>
          <a:p>
            <a:pPr indent="-177800" lvl="0" marL="177800" marR="0" rtl="0" algn="l">
              <a:spcBef>
                <a:spcPts val="300"/>
              </a:spcBef>
              <a:spcAft>
                <a:spcPts val="0"/>
              </a:spcAft>
              <a:buClr>
                <a:srgbClr val="1B1F2A"/>
              </a:buClr>
              <a:buSzPts val="1400"/>
              <a:buFont typeface="Calibri"/>
              <a:buChar char="•"/>
            </a:pPr>
            <a:r>
              <a:rPr b="0" i="0" lang="en-GB" sz="1400" u="none" cap="none" strike="noStrike">
                <a:solidFill>
                  <a:srgbClr val="1B1F2A"/>
                </a:solidFill>
                <a:latin typeface="Calibri"/>
                <a:ea typeface="Calibri"/>
                <a:cs typeface="Calibri"/>
                <a:sym typeface="Calibri"/>
              </a:rPr>
              <a:t>Trade-off: ~10.8 min per question; multi-page still trails DocTrace (39.2 vs 41.1)</a:t>
            </a:r>
            <a:endParaRPr b="0" i="0" sz="1400" u="none" cap="none" strike="noStrike">
              <a:solidFill>
                <a:schemeClr val="dk1"/>
              </a:solidFill>
              <a:latin typeface="Calibri"/>
              <a:ea typeface="Calibri"/>
              <a:cs typeface="Calibri"/>
              <a:sym typeface="Calibri"/>
            </a:endParaRPr>
          </a:p>
        </p:txBody>
      </p:sp>
      <p:sp>
        <p:nvSpPr>
          <p:cNvPr id="333" name="Google Shape;333;p3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Conclusion</a:t>
            </a:r>
            <a:endParaRPr sz="2300"/>
          </a:p>
        </p:txBody>
      </p:sp>
      <p:sp>
        <p:nvSpPr>
          <p:cNvPr id="340" name="Google Shape;340;p3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Chapter 4 · Method &amp; conclusion</a:t>
            </a:r>
            <a:endParaRPr b="0" i="0" sz="900" u="none" cap="none" strike="noStrike">
              <a:solidFill>
                <a:schemeClr val="dk1"/>
              </a:solidFill>
              <a:latin typeface="Calibri"/>
              <a:ea typeface="Calibri"/>
              <a:cs typeface="Calibri"/>
              <a:sym typeface="Calibri"/>
            </a:endParaRPr>
          </a:p>
        </p:txBody>
      </p:sp>
      <p:sp>
        <p:nvSpPr>
          <p:cNvPr id="341" name="Google Shape;341;p35"/>
          <p:cNvSpPr txBox="1"/>
          <p:nvPr/>
        </p:nvSpPr>
        <p:spPr>
          <a:xfrm>
            <a:off x="411480" y="925830"/>
            <a:ext cx="685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1B650"/>
              </a:buClr>
              <a:buSzPts val="1800"/>
              <a:buFont typeface="Calibri"/>
              <a:buNone/>
            </a:pPr>
            <a:r>
              <a:rPr b="1" i="0" lang="en-GB" sz="1800" u="none" cap="none" strike="noStrike">
                <a:solidFill>
                  <a:srgbClr val="E1B650"/>
                </a:solidFill>
                <a:latin typeface="Calibri"/>
                <a:ea typeface="Calibri"/>
                <a:cs typeface="Calibri"/>
                <a:sym typeface="Calibri"/>
              </a:rPr>
              <a:t>RQ1</a:t>
            </a:r>
            <a:endParaRPr b="0" i="0" sz="1800" u="none" cap="none" strike="noStrike">
              <a:solidFill>
                <a:schemeClr val="dk1"/>
              </a:solidFill>
              <a:latin typeface="Calibri"/>
              <a:ea typeface="Calibri"/>
              <a:cs typeface="Calibri"/>
              <a:sym typeface="Calibri"/>
            </a:endParaRPr>
          </a:p>
        </p:txBody>
      </p:sp>
      <p:sp>
        <p:nvSpPr>
          <p:cNvPr id="342" name="Google Shape;342;p35"/>
          <p:cNvSpPr txBox="1"/>
          <p:nvPr/>
        </p:nvSpPr>
        <p:spPr>
          <a:xfrm>
            <a:off x="1165860" y="953262"/>
            <a:ext cx="7566431"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Multi-page understanding is </a:t>
            </a:r>
            <a:r>
              <a:rPr b="1" i="0" lang="en-GB" sz="1500" u="none" cap="none" strike="noStrike">
                <a:solidFill>
                  <a:schemeClr val="accent2"/>
                </a:solidFill>
                <a:latin typeface="Calibri"/>
                <a:ea typeface="Calibri"/>
                <a:cs typeface="Calibri"/>
                <a:sym typeface="Calibri"/>
              </a:rPr>
              <a:t>evidence management</a:t>
            </a:r>
            <a:r>
              <a:rPr b="0" i="0" lang="en-GB" sz="1500" u="none" cap="none" strike="noStrike">
                <a:solidFill>
                  <a:schemeClr val="accent2"/>
                </a:solidFill>
                <a:latin typeface="Calibri"/>
                <a:ea typeface="Calibri"/>
                <a:cs typeface="Calibri"/>
                <a:sym typeface="Calibri"/>
              </a:rPr>
              <a:t>,</a:t>
            </a:r>
            <a:r>
              <a:rPr b="0" i="0" lang="en-GB" sz="1500" u="none" cap="none" strike="noStrike">
                <a:solidFill>
                  <a:srgbClr val="1B1F2A"/>
                </a:solidFill>
                <a:latin typeface="Calibri"/>
                <a:ea typeface="Calibri"/>
                <a:cs typeface="Calibri"/>
                <a:sym typeface="Calibri"/>
              </a:rPr>
              <a:t> in four families</a:t>
            </a:r>
            <a:r>
              <a:rPr b="0" i="0" lang="en-GB" sz="1500" u="none" cap="none" strike="noStrike">
                <a:solidFill>
                  <a:srgbClr val="5A6072"/>
                </a:solidFill>
                <a:latin typeface="Calibri"/>
                <a:ea typeface="Calibri"/>
                <a:cs typeface="Calibri"/>
                <a:sym typeface="Calibri"/>
              </a:rPr>
              <a:t>   EMNLP 2026 Main</a:t>
            </a:r>
            <a:endParaRPr b="0" i="0" sz="1500" u="none" cap="none" strike="noStrike">
              <a:solidFill>
                <a:schemeClr val="dk1"/>
              </a:solidFill>
              <a:latin typeface="Calibri"/>
              <a:ea typeface="Calibri"/>
              <a:cs typeface="Calibri"/>
              <a:sym typeface="Calibri"/>
            </a:endParaRPr>
          </a:p>
        </p:txBody>
      </p:sp>
      <p:sp>
        <p:nvSpPr>
          <p:cNvPr id="343" name="Google Shape;343;p35"/>
          <p:cNvSpPr txBox="1"/>
          <p:nvPr/>
        </p:nvSpPr>
        <p:spPr>
          <a:xfrm>
            <a:off x="411480" y="1577340"/>
            <a:ext cx="685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1B650"/>
              </a:buClr>
              <a:buSzPts val="1800"/>
              <a:buFont typeface="Calibri"/>
              <a:buNone/>
            </a:pPr>
            <a:r>
              <a:rPr b="1" i="0" lang="en-GB" sz="1800" u="none" cap="none" strike="noStrike">
                <a:solidFill>
                  <a:srgbClr val="E1B650"/>
                </a:solidFill>
                <a:latin typeface="Calibri"/>
                <a:ea typeface="Calibri"/>
                <a:cs typeface="Calibri"/>
                <a:sym typeface="Calibri"/>
              </a:rPr>
              <a:t>RQ2</a:t>
            </a:r>
            <a:endParaRPr b="0" i="0" sz="1800" u="none" cap="none" strike="noStrike">
              <a:solidFill>
                <a:schemeClr val="dk1"/>
              </a:solidFill>
              <a:latin typeface="Calibri"/>
              <a:ea typeface="Calibri"/>
              <a:cs typeface="Calibri"/>
              <a:sym typeface="Calibri"/>
            </a:endParaRPr>
          </a:p>
        </p:txBody>
      </p:sp>
      <p:sp>
        <p:nvSpPr>
          <p:cNvPr id="344" name="Google Shape;344;p35"/>
          <p:cNvSpPr txBox="1"/>
          <p:nvPr/>
        </p:nvSpPr>
        <p:spPr>
          <a:xfrm>
            <a:off x="1165860" y="1604772"/>
            <a:ext cx="7566431"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Failures sit at </a:t>
            </a:r>
            <a:r>
              <a:rPr b="1" i="0" lang="en-GB" sz="1500" u="none" cap="none" strike="noStrike">
                <a:solidFill>
                  <a:schemeClr val="accent2"/>
                </a:solidFill>
                <a:latin typeface="Calibri"/>
                <a:ea typeface="Calibri"/>
                <a:cs typeface="Calibri"/>
                <a:sym typeface="Calibri"/>
              </a:rPr>
              <a:t>representation, selection or reasoning</a:t>
            </a:r>
            <a:r>
              <a:rPr b="0" i="0" lang="en-GB" sz="1500" u="none" cap="none" strike="noStrike">
                <a:solidFill>
                  <a:schemeClr val="accent2"/>
                </a:solidFill>
                <a:latin typeface="Calibri"/>
                <a:ea typeface="Calibri"/>
                <a:cs typeface="Calibri"/>
                <a:sym typeface="Calibri"/>
              </a:rPr>
              <a:t>,</a:t>
            </a:r>
            <a:r>
              <a:rPr b="0" i="0" lang="en-GB" sz="1500" u="none" cap="none" strike="noStrike">
                <a:solidFill>
                  <a:srgbClr val="1B1F2A"/>
                </a:solidFill>
                <a:latin typeface="Calibri"/>
                <a:ea typeface="Calibri"/>
                <a:cs typeface="Calibri"/>
                <a:sym typeface="Calibri"/>
              </a:rPr>
              <a:t> each with its own fix</a:t>
            </a:r>
            <a:r>
              <a:rPr b="0" i="0" lang="en-GB" sz="1500" u="none" cap="none" strike="noStrike">
                <a:solidFill>
                  <a:srgbClr val="5A6072"/>
                </a:solidFill>
                <a:latin typeface="Calibri"/>
                <a:ea typeface="Calibri"/>
                <a:cs typeface="Calibri"/>
                <a:sym typeface="Calibri"/>
              </a:rPr>
              <a:t>   Under review</a:t>
            </a:r>
            <a:endParaRPr b="0" i="0" sz="1500" u="none" cap="none" strike="noStrike">
              <a:solidFill>
                <a:schemeClr val="dk1"/>
              </a:solidFill>
              <a:latin typeface="Calibri"/>
              <a:ea typeface="Calibri"/>
              <a:cs typeface="Calibri"/>
              <a:sym typeface="Calibri"/>
            </a:endParaRPr>
          </a:p>
        </p:txBody>
      </p:sp>
      <p:sp>
        <p:nvSpPr>
          <p:cNvPr id="345" name="Google Shape;345;p35"/>
          <p:cNvSpPr txBox="1"/>
          <p:nvPr/>
        </p:nvSpPr>
        <p:spPr>
          <a:xfrm>
            <a:off x="411480" y="2228850"/>
            <a:ext cx="685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1B650"/>
              </a:buClr>
              <a:buSzPts val="1800"/>
              <a:buFont typeface="Calibri"/>
              <a:buNone/>
            </a:pPr>
            <a:r>
              <a:rPr b="1" i="0" lang="en-GB" sz="1800" u="none" cap="none" strike="noStrike">
                <a:solidFill>
                  <a:srgbClr val="E1B650"/>
                </a:solidFill>
                <a:latin typeface="Calibri"/>
                <a:ea typeface="Calibri"/>
                <a:cs typeface="Calibri"/>
                <a:sym typeface="Calibri"/>
              </a:rPr>
              <a:t>RQ3</a:t>
            </a:r>
            <a:endParaRPr b="0" i="0" sz="1800" u="none" cap="none" strike="noStrike">
              <a:solidFill>
                <a:schemeClr val="dk1"/>
              </a:solidFill>
              <a:latin typeface="Calibri"/>
              <a:ea typeface="Calibri"/>
              <a:cs typeface="Calibri"/>
              <a:sym typeface="Calibri"/>
            </a:endParaRPr>
          </a:p>
        </p:txBody>
      </p:sp>
      <p:sp>
        <p:nvSpPr>
          <p:cNvPr id="346" name="Google Shape;346;p35"/>
          <p:cNvSpPr txBox="1"/>
          <p:nvPr/>
        </p:nvSpPr>
        <p:spPr>
          <a:xfrm>
            <a:off x="1165860" y="2256282"/>
            <a:ext cx="7566431"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500"/>
              <a:buFont typeface="Calibri"/>
              <a:buNone/>
            </a:pPr>
            <a:r>
              <a:rPr b="0" i="0" lang="en-GB" sz="1500" u="none" cap="none" strike="noStrike">
                <a:solidFill>
                  <a:srgbClr val="1B1F2A"/>
                </a:solidFill>
                <a:latin typeface="Calibri"/>
                <a:ea typeface="Calibri"/>
                <a:cs typeface="Calibri"/>
                <a:sym typeface="Calibri"/>
              </a:rPr>
              <a:t>A </a:t>
            </a:r>
            <a:r>
              <a:rPr b="1" i="0" lang="en-GB" sz="1500" u="none" cap="none" strike="noStrike">
                <a:solidFill>
                  <a:schemeClr val="accent2"/>
                </a:solidFill>
                <a:latin typeface="Calibri"/>
                <a:ea typeface="Calibri"/>
                <a:cs typeface="Calibri"/>
                <a:sym typeface="Calibri"/>
              </a:rPr>
              <a:t>training-free</a:t>
            </a:r>
            <a:r>
              <a:rPr b="0" i="0" lang="en-GB" sz="1500" u="none" cap="none" strike="noStrike">
                <a:solidFill>
                  <a:srgbClr val="1B1F2A"/>
                </a:solidFill>
                <a:latin typeface="Calibri"/>
                <a:ea typeface="Calibri"/>
                <a:cs typeface="Calibri"/>
                <a:sym typeface="Calibri"/>
              </a:rPr>
              <a:t> system built on these findings is competitive under a fixed budget</a:t>
            </a:r>
            <a:endParaRPr b="0" i="0" sz="1500" u="none" cap="none" strike="noStrike">
              <a:solidFill>
                <a:schemeClr val="dk1"/>
              </a:solidFill>
              <a:latin typeface="Calibri"/>
              <a:ea typeface="Calibri"/>
              <a:cs typeface="Calibri"/>
              <a:sym typeface="Calibri"/>
            </a:endParaRPr>
          </a:p>
        </p:txBody>
      </p:sp>
      <p:sp>
        <p:nvSpPr>
          <p:cNvPr id="347" name="Google Shape;347;p35"/>
          <p:cNvSpPr txBox="1"/>
          <p:nvPr/>
        </p:nvSpPr>
        <p:spPr>
          <a:xfrm>
            <a:off x="411480" y="2948940"/>
            <a:ext cx="8320811"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1" i="0" lang="en-GB" sz="1400" u="none" cap="none" strike="noStrike">
                <a:solidFill>
                  <a:srgbClr val="1B1F2A"/>
                </a:solidFill>
                <a:latin typeface="Calibri"/>
                <a:ea typeface="Calibri"/>
                <a:cs typeface="Calibri"/>
                <a:sym typeface="Calibri"/>
              </a:rPr>
              <a:t>Future work: </a:t>
            </a:r>
            <a:r>
              <a:rPr b="0" i="0" lang="en-GB" sz="1400" u="none" cap="none" strike="noStrike">
                <a:solidFill>
                  <a:srgbClr val="5A6072"/>
                </a:solidFill>
                <a:latin typeface="Calibri"/>
                <a:ea typeface="Calibri"/>
                <a:cs typeface="Calibri"/>
                <a:sym typeface="Calibri"/>
              </a:rPr>
              <a:t>structure-aware retrieval · calibrated abstention · cost as a first-class metric</a:t>
            </a:r>
            <a:endParaRPr b="0" i="0" sz="1400" u="none" cap="none" strike="noStrike">
              <a:solidFill>
                <a:schemeClr val="dk1"/>
              </a:solidFill>
              <a:latin typeface="Calibri"/>
              <a:ea typeface="Calibri"/>
              <a:cs typeface="Calibri"/>
              <a:sym typeface="Calibri"/>
            </a:endParaRPr>
          </a:p>
        </p:txBody>
      </p:sp>
      <p:cxnSp>
        <p:nvCxnSpPr>
          <p:cNvPr id="348" name="Google Shape;348;p35"/>
          <p:cNvCxnSpPr/>
          <p:nvPr/>
        </p:nvCxnSpPr>
        <p:spPr>
          <a:xfrm>
            <a:off x="411480" y="3463290"/>
            <a:ext cx="8320811" cy="0"/>
          </a:xfrm>
          <a:prstGeom prst="straightConnector1">
            <a:avLst/>
          </a:prstGeom>
          <a:noFill/>
          <a:ln cap="flat" cmpd="sng" w="12700">
            <a:solidFill>
              <a:srgbClr val="C9CDD9"/>
            </a:solidFill>
            <a:prstDash val="solid"/>
            <a:round/>
            <a:headEnd len="sm" w="sm" type="none"/>
            <a:tailEnd len="sm" w="sm" type="none"/>
          </a:ln>
        </p:spPr>
      </p:cxnSp>
      <p:sp>
        <p:nvSpPr>
          <p:cNvPr id="349" name="Google Shape;349;p35"/>
          <p:cNvSpPr txBox="1"/>
          <p:nvPr/>
        </p:nvSpPr>
        <p:spPr>
          <a:xfrm>
            <a:off x="411480" y="3634740"/>
            <a:ext cx="54864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7348B"/>
              </a:buClr>
              <a:buSzPts val="3000"/>
              <a:buFont typeface="Calibri"/>
              <a:buNone/>
            </a:pPr>
            <a:r>
              <a:rPr b="1" i="0" lang="en-GB" sz="3000" u="none" cap="none" strike="noStrike">
                <a:solidFill>
                  <a:srgbClr val="27348B"/>
                </a:solidFill>
                <a:latin typeface="Calibri"/>
                <a:ea typeface="Calibri"/>
                <a:cs typeface="Calibri"/>
                <a:sym typeface="Calibri"/>
              </a:rPr>
              <a:t>Thank you  ·  Questions?</a:t>
            </a:r>
            <a:endParaRPr b="0" i="0" sz="3000" u="none" cap="none" strike="noStrike">
              <a:solidFill>
                <a:schemeClr val="dk1"/>
              </a:solidFill>
              <a:latin typeface="Calibri"/>
              <a:ea typeface="Calibri"/>
              <a:cs typeface="Calibri"/>
              <a:sym typeface="Calibri"/>
            </a:endParaRPr>
          </a:p>
        </p:txBody>
      </p:sp>
      <p:pic>
        <p:nvPicPr>
          <p:cNvPr descr="emnlp2026_logo.png" id="350" name="Google Shape;350;p35"/>
          <p:cNvPicPr preferRelativeResize="0"/>
          <p:nvPr/>
        </p:nvPicPr>
        <p:blipFill rotWithShape="1">
          <a:blip r:embed="rId3">
            <a:alphaModFix/>
          </a:blip>
          <a:srcRect b="0" l="0" r="0" t="0"/>
          <a:stretch/>
        </p:blipFill>
        <p:spPr>
          <a:xfrm>
            <a:off x="6949211" y="3753760"/>
            <a:ext cx="1783080" cy="310600"/>
          </a:xfrm>
          <a:prstGeom prst="rect">
            <a:avLst/>
          </a:prstGeom>
          <a:noFill/>
          <a:ln>
            <a:noFill/>
          </a:ln>
        </p:spPr>
      </p:pic>
      <p:sp>
        <p:nvSpPr>
          <p:cNvPr id="351" name="Google Shape;351;p3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Deployment: Accuracy and Cost</a:t>
            </a:r>
            <a:endParaRPr sz="2300"/>
          </a:p>
        </p:txBody>
      </p:sp>
      <p:sp>
        <p:nvSpPr>
          <p:cNvPr id="358" name="Google Shape;358;p3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Backup</a:t>
            </a:r>
            <a:endParaRPr b="0" i="0" sz="900" u="none" cap="none" strike="noStrike">
              <a:solidFill>
                <a:schemeClr val="dk1"/>
              </a:solidFill>
              <a:latin typeface="Calibri"/>
              <a:ea typeface="Calibri"/>
              <a:cs typeface="Calibri"/>
              <a:sym typeface="Calibri"/>
            </a:endParaRPr>
          </a:p>
        </p:txBody>
      </p:sp>
      <p:sp>
        <p:nvSpPr>
          <p:cNvPr id="359" name="Google Shape;359;p3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Every representation, retriever and reasoner choice has a cost side.</a:t>
            </a:r>
            <a:endParaRPr b="0" i="0" sz="1400" u="none" cap="none" strike="noStrike">
              <a:solidFill>
                <a:schemeClr val="dk1"/>
              </a:solidFill>
              <a:latin typeface="Calibri"/>
              <a:ea typeface="Calibri"/>
              <a:cs typeface="Calibri"/>
              <a:sym typeface="Calibri"/>
            </a:endParaRPr>
          </a:p>
        </p:txBody>
      </p:sp>
      <p:pic>
        <p:nvPicPr>
          <p:cNvPr descr="tbl_deployment.png" id="360" name="Google Shape;360;p36"/>
          <p:cNvPicPr preferRelativeResize="0"/>
          <p:nvPr/>
        </p:nvPicPr>
        <p:blipFill rotWithShape="1">
          <a:blip r:embed="rId3">
            <a:alphaModFix/>
          </a:blip>
          <a:srcRect b="0" l="0" r="0" t="0"/>
          <a:stretch/>
        </p:blipFill>
        <p:spPr>
          <a:xfrm>
            <a:off x="523105" y="1097280"/>
            <a:ext cx="3430214" cy="3531868"/>
          </a:xfrm>
          <a:prstGeom prst="rect">
            <a:avLst/>
          </a:prstGeom>
          <a:noFill/>
          <a:ln>
            <a:noFill/>
          </a:ln>
        </p:spPr>
      </p:pic>
      <p:sp>
        <p:nvSpPr>
          <p:cNvPr id="361" name="Google Shape;361;p36"/>
          <p:cNvSpPr txBox="1"/>
          <p:nvPr/>
        </p:nvSpPr>
        <p:spPr>
          <a:xfrm>
            <a:off x="4572000" y="1819775"/>
            <a:ext cx="3871800" cy="17580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rgbClr val="1B1F2A"/>
              </a:buClr>
              <a:buSzPts val="1500"/>
              <a:buFont typeface="Calibri"/>
              <a:buChar char="●"/>
            </a:pPr>
            <a:r>
              <a:rPr b="1" i="0" lang="en-GB" sz="1500" u="none" cap="none" strike="noStrike">
                <a:solidFill>
                  <a:srgbClr val="1B1F2A"/>
                </a:solidFill>
                <a:latin typeface="Calibri"/>
                <a:ea typeface="Calibri"/>
                <a:cs typeface="Calibri"/>
                <a:sym typeface="Calibri"/>
              </a:rPr>
              <a:t>Representation</a:t>
            </a:r>
            <a:r>
              <a:rPr b="0" i="0" lang="en-GB" sz="1500" u="none" cap="none" strike="noStrike">
                <a:solidFill>
                  <a:srgbClr val="1B1F2A"/>
                </a:solidFill>
                <a:latin typeface="Calibri"/>
                <a:ea typeface="Calibri"/>
                <a:cs typeface="Calibri"/>
                <a:sym typeface="Calibri"/>
              </a:rPr>
              <a:t>: text + image matches parser text + image with fewer tokens; images cost 26.3 s vs 1.8 s prefill</a:t>
            </a:r>
            <a:endParaRPr b="0" i="0" sz="1500" u="none" cap="none" strike="noStrike">
              <a:solidFill>
                <a:schemeClr val="dk1"/>
              </a:solidFill>
              <a:latin typeface="Calibri"/>
              <a:ea typeface="Calibri"/>
              <a:cs typeface="Calibri"/>
              <a:sym typeface="Calibri"/>
            </a:endParaRPr>
          </a:p>
          <a:p>
            <a:pPr indent="-323850" lvl="0" marL="457200" marR="0" rtl="0" algn="l">
              <a:spcBef>
                <a:spcPts val="1000"/>
              </a:spcBef>
              <a:spcAft>
                <a:spcPts val="0"/>
              </a:spcAft>
              <a:buClr>
                <a:srgbClr val="1B1F2A"/>
              </a:buClr>
              <a:buSzPts val="1500"/>
              <a:buFont typeface="Calibri"/>
              <a:buChar char="●"/>
            </a:pPr>
            <a:r>
              <a:rPr b="1" i="0" lang="en-GB" sz="1500" u="none" cap="none" strike="noStrike">
                <a:solidFill>
                  <a:srgbClr val="1B1F2A"/>
                </a:solidFill>
                <a:latin typeface="Calibri"/>
                <a:ea typeface="Calibri"/>
                <a:cs typeface="Calibri"/>
                <a:sym typeface="Calibri"/>
              </a:rPr>
              <a:t>Retriever</a:t>
            </a:r>
            <a:r>
              <a:rPr b="0" i="0" lang="en-GB" sz="1500" u="none" cap="none" strike="noStrike">
                <a:solidFill>
                  <a:srgbClr val="1B1F2A"/>
                </a:solidFill>
                <a:latin typeface="Calibri"/>
                <a:ea typeface="Calibri"/>
                <a:cs typeface="Calibri"/>
                <a:sym typeface="Calibri"/>
              </a:rPr>
              <a:t>: ColQwen3 R@5 81.0% vs BM25 58.1%, but needs a GPU</a:t>
            </a:r>
            <a:endParaRPr b="0" i="0" sz="1500" u="none" cap="none" strike="noStrike">
              <a:solidFill>
                <a:schemeClr val="dk1"/>
              </a:solidFill>
              <a:latin typeface="Calibri"/>
              <a:ea typeface="Calibri"/>
              <a:cs typeface="Calibri"/>
              <a:sym typeface="Calibri"/>
            </a:endParaRPr>
          </a:p>
          <a:p>
            <a:pPr indent="-323850" lvl="0" marL="457200" marR="0" rtl="0" algn="l">
              <a:spcBef>
                <a:spcPts val="1100"/>
              </a:spcBef>
              <a:spcAft>
                <a:spcPts val="1000"/>
              </a:spcAft>
              <a:buClr>
                <a:srgbClr val="1B1F2A"/>
              </a:buClr>
              <a:buSzPts val="1500"/>
              <a:buFont typeface="Calibri"/>
              <a:buChar char="●"/>
            </a:pPr>
            <a:r>
              <a:rPr b="1" i="0" lang="en-GB" sz="1500" u="none" cap="none" strike="noStrike">
                <a:solidFill>
                  <a:srgbClr val="1B1F2A"/>
                </a:solidFill>
                <a:latin typeface="Calibri"/>
                <a:ea typeface="Calibri"/>
                <a:cs typeface="Calibri"/>
                <a:sym typeface="Calibri"/>
              </a:rPr>
              <a:t>Reasoner</a:t>
            </a:r>
            <a:r>
              <a:rPr b="0" i="0" lang="en-GB" sz="1500" u="none" cap="none" strike="noStrike">
                <a:solidFill>
                  <a:srgbClr val="1B1F2A"/>
                </a:solidFill>
                <a:latin typeface="Calibri"/>
                <a:ea typeface="Calibri"/>
                <a:cs typeface="Calibri"/>
                <a:sym typeface="Calibri"/>
              </a:rPr>
              <a:t>: 4-bit saves memory, not time</a:t>
            </a:r>
            <a:endParaRPr b="0" i="0" sz="1500" u="none" cap="none" strike="noStrike">
              <a:solidFill>
                <a:schemeClr val="dk1"/>
              </a:solidFill>
              <a:latin typeface="Calibri"/>
              <a:ea typeface="Calibri"/>
              <a:cs typeface="Calibri"/>
              <a:sym typeface="Calibri"/>
            </a:endParaRPr>
          </a:p>
        </p:txBody>
      </p:sp>
      <p:sp>
        <p:nvSpPr>
          <p:cNvPr id="362" name="Google Shape;362;p3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Representative Frameworks</a:t>
            </a:r>
            <a:endParaRPr sz="2300"/>
          </a:p>
        </p:txBody>
      </p:sp>
      <p:sp>
        <p:nvSpPr>
          <p:cNvPr id="369" name="Google Shape;369;p3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072"/>
              </a:buClr>
              <a:buSzPts val="900"/>
              <a:buFont typeface="Calibri"/>
              <a:buNone/>
            </a:pPr>
            <a:r>
              <a:rPr b="0" i="0" lang="en-GB" sz="900" u="none" cap="none" strike="noStrike">
                <a:solidFill>
                  <a:srgbClr val="5A6072"/>
                </a:solidFill>
                <a:latin typeface="Calibri"/>
                <a:ea typeface="Calibri"/>
                <a:cs typeface="Calibri"/>
                <a:sym typeface="Calibri"/>
              </a:rPr>
              <a:t>Backup</a:t>
            </a:r>
            <a:endParaRPr b="0" i="0" sz="900" u="none" cap="none" strike="noStrike">
              <a:solidFill>
                <a:schemeClr val="dk1"/>
              </a:solidFill>
              <a:latin typeface="Calibri"/>
              <a:ea typeface="Calibri"/>
              <a:cs typeface="Calibri"/>
              <a:sym typeface="Calibri"/>
            </a:endParaRPr>
          </a:p>
        </p:txBody>
      </p:sp>
      <p:sp>
        <p:nvSpPr>
          <p:cNvPr id="370" name="Google Shape;370;p3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F2A"/>
              </a:buClr>
              <a:buSzPts val="1400"/>
              <a:buFont typeface="Calibri"/>
              <a:buNone/>
            </a:pPr>
            <a:r>
              <a:rPr b="0" i="0" lang="en-GB" sz="1400" u="none" cap="none" strike="noStrike">
                <a:solidFill>
                  <a:srgbClr val="1B1F2A"/>
                </a:solidFill>
                <a:latin typeface="Calibri"/>
                <a:ea typeface="Calibri"/>
                <a:cs typeface="Calibri"/>
                <a:sym typeface="Calibri"/>
              </a:rPr>
              <a:t>One representative system per architectural family.</a:t>
            </a:r>
            <a:endParaRPr b="0" i="0" sz="1400" u="none" cap="none" strike="noStrike">
              <a:solidFill>
                <a:schemeClr val="dk1"/>
              </a:solidFill>
              <a:latin typeface="Calibri"/>
              <a:ea typeface="Calibri"/>
              <a:cs typeface="Calibri"/>
              <a:sym typeface="Calibri"/>
            </a:endParaRPr>
          </a:p>
        </p:txBody>
      </p:sp>
      <p:pic>
        <p:nvPicPr>
          <p:cNvPr descr="hivt5.png" id="371" name="Google Shape;371;p37"/>
          <p:cNvPicPr preferRelativeResize="0"/>
          <p:nvPr/>
        </p:nvPicPr>
        <p:blipFill rotWithShape="1">
          <a:blip r:embed="rId3">
            <a:alphaModFix/>
          </a:blip>
          <a:srcRect b="0" l="0" r="0" t="0"/>
          <a:stretch/>
        </p:blipFill>
        <p:spPr>
          <a:xfrm>
            <a:off x="805064" y="1097280"/>
            <a:ext cx="3201789" cy="1405890"/>
          </a:xfrm>
          <a:prstGeom prst="rect">
            <a:avLst/>
          </a:prstGeom>
          <a:noFill/>
          <a:ln>
            <a:noFill/>
          </a:ln>
        </p:spPr>
      </p:pic>
      <p:sp>
        <p:nvSpPr>
          <p:cNvPr id="372" name="Google Shape;372;p37"/>
          <p:cNvSpPr txBox="1"/>
          <p:nvPr/>
        </p:nvSpPr>
        <p:spPr>
          <a:xfrm>
            <a:off x="411480" y="2537460"/>
            <a:ext cx="3988956"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7348B"/>
              </a:buClr>
              <a:buSzPts val="1000"/>
              <a:buFont typeface="Calibri"/>
              <a:buNone/>
            </a:pPr>
            <a:r>
              <a:rPr b="1" i="0" lang="en-GB" sz="1000" u="none" cap="none" strike="noStrike">
                <a:solidFill>
                  <a:srgbClr val="27348B"/>
                </a:solidFill>
                <a:latin typeface="Calibri"/>
                <a:ea typeface="Calibri"/>
                <a:cs typeface="Calibri"/>
                <a:sym typeface="Calibri"/>
              </a:rPr>
              <a:t>Hi-VT5</a:t>
            </a:r>
            <a:r>
              <a:rPr b="0" i="0" lang="en-GB" sz="1000" u="none" cap="none" strike="noStrike">
                <a:solidFill>
                  <a:srgbClr val="5A6072"/>
                </a:solidFill>
                <a:latin typeface="Calibri"/>
                <a:ea typeface="Calibri"/>
                <a:cs typeface="Calibri"/>
                <a:sym typeface="Calibri"/>
              </a:rPr>
              <a:t>  Tito et al., Pattern Recognition 2023</a:t>
            </a:r>
            <a:endParaRPr b="0" i="0" sz="1000" u="none" cap="none" strike="noStrike">
              <a:solidFill>
                <a:schemeClr val="dk1"/>
              </a:solidFill>
              <a:latin typeface="Calibri"/>
              <a:ea typeface="Calibri"/>
              <a:cs typeface="Calibri"/>
              <a:sym typeface="Calibri"/>
            </a:endParaRPr>
          </a:p>
        </p:txBody>
      </p:sp>
      <p:pic>
        <p:nvPicPr>
          <p:cNvPr descr="docslm.png" id="373" name="Google Shape;373;p37"/>
          <p:cNvPicPr preferRelativeResize="0"/>
          <p:nvPr/>
        </p:nvPicPr>
        <p:blipFill rotWithShape="1">
          <a:blip r:embed="rId4">
            <a:alphaModFix/>
          </a:blip>
          <a:srcRect b="0" l="0" r="0" t="0"/>
          <a:stretch/>
        </p:blipFill>
        <p:spPr>
          <a:xfrm>
            <a:off x="4743336" y="1097280"/>
            <a:ext cx="3988956" cy="1259444"/>
          </a:xfrm>
          <a:prstGeom prst="rect">
            <a:avLst/>
          </a:prstGeom>
          <a:noFill/>
          <a:ln>
            <a:noFill/>
          </a:ln>
        </p:spPr>
      </p:pic>
      <p:sp>
        <p:nvSpPr>
          <p:cNvPr id="374" name="Google Shape;374;p37"/>
          <p:cNvSpPr txBox="1"/>
          <p:nvPr/>
        </p:nvSpPr>
        <p:spPr>
          <a:xfrm>
            <a:off x="4743336" y="2537460"/>
            <a:ext cx="3988956"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7348B"/>
              </a:buClr>
              <a:buSzPts val="1000"/>
              <a:buFont typeface="Calibri"/>
              <a:buNone/>
            </a:pPr>
            <a:r>
              <a:rPr b="1" i="0" lang="en-GB" sz="1000" u="none" cap="none" strike="noStrike">
                <a:solidFill>
                  <a:srgbClr val="27348B"/>
                </a:solidFill>
                <a:latin typeface="Calibri"/>
                <a:ea typeface="Calibri"/>
                <a:cs typeface="Calibri"/>
                <a:sym typeface="Calibri"/>
              </a:rPr>
              <a:t>DocSLM</a:t>
            </a:r>
            <a:r>
              <a:rPr b="0" i="0" lang="en-GB" sz="1000" u="none" cap="none" strike="noStrike">
                <a:solidFill>
                  <a:srgbClr val="5A6072"/>
                </a:solidFill>
                <a:latin typeface="Calibri"/>
                <a:ea typeface="Calibri"/>
                <a:cs typeface="Calibri"/>
                <a:sym typeface="Calibri"/>
              </a:rPr>
              <a:t>  Hannan et al., CVPR 2026 Findings</a:t>
            </a:r>
            <a:endParaRPr b="0" i="0" sz="1000" u="none" cap="none" strike="noStrike">
              <a:solidFill>
                <a:schemeClr val="dk1"/>
              </a:solidFill>
              <a:latin typeface="Calibri"/>
              <a:ea typeface="Calibri"/>
              <a:cs typeface="Calibri"/>
              <a:sym typeface="Calibri"/>
            </a:endParaRPr>
          </a:p>
        </p:txBody>
      </p:sp>
      <p:pic>
        <p:nvPicPr>
          <p:cNvPr descr="molorag.png" id="375" name="Google Shape;375;p37"/>
          <p:cNvPicPr preferRelativeResize="0"/>
          <p:nvPr/>
        </p:nvPicPr>
        <p:blipFill rotWithShape="1">
          <a:blip r:embed="rId5">
            <a:alphaModFix/>
          </a:blip>
          <a:srcRect b="0" l="0" r="0" t="0"/>
          <a:stretch/>
        </p:blipFill>
        <p:spPr>
          <a:xfrm>
            <a:off x="750784" y="2880360"/>
            <a:ext cx="3310349" cy="1405890"/>
          </a:xfrm>
          <a:prstGeom prst="rect">
            <a:avLst/>
          </a:prstGeom>
          <a:noFill/>
          <a:ln>
            <a:noFill/>
          </a:ln>
        </p:spPr>
      </p:pic>
      <p:sp>
        <p:nvSpPr>
          <p:cNvPr id="376" name="Google Shape;376;p37"/>
          <p:cNvSpPr txBox="1"/>
          <p:nvPr/>
        </p:nvSpPr>
        <p:spPr>
          <a:xfrm>
            <a:off x="411480" y="4320540"/>
            <a:ext cx="3988956"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7348B"/>
              </a:buClr>
              <a:buSzPts val="1000"/>
              <a:buFont typeface="Calibri"/>
              <a:buNone/>
            </a:pPr>
            <a:r>
              <a:rPr b="1" i="0" lang="en-GB" sz="1000" u="none" cap="none" strike="noStrike">
                <a:solidFill>
                  <a:srgbClr val="27348B"/>
                </a:solidFill>
                <a:latin typeface="Calibri"/>
                <a:ea typeface="Calibri"/>
                <a:cs typeface="Calibri"/>
                <a:sym typeface="Calibri"/>
              </a:rPr>
              <a:t>MoLoRAG</a:t>
            </a:r>
            <a:r>
              <a:rPr b="0" i="0" lang="en-GB" sz="1000" u="none" cap="none" strike="noStrike">
                <a:solidFill>
                  <a:srgbClr val="5A6072"/>
                </a:solidFill>
                <a:latin typeface="Calibri"/>
                <a:ea typeface="Calibri"/>
                <a:cs typeface="Calibri"/>
                <a:sym typeface="Calibri"/>
              </a:rPr>
              <a:t>  Wu et al., EMNLP 2025</a:t>
            </a:r>
            <a:endParaRPr b="0" i="0" sz="1000" u="none" cap="none" strike="noStrike">
              <a:solidFill>
                <a:schemeClr val="dk1"/>
              </a:solidFill>
              <a:latin typeface="Calibri"/>
              <a:ea typeface="Calibri"/>
              <a:cs typeface="Calibri"/>
              <a:sym typeface="Calibri"/>
            </a:endParaRPr>
          </a:p>
        </p:txBody>
      </p:sp>
      <p:pic>
        <p:nvPicPr>
          <p:cNvPr descr="simpledoc.png" id="377" name="Google Shape;377;p37"/>
          <p:cNvPicPr preferRelativeResize="0"/>
          <p:nvPr/>
        </p:nvPicPr>
        <p:blipFill rotWithShape="1">
          <a:blip r:embed="rId6">
            <a:alphaModFix/>
          </a:blip>
          <a:srcRect b="0" l="0" r="0" t="0"/>
          <a:stretch/>
        </p:blipFill>
        <p:spPr>
          <a:xfrm>
            <a:off x="5378138" y="2880360"/>
            <a:ext cx="2719352" cy="1405890"/>
          </a:xfrm>
          <a:prstGeom prst="rect">
            <a:avLst/>
          </a:prstGeom>
          <a:noFill/>
          <a:ln>
            <a:noFill/>
          </a:ln>
        </p:spPr>
      </p:pic>
      <p:sp>
        <p:nvSpPr>
          <p:cNvPr id="378" name="Google Shape;378;p37"/>
          <p:cNvSpPr txBox="1"/>
          <p:nvPr/>
        </p:nvSpPr>
        <p:spPr>
          <a:xfrm>
            <a:off x="4743336" y="4320540"/>
            <a:ext cx="3988956"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7348B"/>
              </a:buClr>
              <a:buSzPts val="1000"/>
              <a:buFont typeface="Calibri"/>
              <a:buNone/>
            </a:pPr>
            <a:r>
              <a:rPr b="1" i="0" lang="en-GB" sz="1000" u="none" cap="none" strike="noStrike">
                <a:solidFill>
                  <a:srgbClr val="27348B"/>
                </a:solidFill>
                <a:latin typeface="Calibri"/>
                <a:ea typeface="Calibri"/>
                <a:cs typeface="Calibri"/>
                <a:sym typeface="Calibri"/>
              </a:rPr>
              <a:t>SimpleDoc</a:t>
            </a:r>
            <a:r>
              <a:rPr b="0" i="0" lang="en-GB" sz="1000" u="none" cap="none" strike="noStrike">
                <a:solidFill>
                  <a:srgbClr val="5A6072"/>
                </a:solidFill>
                <a:latin typeface="Calibri"/>
                <a:ea typeface="Calibri"/>
                <a:cs typeface="Calibri"/>
                <a:sym typeface="Calibri"/>
              </a:rPr>
              <a:t>  Jain et al., EMNLP 2025</a:t>
            </a:r>
            <a:endParaRPr b="0" i="0" sz="1000" u="none" cap="none" strike="noStrike">
              <a:solidFill>
                <a:schemeClr val="dk1"/>
              </a:solidFill>
              <a:latin typeface="Calibri"/>
              <a:ea typeface="Calibri"/>
              <a:cs typeface="Calibri"/>
              <a:sym typeface="Calibri"/>
            </a:endParaRPr>
          </a:p>
        </p:txBody>
      </p:sp>
      <p:sp>
        <p:nvSpPr>
          <p:cNvPr id="379" name="Google Shape;379;p3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